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3716000" cy="8686800"/>
  <p:notesSz cx="8686800" cy="13716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synopsis proposes a within-subject experiment on how two freely changeable display settings — polarity and text colour — affect visual fatigue during prolonged tablet reading.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parts, following the prescribed synopsis 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numbers frame the problem: roughly seven in ten screen users are affected, and nothing currently offered to them is proven to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routes run at once from the same settings. The left route produces the performance measures; the right route produces the primary outcome.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Nothing in this chain mentions colour. Ambient light drives pupil size the same way, which is why room light must be held constant rather than left to vary.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disagreement between Buchner &amp; Baumgartner and Dobres is real, and is presented as such rather than resolved by selective citation. The bottom block is the measurement argument, which is the question a committee is most likely to press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table is the sample-size justification: 130 participants give 1,300 condition-runs, more than four times the largest comparable 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2 is what makes the design unusual: it is what allows a statement about whether colour matters, or only contrast.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H1c is the testable core: the two rival results look completely different when plotted, so the study cannot return an ambiguous answer on that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participant sees all ten conditions, so each person is their own control, and order follows a Williams square so each condition sits in each serial position equally often.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Eligibility is reproduced from Table 3.1 of the synopsis without alteration.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classification thresholds and the validation criteria are the methodological contribution: no located study has validated a camera-based incomplete-blink measure against manual annotation.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practical point is that, unlike every therapy trialled so far, this intervention is free.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home/user/PhD-PWA/synopsis/figures/adtu_logo.png">    </p:cNvPr>
          <p:cNvPicPr>
            <a:picLocks noChangeAspect="1"/>
          </p:cNvPicPr>
          <p:nvPr/>
        </p:nvPicPr>
        <p:blipFill>
          <a:blip r:embed="rId1"/>
          <a:stretch>
            <a:fillRect/>
          </a:stretch>
        </p:blipFill>
        <p:spPr>
          <a:xfrm>
            <a:off x="4224528" y="457200"/>
            <a:ext cx="5266944" cy="859536"/>
          </a:xfrm>
          <a:prstGeom prst="rect">
            <a:avLst/>
          </a:prstGeom>
        </p:spPr>
      </p:pic>
      <p:sp>
        <p:nvSpPr>
          <p:cNvPr id="3" name="Text 0"/>
          <p:cNvSpPr txBox="1"/>
          <p:nvPr/>
        </p:nvSpPr>
        <p:spPr>
          <a:xfrm>
            <a:off x="914400" y="1517904"/>
            <a:ext cx="11887200" cy="352552"/>
          </a:xfrm>
          <a:prstGeom prst="rect">
            <a:avLst/>
          </a:prstGeom>
          <a:noFill/>
          <a:ln/>
        </p:spPr>
        <p:txBody>
          <a:bodyPr wrap="square" lIns="0" tIns="0" rIns="0" bIns="0" rtlCol="0" anchor="t"/>
          <a:lstStyle/>
          <a:p>
            <a:pPr algn="ctr" indent="0" marL="0">
              <a:lnSpc>
                <a:spcPts val="2200"/>
              </a:lnSpc>
              <a:buNone/>
            </a:pPr>
            <a:r>
              <a:rPr lang="en-US" sz="1700" b="1" spc="120" kern="0" dirty="0">
                <a:solidFill>
                  <a:srgbClr val="000000"/>
                </a:solidFill>
                <a:latin typeface="Times New Roman" pitchFamily="34" charset="0"/>
                <a:ea typeface="Times New Roman" pitchFamily="34" charset="-122"/>
                <a:cs typeface="Times New Roman" pitchFamily="34" charset="-120"/>
              </a:rPr>
              <a:t>ASSAM DOWN TOWN UNIVERSITY</a:t>
            </a:r>
            <a:endParaRPr lang="en-US" sz="1700" dirty="0"/>
          </a:p>
        </p:txBody>
      </p:sp>
      <p:sp>
        <p:nvSpPr>
          <p:cNvPr id="4" name="Text 1"/>
          <p:cNvSpPr txBox="1"/>
          <p:nvPr/>
        </p:nvSpPr>
        <p:spPr>
          <a:xfrm>
            <a:off x="914400" y="1883664"/>
            <a:ext cx="11887200" cy="276352"/>
          </a:xfrm>
          <a:prstGeom prst="rect">
            <a:avLst/>
          </a:prstGeom>
          <a:noFill/>
          <a:ln/>
        </p:spPr>
        <p:txBody>
          <a:bodyPr wrap="square" lIns="0" tIns="0" rIns="0" bIns="0" rtlCol="0" anchor="t"/>
          <a:lstStyle/>
          <a:p>
            <a:pPr algn="ctr" indent="0" marL="0">
              <a:lnSpc>
                <a:spcPts val="1600"/>
              </a:lnSpc>
              <a:buNone/>
            </a:pPr>
            <a:r>
              <a:rPr lang="en-US" sz="1200" dirty="0">
                <a:solidFill>
                  <a:srgbClr val="595959"/>
                </a:solidFill>
                <a:latin typeface="Times New Roman" pitchFamily="34" charset="0"/>
                <a:ea typeface="Times New Roman" pitchFamily="34" charset="-122"/>
                <a:cs typeface="Times New Roman" pitchFamily="34" charset="-120"/>
              </a:rPr>
              <a:t>Shankar Madhab Path, Gandhinagar, Panikhaiti, Guwahati, Assam – 781026</a:t>
            </a:r>
            <a:endParaRPr lang="en-US" sz="1200" dirty="0"/>
          </a:p>
        </p:txBody>
      </p:sp>
      <p:sp>
        <p:nvSpPr>
          <p:cNvPr id="5" name="Shape 2"/>
          <p:cNvSpPr/>
          <p:nvPr/>
        </p:nvSpPr>
        <p:spPr>
          <a:xfrm>
            <a:off x="3291840" y="2359152"/>
            <a:ext cx="7132320" cy="0"/>
          </a:xfrm>
          <a:prstGeom prst="line">
            <a:avLst/>
          </a:prstGeom>
          <a:noFill/>
          <a:ln w="9525">
            <a:solidFill>
              <a:srgbClr val="808080"/>
            </a:solidFill>
            <a:prstDash val="solid"/>
          </a:ln>
        </p:spPr>
      </p:sp>
      <p:sp>
        <p:nvSpPr>
          <p:cNvPr id="6" name="Text 3"/>
          <p:cNvSpPr txBox="1"/>
          <p:nvPr/>
        </p:nvSpPr>
        <p:spPr>
          <a:xfrm>
            <a:off x="1097280" y="2743200"/>
            <a:ext cx="11521440" cy="987552"/>
          </a:xfrm>
          <a:prstGeom prst="rect">
            <a:avLst/>
          </a:prstGeom>
          <a:noFill/>
          <a:ln/>
        </p:spPr>
        <p:txBody>
          <a:bodyPr wrap="square" lIns="0" tIns="0" rIns="0" bIns="0" rtlCol="0" anchor="t"/>
          <a:lstStyle/>
          <a:p>
            <a:pPr algn="ctr" indent="0" marL="0">
              <a:lnSpc>
                <a:spcPts val="3600"/>
              </a:lnSpc>
              <a:buNone/>
            </a:pPr>
            <a:r>
              <a:rPr lang="en-US" sz="2400" b="1" dirty="0">
                <a:solidFill>
                  <a:srgbClr val="1F3864"/>
                </a:solidFill>
                <a:latin typeface="Times New Roman" pitchFamily="34" charset="0"/>
                <a:ea typeface="Times New Roman" pitchFamily="34" charset="-122"/>
                <a:cs typeface="Times New Roman" pitchFamily="34" charset="-120"/>
              </a:rPr>
              <a:t>Effects of Display Polarity and Text Colour on Visual Fatigue,</a:t>
            </a:r>
            <a:endParaRPr lang="en-US" sz="2400" dirty="0"/>
          </a:p>
          <a:p>
            <a:pPr algn="ctr" indent="0" marL="0">
              <a:lnSpc>
                <a:spcPts val="3600"/>
              </a:lnSpc>
              <a:buNone/>
            </a:pPr>
            <a:r>
              <a:rPr lang="en-US" sz="2400" b="1" dirty="0">
                <a:solidFill>
                  <a:srgbClr val="1F3864"/>
                </a:solidFill>
                <a:latin typeface="Times New Roman" pitchFamily="34" charset="0"/>
                <a:ea typeface="Times New Roman" pitchFamily="34" charset="-122"/>
                <a:cs typeface="Times New Roman" pitchFamily="34" charset="-120"/>
              </a:rPr>
              <a:t>Ocular Behaviour and Task Performance,</a:t>
            </a:r>
            <a:endParaRPr lang="en-US" sz="2400" dirty="0"/>
          </a:p>
          <a:p>
            <a:pPr algn="ctr" indent="0" marL="0">
              <a:lnSpc>
                <a:spcPts val="3600"/>
              </a:lnSpc>
              <a:buNone/>
            </a:pPr>
            <a:r>
              <a:rPr lang="en-US" sz="2400" b="1" dirty="0">
                <a:solidFill>
                  <a:srgbClr val="1F3864"/>
                </a:solidFill>
                <a:latin typeface="Times New Roman" pitchFamily="34" charset="0"/>
                <a:ea typeface="Times New Roman" pitchFamily="34" charset="-122"/>
                <a:cs typeface="Times New Roman" pitchFamily="34" charset="-120"/>
              </a:rPr>
              <a:t>Under Controlled Ambient Illumination</a:t>
            </a:r>
            <a:endParaRPr lang="en-US" sz="2400" dirty="0"/>
          </a:p>
        </p:txBody>
      </p:sp>
      <p:sp>
        <p:nvSpPr>
          <p:cNvPr id="7" name="Text 4"/>
          <p:cNvSpPr txBox="1"/>
          <p:nvPr/>
        </p:nvSpPr>
        <p:spPr>
          <a:xfrm>
            <a:off x="1463040" y="4526280"/>
            <a:ext cx="10789920" cy="365252"/>
          </a:xfrm>
          <a:prstGeom prst="rect">
            <a:avLst/>
          </a:prstGeom>
          <a:noFill/>
          <a:ln/>
        </p:spPr>
        <p:txBody>
          <a:bodyPr wrap="square" lIns="0" tIns="0" rIns="0" bIns="0" rtlCol="0" anchor="t"/>
          <a:lstStyle/>
          <a:p>
            <a:pPr algn="ctr" indent="0" marL="0">
              <a:lnSpc>
                <a:spcPts val="2300"/>
              </a:lnSpc>
              <a:buNone/>
            </a:pPr>
            <a:r>
              <a:rPr lang="en-US" sz="1400" dirty="0">
                <a:solidFill>
                  <a:srgbClr val="000000"/>
                </a:solidFill>
                <a:latin typeface="Times New Roman" pitchFamily="34" charset="0"/>
                <a:ea typeface="Times New Roman" pitchFamily="34" charset="-122"/>
                <a:cs typeface="Times New Roman" pitchFamily="34" charset="-120"/>
              </a:rPr>
              <a:t>Synopsis presentation for partial fulfilment of the requirements for the award of the degree of</a:t>
            </a:r>
            <a:endParaRPr lang="en-US" sz="1400" dirty="0"/>
          </a:p>
          <a:p>
            <a:pPr algn="ctr" indent="0" marL="0">
              <a:lnSpc>
                <a:spcPts val="2300"/>
              </a:lnSpc>
              <a:buNone/>
            </a:pPr>
            <a:r>
              <a:rPr lang="en-US" sz="1400" dirty="0">
                <a:solidFill>
                  <a:srgbClr val="000000"/>
                </a:solidFill>
                <a:latin typeface="Times New Roman" pitchFamily="34" charset="0"/>
                <a:ea typeface="Times New Roman" pitchFamily="34" charset="-122"/>
                <a:cs typeface="Times New Roman" pitchFamily="34" charset="-120"/>
              </a:rPr>
              <a:t>DOCTOR OF PHILOSOPHY (Ph.D.) IN OPTOMETRY</a:t>
            </a:r>
            <a:endParaRPr lang="en-US" sz="1400" dirty="0"/>
          </a:p>
        </p:txBody>
      </p:sp>
      <p:sp>
        <p:nvSpPr>
          <p:cNvPr id="8" name="Text 5"/>
          <p:cNvSpPr txBox="1"/>
          <p:nvPr/>
        </p:nvSpPr>
        <p:spPr>
          <a:xfrm>
            <a:off x="1463040" y="5257800"/>
            <a:ext cx="10789920" cy="276352"/>
          </a:xfrm>
          <a:prstGeom prst="rect">
            <a:avLst/>
          </a:prstGeom>
          <a:noFill/>
          <a:ln/>
        </p:spPr>
        <p:txBody>
          <a:bodyPr wrap="square" lIns="0" tIns="0" rIns="0" bIns="0" rtlCol="0" anchor="t"/>
          <a:lstStyle/>
          <a:p>
            <a:pPr algn="ctr" indent="0" marL="0">
              <a:lnSpc>
                <a:spcPts val="1600"/>
              </a:lnSpc>
              <a:buNone/>
            </a:pPr>
            <a:r>
              <a:rPr lang="en-US" sz="1200" dirty="0">
                <a:solidFill>
                  <a:srgbClr val="595959"/>
                </a:solidFill>
                <a:latin typeface="Times New Roman" pitchFamily="34" charset="0"/>
                <a:ea typeface="Times New Roman" pitchFamily="34" charset="-122"/>
                <a:cs typeface="Times New Roman" pitchFamily="34" charset="-120"/>
              </a:rPr>
              <a:t>Faculty of Allied and Healthcare Sciences  ·  Programme of Optometry</a:t>
            </a:r>
            <a:endParaRPr lang="en-US" sz="1200" dirty="0"/>
          </a:p>
        </p:txBody>
      </p:sp>
      <p:sp>
        <p:nvSpPr>
          <p:cNvPr id="9" name="Text 6"/>
          <p:cNvSpPr txBox="1"/>
          <p:nvPr/>
        </p:nvSpPr>
        <p:spPr>
          <a:xfrm>
            <a:off x="1280160" y="6492240"/>
            <a:ext cx="5120640" cy="339852"/>
          </a:xfrm>
          <a:prstGeom prst="rect">
            <a:avLst/>
          </a:prstGeom>
          <a:noFill/>
          <a:ln/>
        </p:spPr>
        <p:txBody>
          <a:bodyPr wrap="square" lIns="0" tIns="0" rIns="0" bIns="0" rtlCol="0" anchor="t"/>
          <a:lstStyle/>
          <a:p>
            <a:pPr indent="0" marL="0">
              <a:lnSpc>
                <a:spcPts val="2100"/>
              </a:lnSpc>
              <a:buNone/>
            </a:pPr>
            <a:r>
              <a:rPr lang="en-US" sz="1200" b="1" dirty="0">
                <a:solidFill>
                  <a:srgbClr val="000000"/>
                </a:solidFill>
                <a:latin typeface="Times New Roman" pitchFamily="34" charset="0"/>
                <a:ea typeface="Times New Roman" pitchFamily="34" charset="-122"/>
                <a:cs typeface="Times New Roman" pitchFamily="34" charset="-120"/>
              </a:rPr>
              <a:t>Submitted by</a:t>
            </a:r>
            <a:endParaRPr lang="en-US" sz="1200" dirty="0"/>
          </a:p>
          <a:p>
            <a:pPr indent="0" marL="0">
              <a:lnSpc>
                <a:spcPts val="2100"/>
              </a:lnSpc>
              <a:buNone/>
            </a:pPr>
            <a:r>
              <a:rPr lang="en-US" sz="1200" dirty="0">
                <a:solidFill>
                  <a:srgbClr val="000000"/>
                </a:solidFill>
                <a:latin typeface="Times New Roman" pitchFamily="34" charset="0"/>
                <a:ea typeface="Times New Roman" pitchFamily="34" charset="-122"/>
                <a:cs typeface="Times New Roman" pitchFamily="34" charset="-120"/>
              </a:rPr>
              <a:t>Mr. Gyandeep Nath</a:t>
            </a:r>
            <a:endParaRPr lang="en-US" sz="1200" dirty="0"/>
          </a:p>
          <a:p>
            <a:pPr indent="0" marL="0">
              <a:lnSpc>
                <a:spcPts val="2100"/>
              </a:lnSpc>
              <a:buNone/>
            </a:pPr>
            <a:r>
              <a:rPr lang="en-US" sz="1200" dirty="0">
                <a:solidFill>
                  <a:srgbClr val="000000"/>
                </a:solidFill>
                <a:latin typeface="Times New Roman" pitchFamily="34" charset="0"/>
                <a:ea typeface="Times New Roman" pitchFamily="34" charset="-122"/>
                <a:cs typeface="Times New Roman" pitchFamily="34" charset="-120"/>
              </a:rPr>
              <a:t>Research Scholar, Programme of Optometry</a:t>
            </a:r>
            <a:endParaRPr lang="en-US" sz="1200" dirty="0"/>
          </a:p>
        </p:txBody>
      </p:sp>
      <p:sp>
        <p:nvSpPr>
          <p:cNvPr id="10" name="Text 7"/>
          <p:cNvSpPr txBox="1"/>
          <p:nvPr/>
        </p:nvSpPr>
        <p:spPr>
          <a:xfrm>
            <a:off x="7315200" y="6492240"/>
            <a:ext cx="5120640" cy="606552"/>
          </a:xfrm>
          <a:prstGeom prst="rect">
            <a:avLst/>
          </a:prstGeom>
          <a:noFill/>
          <a:ln/>
        </p:spPr>
        <p:txBody>
          <a:bodyPr wrap="square" lIns="0" tIns="0" rIns="0" bIns="0" rtlCol="0" anchor="t"/>
          <a:lstStyle/>
          <a:p>
            <a:pPr indent="0" marL="0">
              <a:lnSpc>
                <a:spcPts val="2100"/>
              </a:lnSpc>
              <a:buNone/>
            </a:pPr>
            <a:r>
              <a:rPr lang="en-US" sz="1200" b="1" dirty="0">
                <a:solidFill>
                  <a:srgbClr val="000000"/>
                </a:solidFill>
                <a:latin typeface="Times New Roman" pitchFamily="34" charset="0"/>
                <a:ea typeface="Times New Roman" pitchFamily="34" charset="-122"/>
                <a:cs typeface="Times New Roman" pitchFamily="34" charset="-120"/>
              </a:rPr>
              <a:t>Under the guidance of</a:t>
            </a:r>
            <a:endParaRPr lang="en-US" sz="1200" dirty="0"/>
          </a:p>
          <a:p>
            <a:pPr indent="0" marL="0">
              <a:lnSpc>
                <a:spcPts val="2100"/>
              </a:lnSpc>
              <a:buNone/>
            </a:pPr>
            <a:r>
              <a:rPr lang="en-US" sz="1200" dirty="0">
                <a:solidFill>
                  <a:srgbClr val="000000"/>
                </a:solidFill>
                <a:latin typeface="Times New Roman" pitchFamily="34" charset="0"/>
                <a:ea typeface="Times New Roman" pitchFamily="34" charset="-122"/>
                <a:cs typeface="Times New Roman" pitchFamily="34" charset="-120"/>
              </a:rPr>
              <a:t>Dr. Susmita Saha</a:t>
            </a:r>
            <a:endParaRPr lang="en-US" sz="1200" dirty="0"/>
          </a:p>
          <a:p>
            <a:pPr indent="0" marL="0">
              <a:lnSpc>
                <a:spcPts val="2100"/>
              </a:lnSpc>
              <a:buNone/>
            </a:pPr>
            <a:r>
              <a:rPr lang="en-US" sz="1200" dirty="0">
                <a:solidFill>
                  <a:srgbClr val="000000"/>
                </a:solidFill>
                <a:latin typeface="Times New Roman" pitchFamily="34" charset="0"/>
                <a:ea typeface="Times New Roman" pitchFamily="34" charset="-122"/>
                <a:cs typeface="Times New Roman" pitchFamily="34" charset="-120"/>
              </a:rPr>
              <a:t>Associate Dean, Faculty of Allied and Healthcare Sciences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1520" y="384048"/>
            <a:ext cx="12252960" cy="566928"/>
          </a:xfrm>
          <a:prstGeom prst="rect">
            <a:avLst/>
          </a:prstGeom>
          <a:noFill/>
          <a:ln/>
        </p:spPr>
        <p:txBody>
          <a:bodyPr wrap="square" lIns="0" tIns="0" rIns="0" bIns="0" rtlCol="0" anchor="t"/>
          <a:lstStyle/>
          <a:p>
            <a:pPr indent="0" marL="0">
              <a:buNone/>
            </a:pPr>
            <a:r>
              <a:rPr lang="en-US" sz="2400" b="1" dirty="0">
                <a:solidFill>
                  <a:srgbClr val="1F3864"/>
                </a:solidFill>
                <a:latin typeface="Times New Roman" pitchFamily="34" charset="0"/>
                <a:ea typeface="Times New Roman" pitchFamily="34" charset="-122"/>
                <a:cs typeface="Times New Roman" pitchFamily="34" charset="-120"/>
              </a:rPr>
              <a:t>Overview</a:t>
            </a:r>
            <a:endParaRPr lang="en-US" sz="2400" dirty="0"/>
          </a:p>
        </p:txBody>
      </p:sp>
      <p:sp>
        <p:nvSpPr>
          <p:cNvPr id="3" name="Text 1"/>
          <p:cNvSpPr txBox="1"/>
          <p:nvPr/>
        </p:nvSpPr>
        <p:spPr>
          <a:xfrm>
            <a:off x="12435840" y="8229600"/>
            <a:ext cx="548640" cy="274320"/>
          </a:xfrm>
          <a:prstGeom prst="rect">
            <a:avLst/>
          </a:prstGeom>
          <a:noFill/>
          <a:ln/>
        </p:spPr>
        <p:txBody>
          <a:bodyPr wrap="square" lIns="0" tIns="0" rIns="0" bIns="0" rtlCol="0" anchor="ctr"/>
          <a:lstStyle/>
          <a:p>
            <a:pPr algn="r" indent="0" marL="0">
              <a:buNone/>
            </a:pPr>
            <a:r>
              <a:rPr lang="en-US" sz="1100" dirty="0">
                <a:solidFill>
                  <a:srgbClr val="595959"/>
                </a:solidFill>
                <a:latin typeface="Times New Roman" pitchFamily="34" charset="0"/>
                <a:ea typeface="Times New Roman" pitchFamily="34" charset="-122"/>
                <a:cs typeface="Times New Roman" pitchFamily="34" charset="-120"/>
              </a:rPr>
              <a:t>2</a:t>
            </a:r>
            <a:endParaRPr lang="en-US" sz="1100" dirty="0"/>
          </a:p>
        </p:txBody>
      </p:sp>
      <p:sp>
        <p:nvSpPr>
          <p:cNvPr id="4" name="Text 2"/>
          <p:cNvSpPr txBox="1"/>
          <p:nvPr/>
        </p:nvSpPr>
        <p:spPr>
          <a:xfrm>
            <a:off x="914400" y="1645920"/>
            <a:ext cx="548640" cy="339852"/>
          </a:xfrm>
          <a:prstGeom prst="rect">
            <a:avLst/>
          </a:prstGeom>
          <a:noFill/>
          <a:ln/>
        </p:spPr>
        <p:txBody>
          <a:bodyPr wrap="square" lIns="0" tIns="0" rIns="0" bIns="0" rtlCol="0" anchor="t"/>
          <a:lstStyle/>
          <a:p>
            <a:pPr indent="0" marL="0">
              <a:lnSpc>
                <a:spcPts val="2100"/>
              </a:lnSpc>
              <a:buNone/>
            </a:pPr>
            <a:r>
              <a:rPr lang="en-US" sz="1600" b="1" dirty="0">
                <a:solidFill>
                  <a:srgbClr val="000000"/>
                </a:solidFill>
                <a:latin typeface="Times New Roman" pitchFamily="34" charset="0"/>
                <a:ea typeface="Times New Roman" pitchFamily="34" charset="-122"/>
                <a:cs typeface="Times New Roman" pitchFamily="34" charset="-120"/>
              </a:rPr>
              <a:t>1.</a:t>
            </a:r>
            <a:endParaRPr lang="en-US" sz="1600" dirty="0"/>
          </a:p>
        </p:txBody>
      </p:sp>
      <p:sp>
        <p:nvSpPr>
          <p:cNvPr id="5" name="Text 3"/>
          <p:cNvSpPr txBox="1"/>
          <p:nvPr/>
        </p:nvSpPr>
        <p:spPr>
          <a:xfrm>
            <a:off x="1508760" y="1645920"/>
            <a:ext cx="3931920" cy="339852"/>
          </a:xfrm>
          <a:prstGeom prst="rect">
            <a:avLst/>
          </a:prstGeom>
          <a:noFill/>
          <a:ln/>
        </p:spPr>
        <p:txBody>
          <a:bodyPr wrap="square" lIns="0" tIns="0" rIns="0" bIns="0" rtlCol="0" anchor="t"/>
          <a:lstStyle/>
          <a:p>
            <a:pPr indent="0" marL="0">
              <a:lnSpc>
                <a:spcPts val="2100"/>
              </a:lnSpc>
              <a:buNone/>
            </a:pPr>
            <a:r>
              <a:rPr lang="en-US" sz="1600" b="1" dirty="0">
                <a:solidFill>
                  <a:srgbClr val="000000"/>
                </a:solidFill>
                <a:latin typeface="Times New Roman" pitchFamily="34" charset="0"/>
                <a:ea typeface="Times New Roman" pitchFamily="34" charset="-122"/>
                <a:cs typeface="Times New Roman" pitchFamily="34" charset="-120"/>
              </a:rPr>
              <a:t>Introduction</a:t>
            </a:r>
            <a:endParaRPr lang="en-US" sz="1600" dirty="0"/>
          </a:p>
        </p:txBody>
      </p:sp>
      <p:sp>
        <p:nvSpPr>
          <p:cNvPr id="6" name="Text 4"/>
          <p:cNvSpPr txBox="1"/>
          <p:nvPr/>
        </p:nvSpPr>
        <p:spPr>
          <a:xfrm>
            <a:off x="5577840" y="1700784"/>
            <a:ext cx="7223760" cy="276352"/>
          </a:xfrm>
          <a:prstGeom prst="rect">
            <a:avLst/>
          </a:prstGeom>
          <a:noFill/>
          <a:ln/>
        </p:spPr>
        <p:txBody>
          <a:bodyPr wrap="square" lIns="0" tIns="0" rIns="0" bIns="0" rtlCol="0" anchor="t"/>
          <a:lstStyle/>
          <a:p>
            <a:pPr indent="0" marL="0">
              <a:lnSpc>
                <a:spcPts val="1600"/>
              </a:lnSpc>
              <a:buNone/>
            </a:pPr>
            <a:r>
              <a:rPr lang="en-US" sz="1200" dirty="0">
                <a:solidFill>
                  <a:srgbClr val="000000"/>
                </a:solidFill>
                <a:latin typeface="Times New Roman" pitchFamily="34" charset="0"/>
                <a:ea typeface="Times New Roman" pitchFamily="34" charset="-122"/>
                <a:cs typeface="Times New Roman" pitchFamily="34" charset="-120"/>
              </a:rPr>
              <a:t>Background, definitions, burden of disease and the biophysiological basis</a:t>
            </a:r>
            <a:endParaRPr lang="en-US" sz="1200" dirty="0"/>
          </a:p>
        </p:txBody>
      </p:sp>
      <p:sp>
        <p:nvSpPr>
          <p:cNvPr id="7" name="Text 5"/>
          <p:cNvSpPr txBox="1"/>
          <p:nvPr/>
        </p:nvSpPr>
        <p:spPr>
          <a:xfrm>
            <a:off x="914400" y="2651760"/>
            <a:ext cx="548640" cy="339852"/>
          </a:xfrm>
          <a:prstGeom prst="rect">
            <a:avLst/>
          </a:prstGeom>
          <a:noFill/>
          <a:ln/>
        </p:spPr>
        <p:txBody>
          <a:bodyPr wrap="square" lIns="0" tIns="0" rIns="0" bIns="0" rtlCol="0" anchor="t"/>
          <a:lstStyle/>
          <a:p>
            <a:pPr indent="0" marL="0">
              <a:lnSpc>
                <a:spcPts val="2100"/>
              </a:lnSpc>
              <a:buNone/>
            </a:pPr>
            <a:r>
              <a:rPr lang="en-US" sz="1600" b="1" dirty="0">
                <a:solidFill>
                  <a:srgbClr val="000000"/>
                </a:solidFill>
                <a:latin typeface="Times New Roman" pitchFamily="34" charset="0"/>
                <a:ea typeface="Times New Roman" pitchFamily="34" charset="-122"/>
                <a:cs typeface="Times New Roman" pitchFamily="34" charset="-120"/>
              </a:rPr>
              <a:t>2.</a:t>
            </a:r>
            <a:endParaRPr lang="en-US" sz="1600" dirty="0"/>
          </a:p>
        </p:txBody>
      </p:sp>
      <p:sp>
        <p:nvSpPr>
          <p:cNvPr id="8" name="Text 6"/>
          <p:cNvSpPr txBox="1"/>
          <p:nvPr/>
        </p:nvSpPr>
        <p:spPr>
          <a:xfrm>
            <a:off x="1508760" y="2651760"/>
            <a:ext cx="3931920" cy="339852"/>
          </a:xfrm>
          <a:prstGeom prst="rect">
            <a:avLst/>
          </a:prstGeom>
          <a:noFill/>
          <a:ln/>
        </p:spPr>
        <p:txBody>
          <a:bodyPr wrap="square" lIns="0" tIns="0" rIns="0" bIns="0" rtlCol="0" anchor="t"/>
          <a:lstStyle/>
          <a:p>
            <a:pPr indent="0" marL="0">
              <a:lnSpc>
                <a:spcPts val="2100"/>
              </a:lnSpc>
              <a:buNone/>
            </a:pPr>
            <a:r>
              <a:rPr lang="en-US" sz="1600" b="1" dirty="0">
                <a:solidFill>
                  <a:srgbClr val="000000"/>
                </a:solidFill>
                <a:latin typeface="Times New Roman" pitchFamily="34" charset="0"/>
                <a:ea typeface="Times New Roman" pitchFamily="34" charset="-122"/>
                <a:cs typeface="Times New Roman" pitchFamily="34" charset="-120"/>
              </a:rPr>
              <a:t>Review of Literature</a:t>
            </a:r>
            <a:endParaRPr lang="en-US" sz="1600" dirty="0"/>
          </a:p>
        </p:txBody>
      </p:sp>
      <p:sp>
        <p:nvSpPr>
          <p:cNvPr id="9" name="Text 7"/>
          <p:cNvSpPr txBox="1"/>
          <p:nvPr/>
        </p:nvSpPr>
        <p:spPr>
          <a:xfrm>
            <a:off x="5577840" y="2706624"/>
            <a:ext cx="7223760" cy="276352"/>
          </a:xfrm>
          <a:prstGeom prst="rect">
            <a:avLst/>
          </a:prstGeom>
          <a:noFill/>
          <a:ln/>
        </p:spPr>
        <p:txBody>
          <a:bodyPr wrap="square" lIns="0" tIns="0" rIns="0" bIns="0" rtlCol="0" anchor="t"/>
          <a:lstStyle/>
          <a:p>
            <a:pPr indent="0" marL="0">
              <a:lnSpc>
                <a:spcPts val="1600"/>
              </a:lnSpc>
              <a:buNone/>
            </a:pPr>
            <a:r>
              <a:rPr lang="en-US" sz="1200" dirty="0">
                <a:solidFill>
                  <a:srgbClr val="000000"/>
                </a:solidFill>
                <a:latin typeface="Times New Roman" pitchFamily="34" charset="0"/>
                <a:ea typeface="Times New Roman" pitchFamily="34" charset="-122"/>
                <a:cs typeface="Times New Roman" pitchFamily="34" charset="-120"/>
              </a:rPr>
              <a:t>Display polarity; text colour and the contrast confound; ambient illumination; the research gaps</a:t>
            </a:r>
            <a:endParaRPr lang="en-US" sz="1200" dirty="0"/>
          </a:p>
        </p:txBody>
      </p:sp>
      <p:sp>
        <p:nvSpPr>
          <p:cNvPr id="10" name="Text 8"/>
          <p:cNvSpPr txBox="1"/>
          <p:nvPr/>
        </p:nvSpPr>
        <p:spPr>
          <a:xfrm>
            <a:off x="914400" y="3657600"/>
            <a:ext cx="548640" cy="339852"/>
          </a:xfrm>
          <a:prstGeom prst="rect">
            <a:avLst/>
          </a:prstGeom>
          <a:noFill/>
          <a:ln/>
        </p:spPr>
        <p:txBody>
          <a:bodyPr wrap="square" lIns="0" tIns="0" rIns="0" bIns="0" rtlCol="0" anchor="t"/>
          <a:lstStyle/>
          <a:p>
            <a:pPr indent="0" marL="0">
              <a:lnSpc>
                <a:spcPts val="2100"/>
              </a:lnSpc>
              <a:buNone/>
            </a:pPr>
            <a:r>
              <a:rPr lang="en-US" sz="1600" b="1" dirty="0">
                <a:solidFill>
                  <a:srgbClr val="000000"/>
                </a:solidFill>
                <a:latin typeface="Times New Roman" pitchFamily="34" charset="0"/>
                <a:ea typeface="Times New Roman" pitchFamily="34" charset="-122"/>
                <a:cs typeface="Times New Roman" pitchFamily="34" charset="-120"/>
              </a:rPr>
              <a:t>3.</a:t>
            </a:r>
            <a:endParaRPr lang="en-US" sz="1600" dirty="0"/>
          </a:p>
        </p:txBody>
      </p:sp>
      <p:sp>
        <p:nvSpPr>
          <p:cNvPr id="11" name="Text 9"/>
          <p:cNvSpPr txBox="1"/>
          <p:nvPr/>
        </p:nvSpPr>
        <p:spPr>
          <a:xfrm>
            <a:off x="1508760" y="3657600"/>
            <a:ext cx="3931920" cy="339852"/>
          </a:xfrm>
          <a:prstGeom prst="rect">
            <a:avLst/>
          </a:prstGeom>
          <a:noFill/>
          <a:ln/>
        </p:spPr>
        <p:txBody>
          <a:bodyPr wrap="square" lIns="0" tIns="0" rIns="0" bIns="0" rtlCol="0" anchor="t"/>
          <a:lstStyle/>
          <a:p>
            <a:pPr indent="0" marL="0">
              <a:lnSpc>
                <a:spcPts val="2100"/>
              </a:lnSpc>
              <a:buNone/>
            </a:pPr>
            <a:r>
              <a:rPr lang="en-US" sz="1600" b="1" dirty="0">
                <a:solidFill>
                  <a:srgbClr val="000000"/>
                </a:solidFill>
                <a:latin typeface="Times New Roman" pitchFamily="34" charset="0"/>
                <a:ea typeface="Times New Roman" pitchFamily="34" charset="-122"/>
                <a:cs typeface="Times New Roman" pitchFamily="34" charset="-120"/>
              </a:rPr>
              <a:t>Aim and Objectives</a:t>
            </a:r>
            <a:endParaRPr lang="en-US" sz="1600" dirty="0"/>
          </a:p>
        </p:txBody>
      </p:sp>
      <p:sp>
        <p:nvSpPr>
          <p:cNvPr id="12" name="Text 10"/>
          <p:cNvSpPr txBox="1"/>
          <p:nvPr/>
        </p:nvSpPr>
        <p:spPr>
          <a:xfrm>
            <a:off x="5577840" y="3712464"/>
            <a:ext cx="7223760" cy="276352"/>
          </a:xfrm>
          <a:prstGeom prst="rect">
            <a:avLst/>
          </a:prstGeom>
          <a:noFill/>
          <a:ln/>
        </p:spPr>
        <p:txBody>
          <a:bodyPr wrap="square" lIns="0" tIns="0" rIns="0" bIns="0" rtlCol="0" anchor="t"/>
          <a:lstStyle/>
          <a:p>
            <a:pPr indent="0" marL="0">
              <a:lnSpc>
                <a:spcPts val="1600"/>
              </a:lnSpc>
              <a:buNone/>
            </a:pPr>
            <a:r>
              <a:rPr lang="en-US" sz="1200" dirty="0">
                <a:solidFill>
                  <a:srgbClr val="000000"/>
                </a:solidFill>
                <a:latin typeface="Times New Roman" pitchFamily="34" charset="0"/>
                <a:ea typeface="Times New Roman" pitchFamily="34" charset="-122"/>
                <a:cs typeface="Times New Roman" pitchFamily="34" charset="-120"/>
              </a:rPr>
              <a:t>The aim, the four objectives, and the hypotheses attached to them</a:t>
            </a:r>
            <a:endParaRPr lang="en-US" sz="1200" dirty="0"/>
          </a:p>
        </p:txBody>
      </p:sp>
      <p:sp>
        <p:nvSpPr>
          <p:cNvPr id="13" name="Text 11"/>
          <p:cNvSpPr txBox="1"/>
          <p:nvPr/>
        </p:nvSpPr>
        <p:spPr>
          <a:xfrm>
            <a:off x="914400" y="4663440"/>
            <a:ext cx="548640" cy="339852"/>
          </a:xfrm>
          <a:prstGeom prst="rect">
            <a:avLst/>
          </a:prstGeom>
          <a:noFill/>
          <a:ln/>
        </p:spPr>
        <p:txBody>
          <a:bodyPr wrap="square" lIns="0" tIns="0" rIns="0" bIns="0" rtlCol="0" anchor="t"/>
          <a:lstStyle/>
          <a:p>
            <a:pPr indent="0" marL="0">
              <a:lnSpc>
                <a:spcPts val="2100"/>
              </a:lnSpc>
              <a:buNone/>
            </a:pPr>
            <a:r>
              <a:rPr lang="en-US" sz="1600" b="1" dirty="0">
                <a:solidFill>
                  <a:srgbClr val="000000"/>
                </a:solidFill>
                <a:latin typeface="Times New Roman" pitchFamily="34" charset="0"/>
                <a:ea typeface="Times New Roman" pitchFamily="34" charset="-122"/>
                <a:cs typeface="Times New Roman" pitchFamily="34" charset="-120"/>
              </a:rPr>
              <a:t>4.</a:t>
            </a:r>
            <a:endParaRPr lang="en-US" sz="1600" dirty="0"/>
          </a:p>
        </p:txBody>
      </p:sp>
      <p:sp>
        <p:nvSpPr>
          <p:cNvPr id="14" name="Text 12"/>
          <p:cNvSpPr txBox="1"/>
          <p:nvPr/>
        </p:nvSpPr>
        <p:spPr>
          <a:xfrm>
            <a:off x="1508760" y="4663440"/>
            <a:ext cx="3931920" cy="339852"/>
          </a:xfrm>
          <a:prstGeom prst="rect">
            <a:avLst/>
          </a:prstGeom>
          <a:noFill/>
          <a:ln/>
        </p:spPr>
        <p:txBody>
          <a:bodyPr wrap="square" lIns="0" tIns="0" rIns="0" bIns="0" rtlCol="0" anchor="t"/>
          <a:lstStyle/>
          <a:p>
            <a:pPr indent="0" marL="0">
              <a:lnSpc>
                <a:spcPts val="2100"/>
              </a:lnSpc>
              <a:buNone/>
            </a:pPr>
            <a:r>
              <a:rPr lang="en-US" sz="1600" b="1" dirty="0">
                <a:solidFill>
                  <a:srgbClr val="000000"/>
                </a:solidFill>
                <a:latin typeface="Times New Roman" pitchFamily="34" charset="0"/>
                <a:ea typeface="Times New Roman" pitchFamily="34" charset="-122"/>
                <a:cs typeface="Times New Roman" pitchFamily="34" charset="-120"/>
              </a:rPr>
              <a:t>Methods and Methodology</a:t>
            </a:r>
            <a:endParaRPr lang="en-US" sz="1600" dirty="0"/>
          </a:p>
        </p:txBody>
      </p:sp>
      <p:sp>
        <p:nvSpPr>
          <p:cNvPr id="15" name="Text 13"/>
          <p:cNvSpPr txBox="1"/>
          <p:nvPr/>
        </p:nvSpPr>
        <p:spPr>
          <a:xfrm>
            <a:off x="5577840" y="4718304"/>
            <a:ext cx="7223760" cy="276352"/>
          </a:xfrm>
          <a:prstGeom prst="rect">
            <a:avLst/>
          </a:prstGeom>
          <a:noFill/>
          <a:ln/>
        </p:spPr>
        <p:txBody>
          <a:bodyPr wrap="square" lIns="0" tIns="0" rIns="0" bIns="0" rtlCol="0" anchor="t"/>
          <a:lstStyle/>
          <a:p>
            <a:pPr indent="0" marL="0">
              <a:lnSpc>
                <a:spcPts val="1600"/>
              </a:lnSpc>
              <a:buNone/>
            </a:pPr>
            <a:r>
              <a:rPr lang="en-US" sz="1200" dirty="0">
                <a:solidFill>
                  <a:srgbClr val="000000"/>
                </a:solidFill>
                <a:latin typeface="Times New Roman" pitchFamily="34" charset="0"/>
                <a:ea typeface="Times New Roman" pitchFamily="34" charset="-122"/>
                <a:cs typeface="Times New Roman" pitchFamily="34" charset="-120"/>
              </a:rPr>
              <a:t>Study design and display conditions; participants and eligibility; procedure, outcome measures and analysis</a:t>
            </a:r>
            <a:endParaRPr lang="en-US" sz="1200" dirty="0"/>
          </a:p>
        </p:txBody>
      </p:sp>
      <p:sp>
        <p:nvSpPr>
          <p:cNvPr id="16" name="Text 14"/>
          <p:cNvSpPr txBox="1"/>
          <p:nvPr/>
        </p:nvSpPr>
        <p:spPr>
          <a:xfrm>
            <a:off x="914400" y="5669280"/>
            <a:ext cx="548640" cy="339852"/>
          </a:xfrm>
          <a:prstGeom prst="rect">
            <a:avLst/>
          </a:prstGeom>
          <a:noFill/>
          <a:ln/>
        </p:spPr>
        <p:txBody>
          <a:bodyPr wrap="square" lIns="0" tIns="0" rIns="0" bIns="0" rtlCol="0" anchor="t"/>
          <a:lstStyle/>
          <a:p>
            <a:pPr indent="0" marL="0">
              <a:lnSpc>
                <a:spcPts val="2100"/>
              </a:lnSpc>
              <a:buNone/>
            </a:pPr>
            <a:r>
              <a:rPr lang="en-US" sz="1600" b="1" dirty="0">
                <a:solidFill>
                  <a:srgbClr val="000000"/>
                </a:solidFill>
                <a:latin typeface="Times New Roman" pitchFamily="34" charset="0"/>
                <a:ea typeface="Times New Roman" pitchFamily="34" charset="-122"/>
                <a:cs typeface="Times New Roman" pitchFamily="34" charset="-120"/>
              </a:rPr>
              <a:t>5.</a:t>
            </a:r>
            <a:endParaRPr lang="en-US" sz="1600" dirty="0"/>
          </a:p>
        </p:txBody>
      </p:sp>
      <p:sp>
        <p:nvSpPr>
          <p:cNvPr id="17" name="Text 15"/>
          <p:cNvSpPr txBox="1"/>
          <p:nvPr/>
        </p:nvSpPr>
        <p:spPr>
          <a:xfrm>
            <a:off x="1508760" y="5669280"/>
            <a:ext cx="3931920" cy="339852"/>
          </a:xfrm>
          <a:prstGeom prst="rect">
            <a:avLst/>
          </a:prstGeom>
          <a:noFill/>
          <a:ln/>
        </p:spPr>
        <p:txBody>
          <a:bodyPr wrap="square" lIns="0" tIns="0" rIns="0" bIns="0" rtlCol="0" anchor="t"/>
          <a:lstStyle/>
          <a:p>
            <a:pPr indent="0" marL="0">
              <a:lnSpc>
                <a:spcPts val="2100"/>
              </a:lnSpc>
              <a:buNone/>
            </a:pPr>
            <a:r>
              <a:rPr lang="en-US" sz="1600" b="1" dirty="0">
                <a:solidFill>
                  <a:srgbClr val="000000"/>
                </a:solidFill>
                <a:latin typeface="Times New Roman" pitchFamily="34" charset="0"/>
                <a:ea typeface="Times New Roman" pitchFamily="34" charset="-122"/>
                <a:cs typeface="Times New Roman" pitchFamily="34" charset="-120"/>
              </a:rPr>
              <a:t>Expected Outcome</a:t>
            </a:r>
            <a:endParaRPr lang="en-US" sz="1600" dirty="0"/>
          </a:p>
        </p:txBody>
      </p:sp>
      <p:sp>
        <p:nvSpPr>
          <p:cNvPr id="18" name="Text 16"/>
          <p:cNvSpPr txBox="1"/>
          <p:nvPr/>
        </p:nvSpPr>
        <p:spPr>
          <a:xfrm>
            <a:off x="5577840" y="5724144"/>
            <a:ext cx="7223760" cy="276352"/>
          </a:xfrm>
          <a:prstGeom prst="rect">
            <a:avLst/>
          </a:prstGeom>
          <a:noFill/>
          <a:ln/>
        </p:spPr>
        <p:txBody>
          <a:bodyPr wrap="square" lIns="0" tIns="0" rIns="0" bIns="0" rtlCol="0" anchor="t"/>
          <a:lstStyle/>
          <a:p>
            <a:pPr indent="0" marL="0">
              <a:lnSpc>
                <a:spcPts val="1600"/>
              </a:lnSpc>
              <a:buNone/>
            </a:pPr>
            <a:r>
              <a:rPr lang="en-US" sz="1200" dirty="0">
                <a:solidFill>
                  <a:srgbClr val="000000"/>
                </a:solidFill>
                <a:latin typeface="Times New Roman" pitchFamily="34" charset="0"/>
                <a:ea typeface="Times New Roman" pitchFamily="34" charset="-122"/>
                <a:cs typeface="Times New Roman" pitchFamily="34" charset="-120"/>
              </a:rPr>
              <a:t>What the results are expected to establish, and the significance of the work</a:t>
            </a:r>
            <a:endParaRPr lang="en-US" sz="1200" dirty="0"/>
          </a:p>
        </p:txBody>
      </p:sp>
      <p:sp>
        <p:nvSpPr>
          <p:cNvPr id="19" name="Text 17"/>
          <p:cNvSpPr txBox="1"/>
          <p:nvPr/>
        </p:nvSpPr>
        <p:spPr>
          <a:xfrm>
            <a:off x="914400" y="6675120"/>
            <a:ext cx="548640" cy="339852"/>
          </a:xfrm>
          <a:prstGeom prst="rect">
            <a:avLst/>
          </a:prstGeom>
          <a:noFill/>
          <a:ln/>
        </p:spPr>
        <p:txBody>
          <a:bodyPr wrap="square" lIns="0" tIns="0" rIns="0" bIns="0" rtlCol="0" anchor="t"/>
          <a:lstStyle/>
          <a:p>
            <a:pPr indent="0" marL="0">
              <a:lnSpc>
                <a:spcPts val="2100"/>
              </a:lnSpc>
              <a:buNone/>
            </a:pPr>
            <a:r>
              <a:rPr lang="en-US" sz="1600" b="1" dirty="0">
                <a:solidFill>
                  <a:srgbClr val="000000"/>
                </a:solidFill>
                <a:latin typeface="Times New Roman" pitchFamily="34" charset="0"/>
                <a:ea typeface="Times New Roman" pitchFamily="34" charset="-122"/>
                <a:cs typeface="Times New Roman" pitchFamily="34" charset="-120"/>
              </a:rPr>
              <a:t>6.</a:t>
            </a:r>
            <a:endParaRPr lang="en-US" sz="1600" dirty="0"/>
          </a:p>
        </p:txBody>
      </p:sp>
      <p:sp>
        <p:nvSpPr>
          <p:cNvPr id="20" name="Text 18"/>
          <p:cNvSpPr txBox="1"/>
          <p:nvPr/>
        </p:nvSpPr>
        <p:spPr>
          <a:xfrm>
            <a:off x="1508760" y="6675120"/>
            <a:ext cx="3931920" cy="339852"/>
          </a:xfrm>
          <a:prstGeom prst="rect">
            <a:avLst/>
          </a:prstGeom>
          <a:noFill/>
          <a:ln/>
        </p:spPr>
        <p:txBody>
          <a:bodyPr wrap="square" lIns="0" tIns="0" rIns="0" bIns="0" rtlCol="0" anchor="t"/>
          <a:lstStyle/>
          <a:p>
            <a:pPr indent="0" marL="0">
              <a:lnSpc>
                <a:spcPts val="2100"/>
              </a:lnSpc>
              <a:buNone/>
            </a:pPr>
            <a:r>
              <a:rPr lang="en-US" sz="1600" b="1" dirty="0">
                <a:solidFill>
                  <a:srgbClr val="000000"/>
                </a:solidFill>
                <a:latin typeface="Times New Roman" pitchFamily="34" charset="0"/>
                <a:ea typeface="Times New Roman" pitchFamily="34" charset="-122"/>
                <a:cs typeface="Times New Roman" pitchFamily="34" charset="-120"/>
              </a:rPr>
              <a:t>References</a:t>
            </a:r>
            <a:endParaRPr lang="en-US" sz="1600" dirty="0"/>
          </a:p>
        </p:txBody>
      </p:sp>
      <p:sp>
        <p:nvSpPr>
          <p:cNvPr id="21" name="Text 19"/>
          <p:cNvSpPr txBox="1"/>
          <p:nvPr/>
        </p:nvSpPr>
        <p:spPr>
          <a:xfrm>
            <a:off x="5577840" y="6729984"/>
            <a:ext cx="7223760" cy="276352"/>
          </a:xfrm>
          <a:prstGeom prst="rect">
            <a:avLst/>
          </a:prstGeom>
          <a:noFill/>
          <a:ln/>
        </p:spPr>
        <p:txBody>
          <a:bodyPr wrap="square" lIns="0" tIns="0" rIns="0" bIns="0" rtlCol="0" anchor="t"/>
          <a:lstStyle/>
          <a:p>
            <a:pPr indent="0" marL="0">
              <a:lnSpc>
                <a:spcPts val="1600"/>
              </a:lnSpc>
              <a:buNone/>
            </a:pPr>
            <a:r>
              <a:rPr lang="en-US" sz="1200" dirty="0">
                <a:solidFill>
                  <a:srgbClr val="000000"/>
                </a:solidFill>
                <a:latin typeface="Times New Roman" pitchFamily="34" charset="0"/>
                <a:ea typeface="Times New Roman" pitchFamily="34" charset="-122"/>
                <a:cs typeface="Times New Roman" pitchFamily="34" charset="-120"/>
              </a:rPr>
              <a:t>Sources cited in this presentation</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1520" y="384048"/>
            <a:ext cx="12252960" cy="566928"/>
          </a:xfrm>
          <a:prstGeom prst="rect">
            <a:avLst/>
          </a:prstGeom>
          <a:noFill/>
          <a:ln/>
        </p:spPr>
        <p:txBody>
          <a:bodyPr wrap="square" lIns="0" tIns="0" rIns="0" bIns="0" rtlCol="0" anchor="t"/>
          <a:lstStyle/>
          <a:p>
            <a:pPr indent="0" marL="0">
              <a:buNone/>
            </a:pPr>
            <a:r>
              <a:rPr lang="en-US" sz="2400" b="1" dirty="0">
                <a:solidFill>
                  <a:srgbClr val="1F3864"/>
                </a:solidFill>
                <a:latin typeface="Times New Roman" pitchFamily="34" charset="0"/>
                <a:ea typeface="Times New Roman" pitchFamily="34" charset="-122"/>
                <a:cs typeface="Times New Roman" pitchFamily="34" charset="-120"/>
              </a:rPr>
              <a:t>1. Introduction — Background and Burden</a:t>
            </a:r>
            <a:endParaRPr lang="en-US" sz="2400" dirty="0"/>
          </a:p>
        </p:txBody>
      </p:sp>
      <p:sp>
        <p:nvSpPr>
          <p:cNvPr id="3" name="Text 1"/>
          <p:cNvSpPr txBox="1"/>
          <p:nvPr/>
        </p:nvSpPr>
        <p:spPr>
          <a:xfrm>
            <a:off x="12435840" y="8229600"/>
            <a:ext cx="548640" cy="274320"/>
          </a:xfrm>
          <a:prstGeom prst="rect">
            <a:avLst/>
          </a:prstGeom>
          <a:noFill/>
          <a:ln/>
        </p:spPr>
        <p:txBody>
          <a:bodyPr wrap="square" lIns="0" tIns="0" rIns="0" bIns="0" rtlCol="0" anchor="ctr"/>
          <a:lstStyle/>
          <a:p>
            <a:pPr algn="r" indent="0" marL="0">
              <a:buNone/>
            </a:pPr>
            <a:r>
              <a:rPr lang="en-US" sz="1100" dirty="0">
                <a:solidFill>
                  <a:srgbClr val="595959"/>
                </a:solidFill>
                <a:latin typeface="Times New Roman" pitchFamily="34" charset="0"/>
                <a:ea typeface="Times New Roman" pitchFamily="34" charset="-122"/>
                <a:cs typeface="Times New Roman" pitchFamily="34" charset="-120"/>
              </a:rPr>
              <a:t>3</a:t>
            </a:r>
            <a:endParaRPr lang="en-US" sz="1100" dirty="0"/>
          </a:p>
        </p:txBody>
      </p:sp>
      <p:sp>
        <p:nvSpPr>
          <p:cNvPr id="4" name="Text 2"/>
          <p:cNvSpPr txBox="1"/>
          <p:nvPr/>
        </p:nvSpPr>
        <p:spPr>
          <a:xfrm>
            <a:off x="731520" y="1280160"/>
            <a:ext cx="12252960" cy="292608"/>
          </a:xfrm>
          <a:prstGeom prst="rect">
            <a:avLst/>
          </a:prstGeom>
          <a:noFill/>
          <a:ln/>
        </p:spPr>
        <p:txBody>
          <a:bodyPr wrap="square" lIns="0" tIns="0" rIns="0" bIns="0" rtlCol="0" anchor="ctr"/>
          <a:lstStyle/>
          <a:p>
            <a:pPr indent="0" marL="0">
              <a:buNone/>
            </a:pPr>
            <a:r>
              <a:rPr lang="en-US" sz="1600" b="1" dirty="0">
                <a:solidFill>
                  <a:srgbClr val="000000"/>
                </a:solidFill>
                <a:latin typeface="Times New Roman" pitchFamily="34" charset="0"/>
                <a:ea typeface="Times New Roman" pitchFamily="34" charset="-122"/>
                <a:cs typeface="Times New Roman" pitchFamily="34" charset="-120"/>
              </a:rPr>
              <a:t>The medium has changed</a:t>
            </a:r>
            <a:endParaRPr lang="en-US" sz="1600" dirty="0"/>
          </a:p>
        </p:txBody>
      </p:sp>
      <p:sp>
        <p:nvSpPr>
          <p:cNvPr id="5" name="Text 3"/>
          <p:cNvSpPr txBox="1"/>
          <p:nvPr/>
        </p:nvSpPr>
        <p:spPr>
          <a:xfrm>
            <a:off x="731520" y="1664208"/>
            <a:ext cx="12252960" cy="1374140"/>
          </a:xfrm>
          <a:prstGeom prst="rect">
            <a:avLst/>
          </a:prstGeom>
          <a:noFill/>
          <a:ln/>
        </p:spPr>
        <p:txBody>
          <a:bodyPr wrap="square" lIns="0" tIns="0" rIns="0" bIns="0" rtlCol="0" anchor="t"/>
          <a:lstStyle/>
          <a:p>
            <a:pPr marL="203200" indent="-203200">
              <a:lnSpc>
                <a:spcPts val="1600"/>
              </a:lnSpc>
              <a:spcAft>
                <a:spcPts val="700"/>
              </a:spcAft>
              <a:buSzPct val="100000"/>
              <a:buChar char="•"/>
            </a:pPr>
            <a:r>
              <a:rPr lang="en-US" sz="1200" dirty="0">
                <a:solidFill>
                  <a:srgbClr val="000000"/>
                </a:solidFill>
                <a:latin typeface="Times New Roman" pitchFamily="34" charset="0"/>
                <a:ea typeface="Times New Roman" pitchFamily="34" charset="-122"/>
                <a:cs typeface="Times New Roman" pitchFamily="34" charset="-120"/>
              </a:rPr>
              <a:t>Reading has moved from print to screens. Tablets are now a routine medium for study, work and leisure reading, often for hours at a time.</a:t>
            </a:r>
            <a:endParaRPr lang="en-US" sz="1200" dirty="0"/>
          </a:p>
          <a:p>
            <a:pPr marL="203200" indent="-203200">
              <a:lnSpc>
                <a:spcPts val="1600"/>
              </a:lnSpc>
              <a:spcAft>
                <a:spcPts val="700"/>
              </a:spcAft>
              <a:buSzPct val="100000"/>
              <a:buChar char="•"/>
            </a:pPr>
            <a:r>
              <a:rPr lang="en-US" sz="1200" dirty="0">
                <a:solidFill>
                  <a:srgbClr val="000000"/>
                </a:solidFill>
                <a:latin typeface="Times New Roman" pitchFamily="34" charset="0"/>
                <a:ea typeface="Times New Roman" pitchFamily="34" charset="-122"/>
                <a:cs typeface="Times New Roman" pitchFamily="34" charset="-120"/>
              </a:rPr>
              <a:t>A printed page reflects whatever light falls on it and is fixed once printed. A screen emits its own light, and almost every property of what it displays can be altered in software at no cost.</a:t>
            </a:r>
            <a:endParaRPr lang="en-US" sz="1200" dirty="0"/>
          </a:p>
          <a:p>
            <a:pPr marL="203200" indent="-203200">
              <a:lnSpc>
                <a:spcPts val="1600"/>
              </a:lnSpc>
              <a:spcAft>
                <a:spcPts val="700"/>
              </a:spcAft>
              <a:buSzPct val="100000"/>
              <a:buChar char="•"/>
            </a:pPr>
            <a:r>
              <a:rPr lang="en-US" sz="1200" dirty="0">
                <a:solidFill>
                  <a:srgbClr val="000000"/>
                </a:solidFill>
                <a:latin typeface="Times New Roman" pitchFamily="34" charset="0"/>
                <a:ea typeface="Times New Roman" pitchFamily="34" charset="-122"/>
                <a:cs typeface="Times New Roman" pitchFamily="34" charset="-120"/>
              </a:rPr>
              <a:t>These choices are made constantly — by interface designers, and by users every time a theme is switched — yet the evidence on their combined effect during prolonged reading remains limited.</a:t>
            </a:r>
            <a:endParaRPr lang="en-US" sz="1200" dirty="0"/>
          </a:p>
        </p:txBody>
      </p:sp>
      <p:sp>
        <p:nvSpPr>
          <p:cNvPr id="6" name="Text 4"/>
          <p:cNvSpPr txBox="1"/>
          <p:nvPr/>
        </p:nvSpPr>
        <p:spPr>
          <a:xfrm>
            <a:off x="731520" y="3202940"/>
            <a:ext cx="12252960" cy="292608"/>
          </a:xfrm>
          <a:prstGeom prst="rect">
            <a:avLst/>
          </a:prstGeom>
          <a:noFill/>
          <a:ln/>
        </p:spPr>
        <p:txBody>
          <a:bodyPr wrap="square" lIns="0" tIns="0" rIns="0" bIns="0" rtlCol="0" anchor="ctr"/>
          <a:lstStyle/>
          <a:p>
            <a:pPr indent="0" marL="0">
              <a:buNone/>
            </a:pPr>
            <a:r>
              <a:rPr lang="en-US" sz="1600" b="1" dirty="0">
                <a:solidFill>
                  <a:srgbClr val="000000"/>
                </a:solidFill>
                <a:latin typeface="Times New Roman" pitchFamily="34" charset="0"/>
                <a:ea typeface="Times New Roman" pitchFamily="34" charset="-122"/>
                <a:cs typeface="Times New Roman" pitchFamily="34" charset="-120"/>
              </a:rPr>
              <a:t>Terms used throughout</a:t>
            </a:r>
            <a:endParaRPr lang="en-US" sz="1600" dirty="0"/>
          </a:p>
        </p:txBody>
      </p:sp>
      <p:sp>
        <p:nvSpPr>
          <p:cNvPr id="7" name="Text 5"/>
          <p:cNvSpPr txBox="1"/>
          <p:nvPr/>
        </p:nvSpPr>
        <p:spPr>
          <a:xfrm>
            <a:off x="731520" y="3586988"/>
            <a:ext cx="12252960" cy="1374140"/>
          </a:xfrm>
          <a:prstGeom prst="rect">
            <a:avLst/>
          </a:prstGeom>
          <a:noFill/>
          <a:ln/>
        </p:spPr>
        <p:txBody>
          <a:bodyPr wrap="square" lIns="0" tIns="0" rIns="0" bIns="0" rtlCol="0" anchor="t"/>
          <a:lstStyle/>
          <a:p>
            <a:pPr marL="203200" indent="-203200">
              <a:lnSpc>
                <a:spcPts val="1600"/>
              </a:lnSpc>
              <a:spcAft>
                <a:spcPts val="700"/>
              </a:spcAft>
              <a:buSzPct val="100000"/>
              <a:buChar char="•"/>
            </a:pPr>
            <a:r>
              <a:rPr lang="en-US" sz="1200" i="1" dirty="0">
                <a:solidFill>
                  <a:srgbClr val="000000"/>
                </a:solidFill>
                <a:latin typeface="Times New Roman" pitchFamily="34" charset="0"/>
                <a:ea typeface="Times New Roman" pitchFamily="34" charset="-122"/>
                <a:cs typeface="Times New Roman" pitchFamily="34" charset="-120"/>
              </a:rPr>
              <a:t>Display polarity</a:t>
            </a:r>
            <a:r>
              <a:rPr lang="en-US" sz="1200" dirty="0">
                <a:solidFill>
                  <a:srgbClr val="000000"/>
                </a:solidFill>
                <a:latin typeface="Times New Roman" pitchFamily="34" charset="0"/>
                <a:ea typeface="Times New Roman" pitchFamily="34" charset="-122"/>
                <a:cs typeface="Times New Roman" pitchFamily="34" charset="-120"/>
              </a:rPr>
              <a:t> — which of the two elements is lighter. </a:t>
            </a:r>
            <a:r>
              <a:rPr lang="en-US" sz="1200" i="1" dirty="0">
                <a:solidFill>
                  <a:srgbClr val="000000"/>
                </a:solidFill>
                <a:latin typeface="Times New Roman" pitchFamily="34" charset="0"/>
                <a:ea typeface="Times New Roman" pitchFamily="34" charset="-122"/>
                <a:cs typeface="Times New Roman" pitchFamily="34" charset="-120"/>
              </a:rPr>
              <a:t>Positive polarity</a:t>
            </a:r>
            <a:r>
              <a:rPr lang="en-US" sz="1200" dirty="0">
                <a:solidFill>
                  <a:srgbClr val="000000"/>
                </a:solidFill>
                <a:latin typeface="Times New Roman" pitchFamily="34" charset="0"/>
                <a:ea typeface="Times New Roman" pitchFamily="34" charset="-122"/>
                <a:cs typeface="Times New Roman" pitchFamily="34" charset="-120"/>
              </a:rPr>
              <a:t> is dark text on a light background, the arrangement of a printed book; </a:t>
            </a:r>
            <a:r>
              <a:rPr lang="en-US" sz="1200" i="1" dirty="0">
                <a:solidFill>
                  <a:srgbClr val="000000"/>
                </a:solidFill>
                <a:latin typeface="Times New Roman" pitchFamily="34" charset="0"/>
                <a:ea typeface="Times New Roman" pitchFamily="34" charset="-122"/>
                <a:cs typeface="Times New Roman" pitchFamily="34" charset="-120"/>
              </a:rPr>
              <a:t>negative polarity</a:t>
            </a:r>
            <a:r>
              <a:rPr lang="en-US" sz="1200" dirty="0">
                <a:solidFill>
                  <a:srgbClr val="000000"/>
                </a:solidFill>
                <a:latin typeface="Times New Roman" pitchFamily="34" charset="0"/>
                <a:ea typeface="Times New Roman" pitchFamily="34" charset="-122"/>
                <a:cs typeface="Times New Roman" pitchFamily="34" charset="-120"/>
              </a:rPr>
              <a:t> is light text on a dark background, popularly "dark mode".</a:t>
            </a:r>
            <a:endParaRPr lang="en-US" sz="1200" dirty="0"/>
          </a:p>
          <a:p>
            <a:pPr marL="203200" indent="-203200">
              <a:lnSpc>
                <a:spcPts val="1600"/>
              </a:lnSpc>
              <a:spcAft>
                <a:spcPts val="700"/>
              </a:spcAft>
              <a:buSzPct val="100000"/>
              <a:buChar char="•"/>
            </a:pPr>
            <a:r>
              <a:rPr lang="en-US" sz="1200" i="1" dirty="0">
                <a:solidFill>
                  <a:srgbClr val="000000"/>
                </a:solidFill>
                <a:latin typeface="Times New Roman" pitchFamily="34" charset="0"/>
                <a:ea typeface="Times New Roman" pitchFamily="34" charset="-122"/>
                <a:cs typeface="Times New Roman" pitchFamily="34" charset="-120"/>
              </a:rPr>
              <a:t>Text colour (chromaticity)</a:t>
            </a:r>
            <a:r>
              <a:rPr lang="en-US" sz="1200" dirty="0">
                <a:solidFill>
                  <a:srgbClr val="000000"/>
                </a:solidFill>
                <a:latin typeface="Times New Roman" pitchFamily="34" charset="0"/>
                <a:ea typeface="Times New Roman" pitchFamily="34" charset="-122"/>
                <a:cs typeface="Times New Roman" pitchFamily="34" charset="-120"/>
              </a:rPr>
              <a:t> — the hue of the letters themselves, which need not be black or white.</a:t>
            </a:r>
            <a:endParaRPr lang="en-US" sz="1200" dirty="0"/>
          </a:p>
          <a:p>
            <a:pPr marL="203200" indent="-203200">
              <a:lnSpc>
                <a:spcPts val="1600"/>
              </a:lnSpc>
              <a:spcAft>
                <a:spcPts val="700"/>
              </a:spcAft>
              <a:buSzPct val="100000"/>
              <a:buChar char="•"/>
            </a:pPr>
            <a:r>
              <a:rPr lang="en-US" sz="1200" i="1" dirty="0">
                <a:solidFill>
                  <a:srgbClr val="000000"/>
                </a:solidFill>
                <a:latin typeface="Times New Roman" pitchFamily="34" charset="0"/>
                <a:ea typeface="Times New Roman" pitchFamily="34" charset="-122"/>
                <a:cs typeface="Times New Roman" pitchFamily="34" charset="-120"/>
              </a:rPr>
              <a:t>Luminance contrast</a:t>
            </a:r>
            <a:r>
              <a:rPr lang="en-US" sz="1200" dirty="0">
                <a:solidFill>
                  <a:srgbClr val="000000"/>
                </a:solidFill>
                <a:latin typeface="Times New Roman" pitchFamily="34" charset="0"/>
                <a:ea typeface="Times New Roman" pitchFamily="34" charset="-122"/>
                <a:cs typeface="Times New Roman" pitchFamily="34" charset="-120"/>
              </a:rPr>
              <a:t> — the difference in brightness between the letters and their background, and the property that decides whether text is easy to resolve. It is not the same as colour difference: two colours may look very different and still be hard to read against one another.</a:t>
            </a:r>
            <a:endParaRPr lang="en-US" sz="1200" dirty="0"/>
          </a:p>
        </p:txBody>
      </p:sp>
      <p:sp>
        <p:nvSpPr>
          <p:cNvPr id="8" name="Text 6"/>
          <p:cNvSpPr txBox="1"/>
          <p:nvPr/>
        </p:nvSpPr>
        <p:spPr>
          <a:xfrm>
            <a:off x="731520" y="5125720"/>
            <a:ext cx="12252960" cy="292608"/>
          </a:xfrm>
          <a:prstGeom prst="rect">
            <a:avLst/>
          </a:prstGeom>
          <a:noFill/>
          <a:ln/>
        </p:spPr>
        <p:txBody>
          <a:bodyPr wrap="square" lIns="0" tIns="0" rIns="0" bIns="0" rtlCol="0" anchor="ctr"/>
          <a:lstStyle/>
          <a:p>
            <a:pPr indent="0" marL="0">
              <a:buNone/>
            </a:pPr>
            <a:r>
              <a:rPr lang="en-US" sz="1600" b="1" dirty="0">
                <a:solidFill>
                  <a:srgbClr val="000000"/>
                </a:solidFill>
                <a:latin typeface="Times New Roman" pitchFamily="34" charset="0"/>
                <a:ea typeface="Times New Roman" pitchFamily="34" charset="-122"/>
                <a:cs typeface="Times New Roman" pitchFamily="34" charset="-120"/>
              </a:rPr>
              <a:t>The clinical burden</a:t>
            </a:r>
            <a:endParaRPr lang="en-US" sz="1600" dirty="0"/>
          </a:p>
        </p:txBody>
      </p:sp>
      <p:sp>
        <p:nvSpPr>
          <p:cNvPr id="9" name="Text 7"/>
          <p:cNvSpPr txBox="1"/>
          <p:nvPr/>
        </p:nvSpPr>
        <p:spPr>
          <a:xfrm>
            <a:off x="731520" y="5509768"/>
            <a:ext cx="12252960" cy="1463040"/>
          </a:xfrm>
          <a:prstGeom prst="rect">
            <a:avLst/>
          </a:prstGeom>
          <a:noFill/>
          <a:ln/>
        </p:spPr>
        <p:txBody>
          <a:bodyPr wrap="square" lIns="0" tIns="0" rIns="0" bIns="0" rtlCol="0" anchor="t"/>
          <a:lstStyle/>
          <a:p>
            <a:pPr marL="203200" indent="-203200">
              <a:lnSpc>
                <a:spcPts val="1600"/>
              </a:lnSpc>
              <a:spcAft>
                <a:spcPts val="700"/>
              </a:spcAft>
              <a:buSzPct val="100000"/>
              <a:buChar char="•"/>
            </a:pPr>
            <a:r>
              <a:rPr lang="en-US" sz="1200" dirty="0">
                <a:solidFill>
                  <a:srgbClr val="000000"/>
                </a:solidFill>
                <a:latin typeface="Times New Roman" pitchFamily="34" charset="0"/>
                <a:ea typeface="Times New Roman" pitchFamily="34" charset="-122"/>
                <a:cs typeface="Times New Roman" pitchFamily="34" charset="-120"/>
              </a:rPr>
              <a:t>Prolonged screen reading produces a recognised symptom cluster — dry or gritty eyes, blurred vision, delayed refocusing, headache and neck or shoulder ache — grouped as digital eye strain, or computer vision syndrome.</a:t>
            </a:r>
            <a:endParaRPr lang="en-US" sz="1200" dirty="0"/>
          </a:p>
          <a:p>
            <a:pPr marL="203200" indent="-203200">
              <a:lnSpc>
                <a:spcPts val="1600"/>
              </a:lnSpc>
              <a:spcAft>
                <a:spcPts val="700"/>
              </a:spcAft>
              <a:buSzPct val="100000"/>
              <a:buChar char="•"/>
            </a:pPr>
            <a:r>
              <a:rPr lang="en-US" sz="1200" dirty="0">
                <a:solidFill>
                  <a:srgbClr val="000000"/>
                </a:solidFill>
                <a:latin typeface="Times New Roman" pitchFamily="34" charset="0"/>
                <a:ea typeface="Times New Roman" pitchFamily="34" charset="-122"/>
                <a:cs typeface="Times New Roman" pitchFamily="34" charset="-120"/>
              </a:rPr>
              <a:t>Pooled prevalence across 103 cross-sectional studies (66,577 participants) is 69.0% (95% CI 62.3–75.3), rising to 76.1% among university students (Ccami-Bernal </a:t>
            </a:r>
            <a:r>
              <a:rPr lang="en-US" sz="1200" i="1" dirty="0">
                <a:solidFill>
                  <a:srgbClr val="000000"/>
                </a:solidFill>
                <a:latin typeface="Times New Roman" pitchFamily="34" charset="0"/>
                <a:ea typeface="Times New Roman" pitchFamily="34" charset="-122"/>
                <a:cs typeface="Times New Roman" pitchFamily="34" charset="-120"/>
              </a:rPr>
              <a:t>et al.</a:t>
            </a:r>
            <a:r>
              <a:rPr lang="en-US" sz="1200" dirty="0">
                <a:solidFill>
                  <a:srgbClr val="000000"/>
                </a:solidFill>
                <a:latin typeface="Times New Roman" pitchFamily="34" charset="0"/>
                <a:ea typeface="Times New Roman" pitchFamily="34" charset="-122"/>
                <a:cs typeface="Times New Roman" pitchFamily="34" charset="-120"/>
              </a:rPr>
              <a:t>, 2024).</a:t>
            </a:r>
            <a:endParaRPr lang="en-US" sz="1200" dirty="0"/>
          </a:p>
          <a:p>
            <a:pPr marL="203200" indent="-203200">
              <a:lnSpc>
                <a:spcPts val="1600"/>
              </a:lnSpc>
              <a:spcAft>
                <a:spcPts val="700"/>
              </a:spcAft>
              <a:buSzPct val="100000"/>
              <a:buChar char="•"/>
            </a:pPr>
            <a:r>
              <a:rPr lang="en-US" sz="1200" dirty="0">
                <a:solidFill>
                  <a:srgbClr val="000000"/>
                </a:solidFill>
                <a:latin typeface="Times New Roman" pitchFamily="34" charset="0"/>
                <a:ea typeface="Times New Roman" pitchFamily="34" charset="-122"/>
                <a:cs typeface="Times New Roman" pitchFamily="34" charset="-120"/>
              </a:rPr>
              <a:t>Across 45 randomised controlled trials (4,497 participants), no therapy examined — blue-blocking lenses included — reached high-certainty evidence (Singh </a:t>
            </a:r>
            <a:r>
              <a:rPr lang="en-US" sz="1200" i="1" dirty="0">
                <a:solidFill>
                  <a:srgbClr val="000000"/>
                </a:solidFill>
                <a:latin typeface="Times New Roman" pitchFamily="34" charset="0"/>
                <a:ea typeface="Times New Roman" pitchFamily="34" charset="-122"/>
                <a:cs typeface="Times New Roman" pitchFamily="34" charset="-120"/>
              </a:rPr>
              <a:t>et al.</a:t>
            </a:r>
            <a:r>
              <a:rPr lang="en-US" sz="1200" dirty="0">
                <a:solidFill>
                  <a:srgbClr val="000000"/>
                </a:solidFill>
                <a:latin typeface="Times New Roman" pitchFamily="34" charset="0"/>
                <a:ea typeface="Times New Roman" pitchFamily="34" charset="-122"/>
                <a:cs typeface="Times New Roman" pitchFamily="34" charset="-120"/>
              </a:rPr>
              <a:t>, 2022).</a:t>
            </a:r>
            <a:endParaRPr lang="en-US" sz="1200" dirty="0"/>
          </a:p>
          <a:p>
            <a:pPr marL="203200" indent="-203200">
              <a:lnSpc>
                <a:spcPts val="1600"/>
              </a:lnSpc>
              <a:spcAft>
                <a:spcPts val="700"/>
              </a:spcAft>
              <a:buSzPct val="100000"/>
              <a:buChar char="•"/>
            </a:pPr>
            <a:r>
              <a:rPr lang="en-US" sz="1200" dirty="0">
                <a:solidFill>
                  <a:srgbClr val="000000"/>
                </a:solidFill>
                <a:latin typeface="Times New Roman" pitchFamily="34" charset="0"/>
                <a:ea typeface="Times New Roman" pitchFamily="34" charset="-122"/>
                <a:cs typeface="Times New Roman" pitchFamily="34" charset="-120"/>
              </a:rPr>
              <a:t>The displayed stimulus is upstream of the visual load, costs nothing to change and can be deployed universally — and is the least investigated of the available levers.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1520" y="384048"/>
            <a:ext cx="12252960" cy="566928"/>
          </a:xfrm>
          <a:prstGeom prst="rect">
            <a:avLst/>
          </a:prstGeom>
          <a:noFill/>
          <a:ln/>
        </p:spPr>
        <p:txBody>
          <a:bodyPr wrap="square" lIns="0" tIns="0" rIns="0" bIns="0" rtlCol="0" anchor="t"/>
          <a:lstStyle/>
          <a:p>
            <a:pPr indent="0" marL="0">
              <a:buNone/>
            </a:pPr>
            <a:r>
              <a:rPr lang="en-US" sz="2400" b="1" dirty="0">
                <a:solidFill>
                  <a:srgbClr val="1F3864"/>
                </a:solidFill>
                <a:latin typeface="Times New Roman" pitchFamily="34" charset="0"/>
                <a:ea typeface="Times New Roman" pitchFamily="34" charset="-122"/>
                <a:cs typeface="Times New Roman" pitchFamily="34" charset="-120"/>
              </a:rPr>
              <a:t>1. Introduction — Biophysiological Basis</a:t>
            </a:r>
            <a:endParaRPr lang="en-US" sz="2400" dirty="0"/>
          </a:p>
        </p:txBody>
      </p:sp>
      <p:sp>
        <p:nvSpPr>
          <p:cNvPr id="3" name="Text 1"/>
          <p:cNvSpPr txBox="1"/>
          <p:nvPr/>
        </p:nvSpPr>
        <p:spPr>
          <a:xfrm>
            <a:off x="12435840" y="8229600"/>
            <a:ext cx="548640" cy="274320"/>
          </a:xfrm>
          <a:prstGeom prst="rect">
            <a:avLst/>
          </a:prstGeom>
          <a:noFill/>
          <a:ln/>
        </p:spPr>
        <p:txBody>
          <a:bodyPr wrap="square" lIns="0" tIns="0" rIns="0" bIns="0" rtlCol="0" anchor="ctr"/>
          <a:lstStyle/>
          <a:p>
            <a:pPr algn="r" indent="0" marL="0">
              <a:buNone/>
            </a:pPr>
            <a:r>
              <a:rPr lang="en-US" sz="1100" dirty="0">
                <a:solidFill>
                  <a:srgbClr val="595959"/>
                </a:solidFill>
                <a:latin typeface="Times New Roman" pitchFamily="34" charset="0"/>
                <a:ea typeface="Times New Roman" pitchFamily="34" charset="-122"/>
                <a:cs typeface="Times New Roman" pitchFamily="34" charset="-120"/>
              </a:rPr>
              <a:t>4</a:t>
            </a:r>
            <a:endParaRPr lang="en-US" sz="1100" dirty="0"/>
          </a:p>
        </p:txBody>
      </p:sp>
      <p:sp>
        <p:nvSpPr>
          <p:cNvPr id="4" name="Text 2"/>
          <p:cNvSpPr txBox="1"/>
          <p:nvPr/>
        </p:nvSpPr>
        <p:spPr>
          <a:xfrm>
            <a:off x="731520" y="1280160"/>
            <a:ext cx="4572000" cy="5006340"/>
          </a:xfrm>
          <a:prstGeom prst="rect">
            <a:avLst/>
          </a:prstGeom>
          <a:noFill/>
          <a:ln/>
        </p:spPr>
        <p:txBody>
          <a:bodyPr wrap="square" lIns="0" tIns="0" rIns="0" bIns="0" rtlCol="0" anchor="t"/>
          <a:lstStyle/>
          <a:p>
            <a:pPr marL="203200" indent="-203200">
              <a:lnSpc>
                <a:spcPts val="1600"/>
              </a:lnSpc>
              <a:spcAft>
                <a:spcPts val="700"/>
              </a:spcAft>
              <a:buSzPct val="100000"/>
              <a:buChar char="•"/>
            </a:pPr>
            <a:r>
              <a:rPr lang="en-US" sz="1200" dirty="0">
                <a:solidFill>
                  <a:srgbClr val="000000"/>
                </a:solidFill>
                <a:latin typeface="Times New Roman" pitchFamily="34" charset="0"/>
                <a:ea typeface="Times New Roman" pitchFamily="34" charset="-122"/>
                <a:cs typeface="Times New Roman" pitchFamily="34" charset="-120"/>
              </a:rPr>
              <a:t>The symptoms arise by two routes, and separating them is what makes them measurable (Sheppard &amp; Wolffsohn, 2018).</a:t>
            </a:r>
            <a:endParaRPr lang="en-US" sz="1200" dirty="0"/>
          </a:p>
          <a:p>
            <a:pPr marL="203200" indent="-203200">
              <a:lnSpc>
                <a:spcPts val="1600"/>
              </a:lnSpc>
              <a:spcAft>
                <a:spcPts val="700"/>
              </a:spcAft>
              <a:buSzPct val="100000"/>
              <a:buChar char="•"/>
            </a:pPr>
            <a:r>
              <a:rPr lang="en-US" sz="1200" i="1" dirty="0">
                <a:solidFill>
                  <a:srgbClr val="000000"/>
                </a:solidFill>
                <a:latin typeface="Times New Roman" pitchFamily="34" charset="0"/>
                <a:ea typeface="Times New Roman" pitchFamily="34" charset="-122"/>
                <a:cs typeface="Times New Roman" pitchFamily="34" charset="-120"/>
              </a:rPr>
              <a:t>Accommodative and vergence route.</a:t>
            </a:r>
            <a:r>
              <a:rPr lang="en-US" sz="1200" dirty="0">
                <a:solidFill>
                  <a:srgbClr val="000000"/>
                </a:solidFill>
                <a:latin typeface="Times New Roman" pitchFamily="34" charset="0"/>
                <a:ea typeface="Times New Roman" pitchFamily="34" charset="-122"/>
                <a:cs typeface="Times New Roman" pitchFamily="34" charset="-120"/>
              </a:rPr>
              <a:t> Sustained near focusing — a change in the shape of the lens together with inward rotation of both eyes — produces blur, difficulty refocusing, transient myopia after close work, and headache. It responds measurably to display parameters (Jiménez </a:t>
            </a:r>
            <a:r>
              <a:rPr lang="en-US" sz="1200" i="1" dirty="0">
                <a:solidFill>
                  <a:srgbClr val="000000"/>
                </a:solidFill>
                <a:latin typeface="Times New Roman" pitchFamily="34" charset="0"/>
                <a:ea typeface="Times New Roman" pitchFamily="34" charset="-122"/>
                <a:cs typeface="Times New Roman" pitchFamily="34" charset="-120"/>
              </a:rPr>
              <a:t>et al.</a:t>
            </a:r>
            <a:r>
              <a:rPr lang="en-US" sz="1200" dirty="0">
                <a:solidFill>
                  <a:srgbClr val="000000"/>
                </a:solidFill>
                <a:latin typeface="Times New Roman" pitchFamily="34" charset="0"/>
                <a:ea typeface="Times New Roman" pitchFamily="34" charset="-122"/>
                <a:cs typeface="Times New Roman" pitchFamily="34" charset="-120"/>
              </a:rPr>
              <a:t>, 2020; Redondo </a:t>
            </a:r>
            <a:r>
              <a:rPr lang="en-US" sz="1200" i="1" dirty="0">
                <a:solidFill>
                  <a:srgbClr val="000000"/>
                </a:solidFill>
                <a:latin typeface="Times New Roman" pitchFamily="34" charset="0"/>
                <a:ea typeface="Times New Roman" pitchFamily="34" charset="-122"/>
                <a:cs typeface="Times New Roman" pitchFamily="34" charset="-120"/>
              </a:rPr>
              <a:t>et al.</a:t>
            </a:r>
            <a:r>
              <a:rPr lang="en-US" sz="1200" dirty="0">
                <a:solidFill>
                  <a:srgbClr val="000000"/>
                </a:solidFill>
                <a:latin typeface="Times New Roman" pitchFamily="34" charset="0"/>
                <a:ea typeface="Times New Roman" pitchFamily="34" charset="-122"/>
                <a:cs typeface="Times New Roman" pitchFamily="34" charset="-120"/>
              </a:rPr>
              <a:t>, 2025), but is not measured in this study and is reviewed as mechanistic context.</a:t>
            </a:r>
            <a:endParaRPr lang="en-US" sz="1200" dirty="0"/>
          </a:p>
          <a:p>
            <a:pPr marL="203200" indent="-203200">
              <a:lnSpc>
                <a:spcPts val="1600"/>
              </a:lnSpc>
              <a:spcAft>
                <a:spcPts val="700"/>
              </a:spcAft>
              <a:buSzPct val="100000"/>
              <a:buChar char="•"/>
            </a:pPr>
            <a:r>
              <a:rPr lang="en-US" sz="1200" i="1" dirty="0">
                <a:solidFill>
                  <a:srgbClr val="000000"/>
                </a:solidFill>
                <a:latin typeface="Times New Roman" pitchFamily="34" charset="0"/>
                <a:ea typeface="Times New Roman" pitchFamily="34" charset="-122"/>
                <a:cs typeface="Times New Roman" pitchFamily="34" charset="-120"/>
              </a:rPr>
              <a:t>Ocular-surface route.</a:t>
            </a:r>
            <a:r>
              <a:rPr lang="en-US" sz="1200" dirty="0">
                <a:solidFill>
                  <a:srgbClr val="000000"/>
                </a:solidFill>
                <a:latin typeface="Times New Roman" pitchFamily="34" charset="0"/>
                <a:ea typeface="Times New Roman" pitchFamily="34" charset="-122"/>
                <a:cs typeface="Times New Roman" pitchFamily="34" charset="-120"/>
              </a:rPr>
              <a:t> A blink spreads fresh tear fluid across the surface and draws an oily secretion from the lid margins over it, which slows evaporation. Screen work lowers blink frequency and raises the proportion of blinks in which the lids approach one another but do not meet — incomplete blinks. These leave part of the surface unwetted, so the tear film thins and breaks up sooner, and the surface enters the recognised inflammatory cycle of dry eye disease (Fjaervoll </a:t>
            </a:r>
            <a:r>
              <a:rPr lang="en-US" sz="1200" i="1" dirty="0">
                <a:solidFill>
                  <a:srgbClr val="000000"/>
                </a:solidFill>
                <a:latin typeface="Times New Roman" pitchFamily="34" charset="0"/>
                <a:ea typeface="Times New Roman" pitchFamily="34" charset="-122"/>
                <a:cs typeface="Times New Roman" pitchFamily="34" charset="-120"/>
              </a:rPr>
              <a:t>et al.</a:t>
            </a:r>
            <a:r>
              <a:rPr lang="en-US" sz="1200" dirty="0">
                <a:solidFill>
                  <a:srgbClr val="000000"/>
                </a:solidFill>
                <a:latin typeface="Times New Roman" pitchFamily="34" charset="0"/>
                <a:ea typeface="Times New Roman" pitchFamily="34" charset="-122"/>
                <a:cs typeface="Times New Roman" pitchFamily="34" charset="-120"/>
              </a:rPr>
              <a:t>, 2022; Kamøy </a:t>
            </a:r>
            <a:r>
              <a:rPr lang="en-US" sz="1200" i="1" dirty="0">
                <a:solidFill>
                  <a:srgbClr val="000000"/>
                </a:solidFill>
                <a:latin typeface="Times New Roman" pitchFamily="34" charset="0"/>
                <a:ea typeface="Times New Roman" pitchFamily="34" charset="-122"/>
                <a:cs typeface="Times New Roman" pitchFamily="34" charset="-120"/>
              </a:rPr>
              <a:t>et al.</a:t>
            </a:r>
            <a:r>
              <a:rPr lang="en-US" sz="1200" dirty="0">
                <a:solidFill>
                  <a:srgbClr val="000000"/>
                </a:solidFill>
                <a:latin typeface="Times New Roman" pitchFamily="34" charset="0"/>
                <a:ea typeface="Times New Roman" pitchFamily="34" charset="-122"/>
                <a:cs typeface="Times New Roman" pitchFamily="34" charset="-120"/>
              </a:rPr>
              <a:t>, 2022).</a:t>
            </a:r>
            <a:endParaRPr lang="en-US" sz="1200" dirty="0"/>
          </a:p>
          <a:p>
            <a:pPr marL="203200" indent="-203200">
              <a:lnSpc>
                <a:spcPts val="1600"/>
              </a:lnSpc>
              <a:spcAft>
                <a:spcPts val="700"/>
              </a:spcAft>
              <a:buSzPct val="100000"/>
              <a:buChar char="•"/>
            </a:pPr>
            <a:r>
              <a:rPr lang="en-US" sz="1200" dirty="0">
                <a:solidFill>
                  <a:srgbClr val="000000"/>
                </a:solidFill>
                <a:latin typeface="Times New Roman" pitchFamily="34" charset="0"/>
                <a:ea typeface="Times New Roman" pitchFamily="34" charset="-122"/>
                <a:cs typeface="Times New Roman" pitchFamily="34" charset="-120"/>
              </a:rPr>
              <a:t>Mechanistic review attributes display-associated dry eye principally to impaired blinking, rather than to parasympathetic or blue-light contributions (Fjaervoll </a:t>
            </a:r>
            <a:r>
              <a:rPr lang="en-US" sz="1200" i="1" dirty="0">
                <a:solidFill>
                  <a:srgbClr val="000000"/>
                </a:solidFill>
                <a:latin typeface="Times New Roman" pitchFamily="34" charset="0"/>
                <a:ea typeface="Times New Roman" pitchFamily="34" charset="-122"/>
                <a:cs typeface="Times New Roman" pitchFamily="34" charset="-120"/>
              </a:rPr>
              <a:t>et al.</a:t>
            </a:r>
            <a:r>
              <a:rPr lang="en-US" sz="1200" dirty="0">
                <a:solidFill>
                  <a:srgbClr val="000000"/>
                </a:solidFill>
                <a:latin typeface="Times New Roman" pitchFamily="34" charset="0"/>
                <a:ea typeface="Times New Roman" pitchFamily="34" charset="-122"/>
                <a:cs typeface="Times New Roman" pitchFamily="34" charset="-120"/>
              </a:rPr>
              <a:t>, 2022).</a:t>
            </a:r>
            <a:endParaRPr lang="en-US" sz="1200" dirty="0"/>
          </a:p>
          <a:p>
            <a:pPr marL="203200" indent="-203200">
              <a:lnSpc>
                <a:spcPts val="1600"/>
              </a:lnSpc>
              <a:spcAft>
                <a:spcPts val="700"/>
              </a:spcAft>
              <a:buSzPct val="100000"/>
              <a:buChar char="•"/>
            </a:pPr>
            <a:r>
              <a:rPr lang="en-US" sz="1200" dirty="0">
                <a:solidFill>
                  <a:srgbClr val="000000"/>
                </a:solidFill>
                <a:latin typeface="Times New Roman" pitchFamily="34" charset="0"/>
                <a:ea typeface="Times New Roman" pitchFamily="34" charset="-122"/>
                <a:cs typeface="Times New Roman" pitchFamily="34" charset="-120"/>
              </a:rPr>
              <a:t>It is therefore the </a:t>
            </a:r>
            <a:r>
              <a:rPr lang="en-US" sz="1200" i="1" dirty="0">
                <a:solidFill>
                  <a:srgbClr val="000000"/>
                </a:solidFill>
                <a:latin typeface="Times New Roman" pitchFamily="34" charset="0"/>
                <a:ea typeface="Times New Roman" pitchFamily="34" charset="-122"/>
                <a:cs typeface="Times New Roman" pitchFamily="34" charset="-120"/>
              </a:rPr>
              <a:t>completeness</a:t>
            </a:r>
            <a:r>
              <a:rPr lang="en-US" sz="1200" dirty="0">
                <a:solidFill>
                  <a:srgbClr val="000000"/>
                </a:solidFill>
                <a:latin typeface="Times New Roman" pitchFamily="34" charset="0"/>
                <a:ea typeface="Times New Roman" pitchFamily="34" charset="-122"/>
                <a:cs typeface="Times New Roman" pitchFamily="34" charset="-120"/>
              </a:rPr>
              <a:t> of blinking, and not its frequency, that this study treats as its primary outcome.</a:t>
            </a:r>
            <a:endParaRPr lang="en-US" sz="1200" dirty="0"/>
          </a:p>
        </p:txBody>
      </p:sp>
      <p:pic>
        <p:nvPicPr>
          <p:cNvPr id="5" name="Image 0" descr="/home/user/PhD-PWA/synopsis/figures/fig_pathways.png">    </p:cNvPr>
          <p:cNvPicPr>
            <a:picLocks noChangeAspect="1"/>
          </p:cNvPicPr>
          <p:nvPr/>
        </p:nvPicPr>
        <p:blipFill>
          <a:blip r:embed="rId1"/>
          <a:stretch>
            <a:fillRect/>
          </a:stretch>
        </p:blipFill>
        <p:spPr>
          <a:xfrm>
            <a:off x="5760720" y="1280160"/>
            <a:ext cx="7223760" cy="5075154"/>
          </a:xfrm>
          <a:prstGeom prst="rect">
            <a:avLst/>
          </a:prstGeom>
        </p:spPr>
      </p:pic>
      <p:sp>
        <p:nvSpPr>
          <p:cNvPr id="6" name="Text 3"/>
          <p:cNvSpPr txBox="1"/>
          <p:nvPr/>
        </p:nvSpPr>
        <p:spPr>
          <a:xfrm>
            <a:off x="5760720" y="6465042"/>
            <a:ext cx="7223760" cy="274320"/>
          </a:xfrm>
          <a:prstGeom prst="rect">
            <a:avLst/>
          </a:prstGeom>
          <a:noFill/>
          <a:ln/>
        </p:spPr>
        <p:txBody>
          <a:bodyPr wrap="square" lIns="0" tIns="0" rIns="0" bIns="0" rtlCol="0" anchor="ctr"/>
          <a:lstStyle/>
          <a:p>
            <a:pPr indent="0" marL="0">
              <a:buNone/>
            </a:pPr>
            <a:r>
              <a:rPr lang="en-US" sz="1100" dirty="0">
                <a:solidFill>
                  <a:srgbClr val="000000"/>
                </a:solidFill>
                <a:latin typeface="Times New Roman" pitchFamily="34" charset="0"/>
                <a:ea typeface="Times New Roman" pitchFamily="34" charset="-122"/>
                <a:cs typeface="Times New Roman" pitchFamily="34" charset="-120"/>
              </a:rPr>
              <a:t>Figure 1. The two pathways from display configuration to measured outcome.</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1520" y="384048"/>
            <a:ext cx="12252960" cy="566928"/>
          </a:xfrm>
          <a:prstGeom prst="rect">
            <a:avLst/>
          </a:prstGeom>
          <a:noFill/>
          <a:ln/>
        </p:spPr>
        <p:txBody>
          <a:bodyPr wrap="square" lIns="0" tIns="0" rIns="0" bIns="0" rtlCol="0" anchor="t"/>
          <a:lstStyle/>
          <a:p>
            <a:pPr indent="0" marL="0">
              <a:buNone/>
            </a:pPr>
            <a:r>
              <a:rPr lang="en-US" sz="2400" b="1" dirty="0">
                <a:solidFill>
                  <a:srgbClr val="1F3864"/>
                </a:solidFill>
                <a:latin typeface="Times New Roman" pitchFamily="34" charset="0"/>
                <a:ea typeface="Times New Roman" pitchFamily="34" charset="-122"/>
                <a:cs typeface="Times New Roman" pitchFamily="34" charset="-120"/>
              </a:rPr>
              <a:t>2. Review of Literature — Display Polarity</a:t>
            </a:r>
            <a:endParaRPr lang="en-US" sz="2400" dirty="0"/>
          </a:p>
        </p:txBody>
      </p:sp>
      <p:sp>
        <p:nvSpPr>
          <p:cNvPr id="3" name="Text 1"/>
          <p:cNvSpPr txBox="1"/>
          <p:nvPr/>
        </p:nvSpPr>
        <p:spPr>
          <a:xfrm>
            <a:off x="12435840" y="8229600"/>
            <a:ext cx="548640" cy="274320"/>
          </a:xfrm>
          <a:prstGeom prst="rect">
            <a:avLst/>
          </a:prstGeom>
          <a:noFill/>
          <a:ln/>
        </p:spPr>
        <p:txBody>
          <a:bodyPr wrap="square" lIns="0" tIns="0" rIns="0" bIns="0" rtlCol="0" anchor="ctr"/>
          <a:lstStyle/>
          <a:p>
            <a:pPr algn="r" indent="0" marL="0">
              <a:buNone/>
            </a:pPr>
            <a:r>
              <a:rPr lang="en-US" sz="1100" dirty="0">
                <a:solidFill>
                  <a:srgbClr val="595959"/>
                </a:solidFill>
                <a:latin typeface="Times New Roman" pitchFamily="34" charset="0"/>
                <a:ea typeface="Times New Roman" pitchFamily="34" charset="-122"/>
                <a:cs typeface="Times New Roman" pitchFamily="34" charset="-120"/>
              </a:rPr>
              <a:t>5</a:t>
            </a:r>
            <a:endParaRPr lang="en-US" sz="1100" dirty="0"/>
          </a:p>
        </p:txBody>
      </p:sp>
      <p:sp>
        <p:nvSpPr>
          <p:cNvPr id="4" name="Text 2"/>
          <p:cNvSpPr txBox="1"/>
          <p:nvPr/>
        </p:nvSpPr>
        <p:spPr>
          <a:xfrm>
            <a:off x="731520" y="1280160"/>
            <a:ext cx="12252960" cy="2275840"/>
          </a:xfrm>
          <a:prstGeom prst="rect">
            <a:avLst/>
          </a:prstGeom>
          <a:noFill/>
          <a:ln/>
        </p:spPr>
        <p:txBody>
          <a:bodyPr wrap="square" lIns="0" tIns="0" rIns="0" bIns="0" rtlCol="0" anchor="t"/>
          <a:lstStyle/>
          <a:p>
            <a:pPr marL="203200" indent="-203200">
              <a:lnSpc>
                <a:spcPts val="1600"/>
              </a:lnSpc>
              <a:spcAft>
                <a:spcPts val="700"/>
              </a:spcAft>
              <a:buSzPct val="100000"/>
              <a:buChar char="•"/>
            </a:pPr>
            <a:r>
              <a:rPr lang="en-US" sz="1200" i="1" dirty="0">
                <a:solidFill>
                  <a:srgbClr val="000000"/>
                </a:solidFill>
                <a:latin typeface="Times New Roman" pitchFamily="34" charset="0"/>
                <a:ea typeface="Times New Roman" pitchFamily="34" charset="-122"/>
                <a:cs typeface="Times New Roman" pitchFamily="34" charset="-120"/>
              </a:rPr>
              <a:t>The positive polarity advantage.</a:t>
            </a:r>
            <a:r>
              <a:rPr lang="en-US" sz="1200" dirty="0">
                <a:solidFill>
                  <a:srgbClr val="000000"/>
                </a:solidFill>
                <a:latin typeface="Times New Roman" pitchFamily="34" charset="0"/>
                <a:ea typeface="Times New Roman" pitchFamily="34" charset="-122"/>
                <a:cs typeface="Times New Roman" pitchFamily="34" charset="-120"/>
              </a:rPr>
              <a:t> Reading is better for dark text on a light field than for light text on a dark one. This is the most consistently replicated finding in the field.</a:t>
            </a:r>
            <a:endParaRPr lang="en-US" sz="1200" dirty="0"/>
          </a:p>
          <a:p>
            <a:pPr marL="203200" indent="-203200">
              <a:lnSpc>
                <a:spcPts val="1600"/>
              </a:lnSpc>
              <a:spcAft>
                <a:spcPts val="700"/>
              </a:spcAft>
              <a:buSzPct val="100000"/>
              <a:buChar char="•"/>
            </a:pPr>
            <a:r>
              <a:rPr lang="en-US" sz="1200" i="1" dirty="0">
                <a:solidFill>
                  <a:srgbClr val="000000"/>
                </a:solidFill>
                <a:latin typeface="Times New Roman" pitchFamily="34" charset="0"/>
                <a:ea typeface="Times New Roman" pitchFamily="34" charset="-122"/>
                <a:cs typeface="Times New Roman" pitchFamily="34" charset="-120"/>
              </a:rPr>
              <a:t>The accepted mechanism is pupillary, not aesthetic.</a:t>
            </a:r>
            <a:r>
              <a:rPr lang="en-US" sz="1200" dirty="0">
                <a:solidFill>
                  <a:srgbClr val="000000"/>
                </a:solidFill>
                <a:latin typeface="Times New Roman" pitchFamily="34" charset="0"/>
                <a:ea typeface="Times New Roman" pitchFamily="34" charset="-122"/>
                <a:cs typeface="Times New Roman" pitchFamily="34" charset="-120"/>
              </a:rPr>
              <a:t> A positive-polarity screen is mostly white and so emits more light; more light constricts the pupil; a smaller pupil admits light through the optically cleaner centre of the lens and widens the depth of focus; the retinal image is consequently sharper (Buchner &amp; Baumgartner, 2007; Piepenbrock </a:t>
            </a:r>
            <a:r>
              <a:rPr lang="en-US" sz="1200" i="1" dirty="0">
                <a:solidFill>
                  <a:srgbClr val="000000"/>
                </a:solidFill>
                <a:latin typeface="Times New Roman" pitchFamily="34" charset="0"/>
                <a:ea typeface="Times New Roman" pitchFamily="34" charset="-122"/>
                <a:cs typeface="Times New Roman" pitchFamily="34" charset="-120"/>
              </a:rPr>
              <a:t>et al.</a:t>
            </a:r>
            <a:r>
              <a:rPr lang="en-US" sz="1200" dirty="0">
                <a:solidFill>
                  <a:srgbClr val="000000"/>
                </a:solidFill>
                <a:latin typeface="Times New Roman" pitchFamily="34" charset="0"/>
                <a:ea typeface="Times New Roman" pitchFamily="34" charset="-122"/>
                <a:cs typeface="Times New Roman" pitchFamily="34" charset="-120"/>
              </a:rPr>
              <a:t>, 2014a, 2014b). Buchner </a:t>
            </a:r>
            <a:r>
              <a:rPr lang="en-US" sz="1200" i="1" dirty="0">
                <a:solidFill>
                  <a:srgbClr val="000000"/>
                </a:solidFill>
                <a:latin typeface="Times New Roman" pitchFamily="34" charset="0"/>
                <a:ea typeface="Times New Roman" pitchFamily="34" charset="-122"/>
                <a:cs typeface="Times New Roman" pitchFamily="34" charset="-120"/>
              </a:rPr>
              <a:t>et al.</a:t>
            </a:r>
            <a:r>
              <a:rPr lang="en-US" sz="1200" dirty="0">
                <a:solidFill>
                  <a:srgbClr val="000000"/>
                </a:solidFill>
                <a:latin typeface="Times New Roman" pitchFamily="34" charset="0"/>
                <a:ea typeface="Times New Roman" pitchFamily="34" charset="-122"/>
                <a:cs typeface="Times New Roman" pitchFamily="34" charset="-120"/>
              </a:rPr>
              <a:t> (2009) report that the advantage disappears when overall display luminance is equalised, so what is estimated is polarity together with its attendant luminance.</a:t>
            </a:r>
            <a:endParaRPr lang="en-US" sz="1200" dirty="0"/>
          </a:p>
          <a:p>
            <a:pPr marL="203200" indent="-203200">
              <a:lnSpc>
                <a:spcPts val="1600"/>
              </a:lnSpc>
              <a:spcAft>
                <a:spcPts val="700"/>
              </a:spcAft>
              <a:buSzPct val="100000"/>
              <a:buChar char="•"/>
            </a:pPr>
            <a:r>
              <a:rPr lang="en-US" sz="1200" i="1" dirty="0">
                <a:solidFill>
                  <a:srgbClr val="000000"/>
                </a:solidFill>
                <a:latin typeface="Times New Roman" pitchFamily="34" charset="0"/>
                <a:ea typeface="Times New Roman" pitchFamily="34" charset="-122"/>
                <a:cs typeface="Times New Roman" pitchFamily="34" charset="-120"/>
              </a:rPr>
              <a:t>What the corpus does not show.</a:t>
            </a:r>
            <a:r>
              <a:rPr lang="en-US" sz="1200" dirty="0">
                <a:solidFill>
                  <a:srgbClr val="000000"/>
                </a:solidFill>
                <a:latin typeface="Times New Roman" pitchFamily="34" charset="0"/>
                <a:ea typeface="Times New Roman" pitchFamily="34" charset="-122"/>
                <a:cs typeface="Times New Roman" pitchFamily="34" charset="-120"/>
              </a:rPr>
              <a:t> The paradigms are brief and threshold-limited and the stimuli almost entirely achromatic; none measures blinking, validated symptoms or fatigue accumulated over an hour. An advantage in legibility does not license an inference about visual fatigue.</a:t>
            </a:r>
            <a:endParaRPr lang="en-US" sz="1200" dirty="0"/>
          </a:p>
          <a:p>
            <a:pPr marL="203200" indent="-203200">
              <a:lnSpc>
                <a:spcPts val="1600"/>
              </a:lnSpc>
              <a:spcAft>
                <a:spcPts val="700"/>
              </a:spcAft>
              <a:buSzPct val="100000"/>
              <a:buChar char="•"/>
            </a:pPr>
            <a:r>
              <a:rPr lang="en-US" sz="1200" dirty="0">
                <a:solidFill>
                  <a:srgbClr val="000000"/>
                </a:solidFill>
                <a:latin typeface="Times New Roman" pitchFamily="34" charset="0"/>
                <a:ea typeface="Times New Roman" pitchFamily="34" charset="-122"/>
                <a:cs typeface="Times New Roman" pitchFamily="34" charset="-120"/>
              </a:rPr>
              <a:t>Sengsoon and Intaruk (2025), the most direct tablet test located, randomised thirty users between light and dark mode and found </a:t>
            </a:r>
            <a:r>
              <a:rPr lang="en-US" sz="1200" i="1" dirty="0">
                <a:solidFill>
                  <a:srgbClr val="000000"/>
                </a:solidFill>
                <a:latin typeface="Times New Roman" pitchFamily="34" charset="0"/>
                <a:ea typeface="Times New Roman" pitchFamily="34" charset="-122"/>
                <a:cs typeface="Times New Roman" pitchFamily="34" charset="-120"/>
              </a:rPr>
              <a:t>no</a:t>
            </a:r>
            <a:r>
              <a:rPr lang="en-US" sz="1200" dirty="0">
                <a:solidFill>
                  <a:srgbClr val="000000"/>
                </a:solidFill>
                <a:latin typeface="Times New Roman" pitchFamily="34" charset="0"/>
                <a:ea typeface="Times New Roman" pitchFamily="34" charset="-122"/>
                <a:cs typeface="Times New Roman" pitchFamily="34" charset="-120"/>
              </a:rPr>
              <a:t> difference in subjective visual fatigue, while critical flicker frequency and dry-eye symptoms did differ.</a:t>
            </a:r>
            <a:endParaRPr lang="en-US" sz="1200" dirty="0"/>
          </a:p>
        </p:txBody>
      </p:sp>
      <p:pic>
        <p:nvPicPr>
          <p:cNvPr id="5" name="Image 0" descr="/home/user/PhD-PWA/synopsis/figures/fig_pupil.png">    </p:cNvPr>
          <p:cNvPicPr>
            <a:picLocks noChangeAspect="1"/>
          </p:cNvPicPr>
          <p:nvPr/>
        </p:nvPicPr>
        <p:blipFill>
          <a:blip r:embed="rId1"/>
          <a:stretch>
            <a:fillRect/>
          </a:stretch>
        </p:blipFill>
        <p:spPr>
          <a:xfrm>
            <a:off x="2468880" y="3738880"/>
            <a:ext cx="8778240" cy="3372692"/>
          </a:xfrm>
          <a:prstGeom prst="rect">
            <a:avLst/>
          </a:prstGeom>
        </p:spPr>
      </p:pic>
      <p:sp>
        <p:nvSpPr>
          <p:cNvPr id="6" name="Text 3"/>
          <p:cNvSpPr txBox="1"/>
          <p:nvPr/>
        </p:nvSpPr>
        <p:spPr>
          <a:xfrm>
            <a:off x="2468880" y="7203012"/>
            <a:ext cx="8778240" cy="274320"/>
          </a:xfrm>
          <a:prstGeom prst="rect">
            <a:avLst/>
          </a:prstGeom>
          <a:noFill/>
          <a:ln/>
        </p:spPr>
        <p:txBody>
          <a:bodyPr wrap="square" lIns="0" tIns="0" rIns="0" bIns="0" rtlCol="0" anchor="ctr"/>
          <a:lstStyle/>
          <a:p>
            <a:pPr indent="0" marL="0">
              <a:buNone/>
            </a:pPr>
            <a:r>
              <a:rPr lang="en-US" sz="1100" dirty="0">
                <a:solidFill>
                  <a:srgbClr val="000000"/>
                </a:solidFill>
                <a:latin typeface="Times New Roman" pitchFamily="34" charset="0"/>
                <a:ea typeface="Times New Roman" pitchFamily="34" charset="-122"/>
                <a:cs typeface="Times New Roman" pitchFamily="34" charset="-120"/>
              </a:rPr>
              <a:t>Figure 2. The pupil-mediated account of the positive polarity advantage.</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1520" y="384048"/>
            <a:ext cx="12252960" cy="566928"/>
          </a:xfrm>
          <a:prstGeom prst="rect">
            <a:avLst/>
          </a:prstGeom>
          <a:noFill/>
          <a:ln/>
        </p:spPr>
        <p:txBody>
          <a:bodyPr wrap="square" lIns="0" tIns="0" rIns="0" bIns="0" rtlCol="0" anchor="t"/>
          <a:lstStyle/>
          <a:p>
            <a:pPr indent="0" marL="0">
              <a:buNone/>
            </a:pPr>
            <a:r>
              <a:rPr lang="en-US" sz="2400" b="1" dirty="0">
                <a:solidFill>
                  <a:srgbClr val="1F3864"/>
                </a:solidFill>
                <a:latin typeface="Times New Roman" pitchFamily="34" charset="0"/>
                <a:ea typeface="Times New Roman" pitchFamily="34" charset="-122"/>
                <a:cs typeface="Times New Roman" pitchFamily="34" charset="-120"/>
              </a:rPr>
              <a:t>2. Review of Literature — Text Colour, Contrast and Ambient Illumination</a:t>
            </a:r>
            <a:endParaRPr lang="en-US" sz="2400" dirty="0"/>
          </a:p>
        </p:txBody>
      </p:sp>
      <p:sp>
        <p:nvSpPr>
          <p:cNvPr id="3" name="Text 1"/>
          <p:cNvSpPr txBox="1"/>
          <p:nvPr/>
        </p:nvSpPr>
        <p:spPr>
          <a:xfrm>
            <a:off x="12435840" y="8229600"/>
            <a:ext cx="548640" cy="274320"/>
          </a:xfrm>
          <a:prstGeom prst="rect">
            <a:avLst/>
          </a:prstGeom>
          <a:noFill/>
          <a:ln/>
        </p:spPr>
        <p:txBody>
          <a:bodyPr wrap="square" lIns="0" tIns="0" rIns="0" bIns="0" rtlCol="0" anchor="ctr"/>
          <a:lstStyle/>
          <a:p>
            <a:pPr algn="r" indent="0" marL="0">
              <a:buNone/>
            </a:pPr>
            <a:r>
              <a:rPr lang="en-US" sz="1100" dirty="0">
                <a:solidFill>
                  <a:srgbClr val="595959"/>
                </a:solidFill>
                <a:latin typeface="Times New Roman" pitchFamily="34" charset="0"/>
                <a:ea typeface="Times New Roman" pitchFamily="34" charset="-122"/>
                <a:cs typeface="Times New Roman" pitchFamily="34" charset="-120"/>
              </a:rPr>
              <a:t>6</a:t>
            </a:r>
            <a:endParaRPr lang="en-US" sz="1100" dirty="0"/>
          </a:p>
        </p:txBody>
      </p:sp>
      <p:sp>
        <p:nvSpPr>
          <p:cNvPr id="4" name="Text 2"/>
          <p:cNvSpPr txBox="1"/>
          <p:nvPr/>
        </p:nvSpPr>
        <p:spPr>
          <a:xfrm>
            <a:off x="731520" y="1280160"/>
            <a:ext cx="5943600" cy="292608"/>
          </a:xfrm>
          <a:prstGeom prst="rect">
            <a:avLst/>
          </a:prstGeom>
          <a:noFill/>
          <a:ln/>
        </p:spPr>
        <p:txBody>
          <a:bodyPr wrap="square" lIns="0" tIns="0" rIns="0" bIns="0" rtlCol="0" anchor="ctr"/>
          <a:lstStyle/>
          <a:p>
            <a:pPr indent="0" marL="0">
              <a:buNone/>
            </a:pPr>
            <a:r>
              <a:rPr lang="en-US" sz="1600" b="1" dirty="0">
                <a:solidFill>
                  <a:srgbClr val="000000"/>
                </a:solidFill>
                <a:latin typeface="Times New Roman" pitchFamily="34" charset="0"/>
                <a:ea typeface="Times New Roman" pitchFamily="34" charset="-122"/>
                <a:cs typeface="Times New Roman" pitchFamily="34" charset="-120"/>
              </a:rPr>
              <a:t>Text colour and the contrast confound</a:t>
            </a:r>
            <a:endParaRPr lang="en-US" sz="1600" dirty="0"/>
          </a:p>
        </p:txBody>
      </p:sp>
      <p:sp>
        <p:nvSpPr>
          <p:cNvPr id="5" name="Text 3"/>
          <p:cNvSpPr txBox="1"/>
          <p:nvPr/>
        </p:nvSpPr>
        <p:spPr>
          <a:xfrm>
            <a:off x="731520" y="1664208"/>
            <a:ext cx="5943600" cy="3177540"/>
          </a:xfrm>
          <a:prstGeom prst="rect">
            <a:avLst/>
          </a:prstGeom>
          <a:noFill/>
          <a:ln/>
        </p:spPr>
        <p:txBody>
          <a:bodyPr wrap="square" lIns="0" tIns="0" rIns="0" bIns="0" rtlCol="0" anchor="t"/>
          <a:lstStyle/>
          <a:p>
            <a:pPr marL="203200" indent="-203200">
              <a:lnSpc>
                <a:spcPts val="1600"/>
              </a:lnSpc>
              <a:spcAft>
                <a:spcPts val="700"/>
              </a:spcAft>
              <a:buSzPct val="100000"/>
              <a:buChar char="•"/>
            </a:pPr>
            <a:r>
              <a:rPr lang="en-US" sz="1200" dirty="0">
                <a:solidFill>
                  <a:srgbClr val="000000"/>
                </a:solidFill>
                <a:latin typeface="Times New Roman" pitchFamily="34" charset="0"/>
                <a:ea typeface="Times New Roman" pitchFamily="34" charset="-122"/>
                <a:cs typeface="Times New Roman" pitchFamily="34" charset="-120"/>
              </a:rPr>
              <a:t>The literature manipulating text chromaticity is small, and no located study has crossed colour with polarity while measuring fatigue.</a:t>
            </a:r>
            <a:endParaRPr lang="en-US" sz="1200" dirty="0"/>
          </a:p>
          <a:p>
            <a:pPr marL="203200" indent="-203200">
              <a:lnSpc>
                <a:spcPts val="1600"/>
              </a:lnSpc>
              <a:spcAft>
                <a:spcPts val="700"/>
              </a:spcAft>
              <a:buSzPct val="100000"/>
              <a:buChar char="•"/>
            </a:pPr>
            <a:r>
              <a:rPr lang="en-US" sz="1200" dirty="0">
                <a:solidFill>
                  <a:srgbClr val="000000"/>
                </a:solidFill>
                <a:latin typeface="Times New Roman" pitchFamily="34" charset="0"/>
                <a:ea typeface="Times New Roman" pitchFamily="34" charset="-122"/>
                <a:cs typeface="Times New Roman" pitchFamily="34" charset="-120"/>
              </a:rPr>
              <a:t>Jiménez </a:t>
            </a:r>
            <a:r>
              <a:rPr lang="en-US" sz="1200" i="1" dirty="0">
                <a:solidFill>
                  <a:srgbClr val="000000"/>
                </a:solidFill>
                <a:latin typeface="Times New Roman" pitchFamily="34" charset="0"/>
                <a:ea typeface="Times New Roman" pitchFamily="34" charset="-122"/>
                <a:cs typeface="Times New Roman" pitchFamily="34" charset="-120"/>
              </a:rPr>
              <a:t>et al.</a:t>
            </a:r>
            <a:r>
              <a:rPr lang="en-US" sz="1200" dirty="0">
                <a:solidFill>
                  <a:srgbClr val="000000"/>
                </a:solidFill>
                <a:latin typeface="Times New Roman" pitchFamily="34" charset="0"/>
                <a:ea typeface="Times New Roman" pitchFamily="34" charset="-122"/>
                <a:cs typeface="Times New Roman" pitchFamily="34" charset="-120"/>
              </a:rPr>
              <a:t> (2020) tested fourteen text–background colour combinations over 2-minute passages. Colour modulated accommodative and pupillary dynamics and low-contrast pairs were rated less legible, but no symptom outcome was recorded.</a:t>
            </a:r>
            <a:endParaRPr lang="en-US" sz="1200" dirty="0"/>
          </a:p>
          <a:p>
            <a:pPr marL="203200" indent="-203200">
              <a:lnSpc>
                <a:spcPts val="1600"/>
              </a:lnSpc>
              <a:spcAft>
                <a:spcPts val="700"/>
              </a:spcAft>
              <a:buSzPct val="100000"/>
              <a:buChar char="•"/>
            </a:pPr>
            <a:r>
              <a:rPr lang="en-US" sz="1200" dirty="0">
                <a:solidFill>
                  <a:srgbClr val="000000"/>
                </a:solidFill>
                <a:latin typeface="Times New Roman" pitchFamily="34" charset="0"/>
                <a:ea typeface="Times New Roman" pitchFamily="34" charset="-122"/>
                <a:cs typeface="Times New Roman" pitchFamily="34" charset="-120"/>
              </a:rPr>
              <a:t>Fan </a:t>
            </a:r>
            <a:r>
              <a:rPr lang="en-US" sz="1200" i="1" dirty="0">
                <a:solidFill>
                  <a:srgbClr val="000000"/>
                </a:solidFill>
                <a:latin typeface="Times New Roman" pitchFamily="34" charset="0"/>
                <a:ea typeface="Times New Roman" pitchFamily="34" charset="-122"/>
                <a:cs typeface="Times New Roman" pitchFamily="34" charset="-120"/>
              </a:rPr>
              <a:t>et al.</a:t>
            </a:r>
            <a:r>
              <a:rPr lang="en-US" sz="1200" dirty="0">
                <a:solidFill>
                  <a:srgbClr val="000000"/>
                </a:solidFill>
                <a:latin typeface="Times New Roman" pitchFamily="34" charset="0"/>
                <a:ea typeface="Times New Roman" pitchFamily="34" charset="-122"/>
                <a:cs typeface="Times New Roman" pitchFamily="34" charset="-120"/>
              </a:rPr>
              <a:t> (2024) tested colour under negative polarity only, reporting red worst and yellow best. That is precisely the ordering luminance contrast alone predicts for those hues on a black background, and a single-polarity design cannot exclude that explanation.</a:t>
            </a:r>
            <a:endParaRPr lang="en-US" sz="1200" dirty="0"/>
          </a:p>
          <a:p>
            <a:pPr marL="203200" indent="-203200">
              <a:lnSpc>
                <a:spcPts val="1600"/>
              </a:lnSpc>
              <a:spcAft>
                <a:spcPts val="700"/>
              </a:spcAft>
              <a:buSzPct val="100000"/>
              <a:buChar char="•"/>
            </a:pPr>
            <a:r>
              <a:rPr lang="en-US" sz="1200" dirty="0">
                <a:solidFill>
                  <a:srgbClr val="000000"/>
                </a:solidFill>
                <a:latin typeface="Times New Roman" pitchFamily="34" charset="0"/>
                <a:ea typeface="Times New Roman" pitchFamily="34" charset="-122"/>
                <a:cs typeface="Times New Roman" pitchFamily="34" charset="-120"/>
              </a:rPr>
              <a:t>Any manipulation of text colour also manipulates luminance contrast, because chromatic pigments differ intrinsically in relative luminance; chromatic contrast cannot substitute for luminance contrast (Buchner &amp; Baumgartner, 2007).</a:t>
            </a:r>
            <a:endParaRPr lang="en-US" sz="1200" dirty="0"/>
          </a:p>
          <a:p>
            <a:pPr marL="203200" indent="-203200">
              <a:lnSpc>
                <a:spcPts val="1600"/>
              </a:lnSpc>
              <a:spcAft>
                <a:spcPts val="700"/>
              </a:spcAft>
              <a:buSzPct val="100000"/>
              <a:buChar char="•"/>
            </a:pPr>
            <a:r>
              <a:rPr lang="en-US" sz="1200" dirty="0">
                <a:solidFill>
                  <a:srgbClr val="000000"/>
                </a:solidFill>
                <a:latin typeface="Times New Roman" pitchFamily="34" charset="0"/>
                <a:ea typeface="Times New Roman" pitchFamily="34" charset="-122"/>
                <a:cs typeface="Times New Roman" pitchFamily="34" charset="-120"/>
              </a:rPr>
              <a:t>Hue and luminance contrast have therefore not been separated in the studies located.</a:t>
            </a:r>
            <a:endParaRPr lang="en-US" sz="1200" dirty="0"/>
          </a:p>
        </p:txBody>
      </p:sp>
      <p:sp>
        <p:nvSpPr>
          <p:cNvPr id="6" name="Text 4"/>
          <p:cNvSpPr txBox="1"/>
          <p:nvPr/>
        </p:nvSpPr>
        <p:spPr>
          <a:xfrm>
            <a:off x="7040880" y="1280160"/>
            <a:ext cx="5943600" cy="292608"/>
          </a:xfrm>
          <a:prstGeom prst="rect">
            <a:avLst/>
          </a:prstGeom>
          <a:noFill/>
          <a:ln/>
        </p:spPr>
        <p:txBody>
          <a:bodyPr wrap="square" lIns="0" tIns="0" rIns="0" bIns="0" rtlCol="0" anchor="ctr"/>
          <a:lstStyle/>
          <a:p>
            <a:pPr indent="0" marL="0">
              <a:buNone/>
            </a:pPr>
            <a:r>
              <a:rPr lang="en-US" sz="1600" b="1" dirty="0">
                <a:solidFill>
                  <a:srgbClr val="000000"/>
                </a:solidFill>
                <a:latin typeface="Times New Roman" pitchFamily="34" charset="0"/>
                <a:ea typeface="Times New Roman" pitchFamily="34" charset="-122"/>
                <a:cs typeface="Times New Roman" pitchFamily="34" charset="-120"/>
              </a:rPr>
              <a:t>Ambient illumination</a:t>
            </a:r>
            <a:endParaRPr lang="en-US" sz="1600" dirty="0"/>
          </a:p>
        </p:txBody>
      </p:sp>
      <p:sp>
        <p:nvSpPr>
          <p:cNvPr id="7" name="Text 5"/>
          <p:cNvSpPr txBox="1"/>
          <p:nvPr/>
        </p:nvSpPr>
        <p:spPr>
          <a:xfrm>
            <a:off x="7040880" y="1664208"/>
            <a:ext cx="5943600" cy="3990340"/>
          </a:xfrm>
          <a:prstGeom prst="rect">
            <a:avLst/>
          </a:prstGeom>
          <a:noFill/>
          <a:ln/>
        </p:spPr>
        <p:txBody>
          <a:bodyPr wrap="square" lIns="0" tIns="0" rIns="0" bIns="0" rtlCol="0" anchor="t"/>
          <a:lstStyle/>
          <a:p>
            <a:pPr marL="203200" indent="-203200">
              <a:lnSpc>
                <a:spcPts val="1600"/>
              </a:lnSpc>
              <a:spcAft>
                <a:spcPts val="700"/>
              </a:spcAft>
              <a:buSzPct val="100000"/>
              <a:buChar char="•"/>
            </a:pPr>
            <a:r>
              <a:rPr lang="en-US" sz="1200" dirty="0">
                <a:solidFill>
                  <a:srgbClr val="000000"/>
                </a:solidFill>
                <a:latin typeface="Times New Roman" pitchFamily="34" charset="0"/>
                <a:ea typeface="Times New Roman" pitchFamily="34" charset="-122"/>
                <a:cs typeface="Times New Roman" pitchFamily="34" charset="-120"/>
              </a:rPr>
              <a:t>Illumination modulates the legibility cost of negative polarity (Dobres </a:t>
            </a:r>
            <a:r>
              <a:rPr lang="en-US" sz="1200" i="1" dirty="0">
                <a:solidFill>
                  <a:srgbClr val="000000"/>
                </a:solidFill>
                <a:latin typeface="Times New Roman" pitchFamily="34" charset="0"/>
                <a:ea typeface="Times New Roman" pitchFamily="34" charset="-122"/>
                <a:cs typeface="Times New Roman" pitchFamily="34" charset="-120"/>
              </a:rPr>
              <a:t>et al.</a:t>
            </a:r>
            <a:r>
              <a:rPr lang="en-US" sz="1200" dirty="0">
                <a:solidFill>
                  <a:srgbClr val="000000"/>
                </a:solidFill>
                <a:latin typeface="Times New Roman" pitchFamily="34" charset="0"/>
                <a:ea typeface="Times New Roman" pitchFamily="34" charset="-122"/>
                <a:cs typeface="Times New Roman" pitchFamily="34" charset="-120"/>
              </a:rPr>
              <a:t>, 2017) and the fatigue cost of coloured text under it (Fan </a:t>
            </a:r>
            <a:r>
              <a:rPr lang="en-US" sz="1200" i="1" dirty="0">
                <a:solidFill>
                  <a:srgbClr val="000000"/>
                </a:solidFill>
                <a:latin typeface="Times New Roman" pitchFamily="34" charset="0"/>
                <a:ea typeface="Times New Roman" pitchFamily="34" charset="-122"/>
                <a:cs typeface="Times New Roman" pitchFamily="34" charset="-120"/>
              </a:rPr>
              <a:t>et al.</a:t>
            </a:r>
            <a:r>
              <a:rPr lang="en-US" sz="1200" dirty="0">
                <a:solidFill>
                  <a:srgbClr val="000000"/>
                </a:solidFill>
                <a:latin typeface="Times New Roman" pitchFamily="34" charset="0"/>
                <a:ea typeface="Times New Roman" pitchFamily="34" charset="-122"/>
                <a:cs typeface="Times New Roman" pitchFamily="34" charset="-120"/>
              </a:rPr>
              <a:t>, 2024), consistent with a pupil-mediated account in which room light and display polarity trade against one another.</a:t>
            </a:r>
            <a:endParaRPr lang="en-US" sz="1200" dirty="0"/>
          </a:p>
          <a:p>
            <a:pPr marL="203200" indent="-203200">
              <a:lnSpc>
                <a:spcPts val="1600"/>
              </a:lnSpc>
              <a:spcAft>
                <a:spcPts val="700"/>
              </a:spcAft>
              <a:buSzPct val="100000"/>
              <a:buChar char="•"/>
            </a:pPr>
            <a:r>
              <a:rPr lang="en-US" sz="1200" dirty="0">
                <a:solidFill>
                  <a:srgbClr val="000000"/>
                </a:solidFill>
                <a:latin typeface="Times New Roman" pitchFamily="34" charset="0"/>
                <a:ea typeface="Times New Roman" pitchFamily="34" charset="-122"/>
                <a:cs typeface="Times New Roman" pitchFamily="34" charset="-120"/>
              </a:rPr>
              <a:t>The evidence is not uniform, and the pattern of that disagreement determined the present design. The proofreading advantage was independent of ambient lighting (Buchner &amp; Baumgartner, 2007), whereas threshold legibility showed a clear interaction (Dobres </a:t>
            </a:r>
            <a:r>
              <a:rPr lang="en-US" sz="1200" i="1" dirty="0">
                <a:solidFill>
                  <a:srgbClr val="000000"/>
                </a:solidFill>
                <a:latin typeface="Times New Roman" pitchFamily="34" charset="0"/>
                <a:ea typeface="Times New Roman" pitchFamily="34" charset="-122"/>
                <a:cs typeface="Times New Roman" pitchFamily="34" charset="-120"/>
              </a:rPr>
              <a:t>et al.</a:t>
            </a:r>
            <a:r>
              <a:rPr lang="en-US" sz="1200" dirty="0">
                <a:solidFill>
                  <a:srgbClr val="000000"/>
                </a:solidFill>
                <a:latin typeface="Times New Roman" pitchFamily="34" charset="0"/>
                <a:ea typeface="Times New Roman" pitchFamily="34" charset="-122"/>
                <a:cs typeface="Times New Roman" pitchFamily="34" charset="-120"/>
              </a:rPr>
              <a:t>, 2017).</a:t>
            </a:r>
            <a:endParaRPr lang="en-US" sz="1200" dirty="0"/>
          </a:p>
          <a:p>
            <a:pPr marL="203200" indent="-203200">
              <a:lnSpc>
                <a:spcPts val="1600"/>
              </a:lnSpc>
              <a:spcAft>
                <a:spcPts val="700"/>
              </a:spcAft>
              <a:buSzPct val="100000"/>
              <a:buChar char="•"/>
            </a:pPr>
            <a:r>
              <a:rPr lang="en-US" sz="1200" dirty="0">
                <a:solidFill>
                  <a:srgbClr val="000000"/>
                </a:solidFill>
                <a:latin typeface="Times New Roman" pitchFamily="34" charset="0"/>
                <a:ea typeface="Times New Roman" pitchFamily="34" charset="-122"/>
                <a:cs typeface="Times New Roman" pitchFamily="34" charset="-120"/>
              </a:rPr>
              <a:t>That is, the performance-side effect of polarity appears not to depend on room light, while the effects that do depend on it are concentrated in the ocular and tear-film measures.</a:t>
            </a:r>
            <a:endParaRPr lang="en-US" sz="1200" dirty="0"/>
          </a:p>
          <a:p>
            <a:pPr marL="203200" indent="-203200">
              <a:lnSpc>
                <a:spcPts val="1600"/>
              </a:lnSpc>
              <a:spcAft>
                <a:spcPts val="700"/>
              </a:spcAft>
              <a:buSzPct val="100000"/>
              <a:buChar char="•"/>
            </a:pPr>
            <a:r>
              <a:rPr lang="en-US" sz="1200" dirty="0">
                <a:solidFill>
                  <a:srgbClr val="000000"/>
                </a:solidFill>
                <a:latin typeface="Times New Roman" pitchFamily="34" charset="0"/>
                <a:ea typeface="Times New Roman" pitchFamily="34" charset="-122"/>
                <a:cs typeface="Times New Roman" pitchFamily="34" charset="-120"/>
              </a:rPr>
              <a:t>Lin, M., </a:t>
            </a:r>
            <a:r>
              <a:rPr lang="en-US" sz="1200" i="1" dirty="0">
                <a:solidFill>
                  <a:srgbClr val="000000"/>
                </a:solidFill>
                <a:latin typeface="Times New Roman" pitchFamily="34" charset="0"/>
                <a:ea typeface="Times New Roman" pitchFamily="34" charset="-122"/>
                <a:cs typeface="Times New Roman" pitchFamily="34" charset="-120"/>
              </a:rPr>
              <a:t>et al.</a:t>
            </a:r>
            <a:r>
              <a:rPr lang="en-US" sz="1200" dirty="0">
                <a:solidFill>
                  <a:srgbClr val="000000"/>
                </a:solidFill>
                <a:latin typeface="Times New Roman" pitchFamily="34" charset="0"/>
                <a:ea typeface="Times New Roman" pitchFamily="34" charset="-122"/>
                <a:cs typeface="Times New Roman" pitchFamily="34" charset="-120"/>
              </a:rPr>
              <a:t> (2025) is the most directly relevant work on that second point: reading in a dark room from a bright screen produced the greatest tear-film destabilisation and the largest blink changes, with incomplete blinking rising over time in every condition.</a:t>
            </a:r>
            <a:endParaRPr lang="en-US" sz="1200" dirty="0"/>
          </a:p>
          <a:p>
            <a:pPr marL="203200" indent="-203200">
              <a:lnSpc>
                <a:spcPts val="1600"/>
              </a:lnSpc>
              <a:spcAft>
                <a:spcPts val="700"/>
              </a:spcAft>
              <a:buSzPct val="100000"/>
              <a:buChar char="•"/>
            </a:pPr>
            <a:r>
              <a:rPr lang="en-US" sz="1200" dirty="0">
                <a:solidFill>
                  <a:srgbClr val="000000"/>
                </a:solidFill>
                <a:latin typeface="Times New Roman" pitchFamily="34" charset="0"/>
                <a:ea typeface="Times New Roman" pitchFamily="34" charset="-122"/>
                <a:cs typeface="Times New Roman" pitchFamily="34" charset="-120"/>
              </a:rPr>
              <a:t>Ambient illuminance is accordingly held constant here at a single measured level rather than manipulated. The grounds are set out under Methods.</a:t>
            </a:r>
            <a:endParaRPr lang="en-US" sz="1200" dirty="0"/>
          </a:p>
        </p:txBody>
      </p:sp>
      <p:sp>
        <p:nvSpPr>
          <p:cNvPr id="8" name="Text 6"/>
          <p:cNvSpPr txBox="1"/>
          <p:nvPr/>
        </p:nvSpPr>
        <p:spPr>
          <a:xfrm>
            <a:off x="731520" y="5883148"/>
            <a:ext cx="12252960" cy="292608"/>
          </a:xfrm>
          <a:prstGeom prst="rect">
            <a:avLst/>
          </a:prstGeom>
          <a:noFill/>
          <a:ln/>
        </p:spPr>
        <p:txBody>
          <a:bodyPr wrap="square" lIns="0" tIns="0" rIns="0" bIns="0" rtlCol="0" anchor="ctr"/>
          <a:lstStyle/>
          <a:p>
            <a:pPr indent="0" marL="0">
              <a:buNone/>
            </a:pPr>
            <a:r>
              <a:rPr lang="en-US" sz="1600" b="1" dirty="0">
                <a:solidFill>
                  <a:srgbClr val="000000"/>
                </a:solidFill>
                <a:latin typeface="Times New Roman" pitchFamily="34" charset="0"/>
                <a:ea typeface="Times New Roman" pitchFamily="34" charset="-122"/>
                <a:cs typeface="Times New Roman" pitchFamily="34" charset="-120"/>
              </a:rPr>
              <a:t>Why illumination is controlled here rather than manipulated</a:t>
            </a:r>
            <a:endParaRPr lang="en-US" sz="1600" dirty="0"/>
          </a:p>
        </p:txBody>
      </p:sp>
      <p:sp>
        <p:nvSpPr>
          <p:cNvPr id="9" name="Text 7"/>
          <p:cNvSpPr txBox="1"/>
          <p:nvPr/>
        </p:nvSpPr>
        <p:spPr>
          <a:xfrm>
            <a:off x="731520" y="6267196"/>
            <a:ext cx="12252960" cy="1780540"/>
          </a:xfrm>
          <a:prstGeom prst="rect">
            <a:avLst/>
          </a:prstGeom>
          <a:noFill/>
          <a:ln/>
        </p:spPr>
        <p:txBody>
          <a:bodyPr wrap="square" lIns="0" tIns="0" rIns="0" bIns="0" rtlCol="0" anchor="t"/>
          <a:lstStyle/>
          <a:p>
            <a:pPr marL="203200" indent="-203200">
              <a:lnSpc>
                <a:spcPts val="1600"/>
              </a:lnSpc>
              <a:spcAft>
                <a:spcPts val="700"/>
              </a:spcAft>
              <a:buSzPct val="100000"/>
              <a:buChar char="•"/>
            </a:pPr>
            <a:r>
              <a:rPr lang="en-US" sz="1200" dirty="0">
                <a:solidFill>
                  <a:srgbClr val="000000"/>
                </a:solidFill>
                <a:latin typeface="Times New Roman" pitchFamily="34" charset="0"/>
                <a:ea typeface="Times New Roman" pitchFamily="34" charset="-122"/>
                <a:cs typeface="Times New Roman" pitchFamily="34" charset="-120"/>
              </a:rPr>
              <a:t>The ocular outcomes of this study are derived from the tablet’s own front camera rather than from dedicated instrumentation. In a darkened room the display is the dominant source of light falling on the reader’s face, and the two polarities differ greatly in how much light they emit: computed from the locked condition table, a positive-polarity screen casts roughly thirty times the illuminance of a negative-polarity one at the reading distance used.</a:t>
            </a:r>
            <a:endParaRPr lang="en-US" sz="1200" dirty="0"/>
          </a:p>
          <a:p>
            <a:pPr marL="203200" indent="-203200">
              <a:lnSpc>
                <a:spcPts val="1600"/>
              </a:lnSpc>
              <a:spcAft>
                <a:spcPts val="700"/>
              </a:spcAft>
              <a:buSzPct val="100000"/>
              <a:buChar char="•"/>
            </a:pPr>
            <a:r>
              <a:rPr lang="en-US" sz="1200" dirty="0">
                <a:solidFill>
                  <a:srgbClr val="000000"/>
                </a:solidFill>
                <a:latin typeface="Times New Roman" pitchFamily="34" charset="0"/>
                <a:ea typeface="Times New Roman" pitchFamily="34" charset="-122"/>
                <a:cs typeface="Times New Roman" pitchFamily="34" charset="-120"/>
              </a:rPr>
              <a:t>Against a 10 lux room that leaves the face lit about 2.3 times more brightly in positive than in negative polarity; against a 300 lux room the ratio falls to about 1.05. Camera exposure, and with it the achieved frame rate on which blink classification depends, would therefore have varied systematically with the primary independent variable.</a:t>
            </a:r>
            <a:endParaRPr lang="en-US" sz="1200" dirty="0"/>
          </a:p>
          <a:p>
            <a:pPr marL="203200" indent="-203200">
              <a:lnSpc>
                <a:spcPts val="1600"/>
              </a:lnSpc>
              <a:spcAft>
                <a:spcPts val="700"/>
              </a:spcAft>
              <a:buSzPct val="100000"/>
              <a:buChar char="•"/>
            </a:pPr>
            <a:r>
              <a:rPr lang="en-US" sz="1200" dirty="0">
                <a:solidFill>
                  <a:srgbClr val="000000"/>
                </a:solidFill>
                <a:latin typeface="Times New Roman" pitchFamily="34" charset="0"/>
                <a:ea typeface="Times New Roman" pitchFamily="34" charset="-122"/>
                <a:cs typeface="Times New Roman" pitchFamily="34" charset="-120"/>
              </a:rPr>
              <a:t>Undersampling biases the measured minimum eyelid aperture upward, inflating the incomplete-blink ratio in the direction the hypothesis predicts — and an artefact of that shape is indistinguishable from the effect it imitates. A narrower question answered with a trustworthy instrument was therefore preferred; what that forfeits is stated in the synopsis.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1520" y="384048"/>
            <a:ext cx="12252960" cy="566928"/>
          </a:xfrm>
          <a:prstGeom prst="rect">
            <a:avLst/>
          </a:prstGeom>
          <a:noFill/>
          <a:ln/>
        </p:spPr>
        <p:txBody>
          <a:bodyPr wrap="square" lIns="0" tIns="0" rIns="0" bIns="0" rtlCol="0" anchor="t"/>
          <a:lstStyle/>
          <a:p>
            <a:pPr indent="0" marL="0">
              <a:buNone/>
            </a:pPr>
            <a:r>
              <a:rPr lang="en-US" sz="2400" b="1" dirty="0">
                <a:solidFill>
                  <a:srgbClr val="1F3864"/>
                </a:solidFill>
                <a:latin typeface="Times New Roman" pitchFamily="34" charset="0"/>
                <a:ea typeface="Times New Roman" pitchFamily="34" charset="-122"/>
                <a:cs typeface="Times New Roman" pitchFamily="34" charset="-120"/>
              </a:rPr>
              <a:t>2. Review of Literature — Research Gaps</a:t>
            </a:r>
            <a:endParaRPr lang="en-US" sz="2400" dirty="0"/>
          </a:p>
        </p:txBody>
      </p:sp>
      <p:sp>
        <p:nvSpPr>
          <p:cNvPr id="3" name="Text 1"/>
          <p:cNvSpPr txBox="1"/>
          <p:nvPr/>
        </p:nvSpPr>
        <p:spPr>
          <a:xfrm>
            <a:off x="12435840" y="8229600"/>
            <a:ext cx="548640" cy="274320"/>
          </a:xfrm>
          <a:prstGeom prst="rect">
            <a:avLst/>
          </a:prstGeom>
          <a:noFill/>
          <a:ln/>
        </p:spPr>
        <p:txBody>
          <a:bodyPr wrap="square" lIns="0" tIns="0" rIns="0" bIns="0" rtlCol="0" anchor="ctr"/>
          <a:lstStyle/>
          <a:p>
            <a:pPr algn="r" indent="0" marL="0">
              <a:buNone/>
            </a:pPr>
            <a:r>
              <a:rPr lang="en-US" sz="1100" dirty="0">
                <a:solidFill>
                  <a:srgbClr val="595959"/>
                </a:solidFill>
                <a:latin typeface="Times New Roman" pitchFamily="34" charset="0"/>
                <a:ea typeface="Times New Roman" pitchFamily="34" charset="-122"/>
                <a:cs typeface="Times New Roman" pitchFamily="34" charset="-120"/>
              </a:rPr>
              <a:t>7</a:t>
            </a:r>
            <a:endParaRPr lang="en-US" sz="1100" dirty="0"/>
          </a:p>
        </p:txBody>
      </p:sp>
      <p:sp>
        <p:nvSpPr>
          <p:cNvPr id="4" name="Text 2"/>
          <p:cNvSpPr txBox="1"/>
          <p:nvPr/>
        </p:nvSpPr>
        <p:spPr>
          <a:xfrm>
            <a:off x="731520" y="1280160"/>
            <a:ext cx="12252960" cy="2161540"/>
          </a:xfrm>
          <a:prstGeom prst="rect">
            <a:avLst/>
          </a:prstGeom>
          <a:noFill/>
          <a:ln/>
        </p:spPr>
        <p:txBody>
          <a:bodyPr wrap="square" lIns="0" tIns="0" rIns="0" bIns="0" rtlCol="0" anchor="t"/>
          <a:lstStyle/>
          <a:p>
            <a:pPr marL="203200" indent="-203200">
              <a:lnSpc>
                <a:spcPts val="1600"/>
              </a:lnSpc>
              <a:spcAft>
                <a:spcPts val="700"/>
              </a:spcAft>
              <a:buSzPct val="100000"/>
              <a:buChar char="•"/>
            </a:pPr>
            <a:r>
              <a:rPr lang="en-US" sz="1200" dirty="0">
                <a:solidFill>
                  <a:srgbClr val="000000"/>
                </a:solidFill>
                <a:latin typeface="Times New Roman" pitchFamily="34" charset="0"/>
                <a:ea typeface="Times New Roman" pitchFamily="34" charset="-122"/>
                <a:cs typeface="Times New Roman" pitchFamily="34" charset="-120"/>
              </a:rPr>
              <a:t>The positive polarity advantage is established for brief, achromatic legibility tasks, but is untested for prolonged reading with fatigue accumulation and ocular-surface outcomes.</a:t>
            </a:r>
            <a:endParaRPr lang="en-US" sz="1200" dirty="0"/>
          </a:p>
          <a:p>
            <a:pPr marL="203200" indent="-203200">
              <a:lnSpc>
                <a:spcPts val="1600"/>
              </a:lnSpc>
              <a:spcAft>
                <a:spcPts val="700"/>
              </a:spcAft>
              <a:buSzPct val="100000"/>
              <a:buChar char="•"/>
            </a:pPr>
            <a:r>
              <a:rPr lang="en-US" sz="1200" dirty="0">
                <a:solidFill>
                  <a:srgbClr val="000000"/>
                </a:solidFill>
                <a:latin typeface="Times New Roman" pitchFamily="34" charset="0"/>
                <a:ea typeface="Times New Roman" pitchFamily="34" charset="-122"/>
                <a:cs typeface="Times New Roman" pitchFamily="34" charset="-120"/>
              </a:rPr>
              <a:t>The interaction between polarity and text colour on visual fatigue appears unestimated: the only located text-colour fatigue study held polarity constant (Fan </a:t>
            </a:r>
            <a:r>
              <a:rPr lang="en-US" sz="1200" i="1" dirty="0">
                <a:solidFill>
                  <a:srgbClr val="000000"/>
                </a:solidFill>
                <a:latin typeface="Times New Roman" pitchFamily="34" charset="0"/>
                <a:ea typeface="Times New Roman" pitchFamily="34" charset="-122"/>
                <a:cs typeface="Times New Roman" pitchFamily="34" charset="-120"/>
              </a:rPr>
              <a:t>et al.</a:t>
            </a:r>
            <a:r>
              <a:rPr lang="en-US" sz="1200" dirty="0">
                <a:solidFill>
                  <a:srgbClr val="000000"/>
                </a:solidFill>
                <a:latin typeface="Times New Roman" pitchFamily="34" charset="0"/>
                <a:ea typeface="Times New Roman" pitchFamily="34" charset="-122"/>
                <a:cs typeface="Times New Roman" pitchFamily="34" charset="-120"/>
              </a:rPr>
              <a:t>, 2024), and hue has not been separated from luminance contrast in the studies located.</a:t>
            </a:r>
            <a:endParaRPr lang="en-US" sz="1200" dirty="0"/>
          </a:p>
          <a:p>
            <a:pPr marL="203200" indent="-203200">
              <a:lnSpc>
                <a:spcPts val="1600"/>
              </a:lnSpc>
              <a:spcAft>
                <a:spcPts val="700"/>
              </a:spcAft>
              <a:buSzPct val="100000"/>
              <a:buChar char="•"/>
            </a:pPr>
            <a:r>
              <a:rPr lang="en-US" sz="1200" dirty="0">
                <a:solidFill>
                  <a:srgbClr val="000000"/>
                </a:solidFill>
                <a:latin typeface="Times New Roman" pitchFamily="34" charset="0"/>
                <a:ea typeface="Times New Roman" pitchFamily="34" charset="-122"/>
                <a:cs typeface="Times New Roman" pitchFamily="34" charset="-120"/>
              </a:rPr>
              <a:t>No located study reports contrast metrics alongside measured display photometry, and the prevailing accessibility standard is polarity-blind (World Wide Web Consortium, 2023).</a:t>
            </a:r>
            <a:endParaRPr lang="en-US" sz="1200" dirty="0"/>
          </a:p>
          <a:p>
            <a:pPr marL="203200" indent="-203200">
              <a:lnSpc>
                <a:spcPts val="1600"/>
              </a:lnSpc>
              <a:spcAft>
                <a:spcPts val="700"/>
              </a:spcAft>
              <a:buSzPct val="100000"/>
              <a:buChar char="•"/>
            </a:pPr>
            <a:r>
              <a:rPr lang="en-US" sz="1200" dirty="0">
                <a:solidFill>
                  <a:srgbClr val="000000"/>
                </a:solidFill>
                <a:latin typeface="Times New Roman" pitchFamily="34" charset="0"/>
                <a:ea typeface="Times New Roman" pitchFamily="34" charset="-122"/>
                <a:cs typeface="Times New Roman" pitchFamily="34" charset="-120"/>
              </a:rPr>
              <a:t>Few studies co-register a validated symptom instrument with objective markers in the same condition, leaving the subjective–objective discrepancy unresolved (Sheppard &amp; Wolffsohn, 2018).</a:t>
            </a:r>
            <a:endParaRPr lang="en-US" sz="1200" dirty="0"/>
          </a:p>
          <a:p>
            <a:pPr marL="203200" indent="-203200">
              <a:lnSpc>
                <a:spcPts val="1600"/>
              </a:lnSpc>
              <a:spcAft>
                <a:spcPts val="700"/>
              </a:spcAft>
              <a:buSzPct val="100000"/>
              <a:buChar char="•"/>
            </a:pPr>
            <a:r>
              <a:rPr lang="en-US" sz="1200" dirty="0">
                <a:solidFill>
                  <a:srgbClr val="000000"/>
                </a:solidFill>
                <a:latin typeface="Times New Roman" pitchFamily="34" charset="0"/>
                <a:ea typeface="Times New Roman" pitchFamily="34" charset="-122"/>
                <a:cs typeface="Times New Roman" pitchFamily="34" charset="-120"/>
              </a:rPr>
              <a:t>The incomplete-blink ratio does not appear to have been tested as an outcome of a display manipulation, despite its specificity — and no automated implementation located has been validated against manual annotation, so the measure does not scale.</a:t>
            </a:r>
            <a:endParaRPr lang="en-US" sz="1200" dirty="0"/>
          </a:p>
        </p:txBody>
      </p:sp>
      <p:sp>
        <p:nvSpPr>
          <p:cNvPr id="5" name="Text 3"/>
          <p:cNvSpPr txBox="1"/>
          <p:nvPr/>
        </p:nvSpPr>
        <p:spPr>
          <a:xfrm>
            <a:off x="731520" y="3624580"/>
            <a:ext cx="12252960" cy="274320"/>
          </a:xfrm>
          <a:prstGeom prst="rect">
            <a:avLst/>
          </a:prstGeom>
          <a:noFill/>
          <a:ln/>
        </p:spPr>
        <p:txBody>
          <a:bodyPr wrap="square" lIns="0" tIns="0" rIns="0" bIns="0" rtlCol="0" anchor="ctr"/>
          <a:lstStyle/>
          <a:p>
            <a:pPr indent="0" marL="0">
              <a:buNone/>
            </a:pPr>
            <a:r>
              <a:rPr lang="en-US" sz="1100" dirty="0">
                <a:solidFill>
                  <a:srgbClr val="000000"/>
                </a:solidFill>
                <a:latin typeface="Times New Roman" pitchFamily="34" charset="0"/>
                <a:ea typeface="Times New Roman" pitchFamily="34" charset="-122"/>
                <a:cs typeface="Times New Roman" pitchFamily="34" charset="-120"/>
              </a:rPr>
              <a:t>Table 3.2 — The proposed design against the published studies from which its measures are drawn.</a:t>
            </a:r>
            <a:endParaRPr lang="en-US" sz="11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731520" y="3917188"/>
          <a:ext cx="12252960" cy="914400"/>
        </p:xfrm>
        <a:graphic>
          <a:graphicData uri="http://schemas.openxmlformats.org/drawingml/2006/table">
            <a:tbl>
              <a:tblPr/>
              <a:tblGrid>
                <a:gridCol w="1600200"/>
                <a:gridCol w="640080"/>
                <a:gridCol w="548640"/>
                <a:gridCol w="1554480"/>
                <a:gridCol w="1371600"/>
                <a:gridCol w="3063240"/>
                <a:gridCol w="3474720"/>
              </a:tblGrid>
              <a:tr h="301752">
                <a:tc>
                  <a:txBody>
                    <a:bodyPr/>
                    <a:lstStyle/>
                    <a:p>
                      <a:pPr algn="l" indent="0" marL="0">
                        <a:buNone/>
                      </a:pPr>
                      <a:r>
                        <a:rPr lang="en-US" sz="1100" b="1" dirty="0">
                          <a:solidFill>
                            <a:srgbClr val="000000"/>
                          </a:solidFill>
                          <a:latin typeface="Times New Roman" pitchFamily="34" charset="0"/>
                          <a:ea typeface="Times New Roman" pitchFamily="34" charset="-122"/>
                          <a:cs typeface="Times New Roman" pitchFamily="34" charset="-120"/>
                        </a:rPr>
                        <a:t>Study</a:t>
                      </a:r>
                      <a:endParaRPr lang="en-US" sz="1100" dirty="0">
                        <a:latin typeface="Times New Roman" charset="0"/>
                        <a:ea typeface="Times New Roman" charset="0"/>
                        <a:cs typeface="Times New Roman" charset="0"/>
                      </a:endParaRPr>
                    </a:p>
                  </a:txBody>
                  <a:tcPr marL="45720" marR="45720" marT="45720" marB="4572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E8E8E8"/>
                    </a:solidFill>
                  </a:tcPr>
                </a:tc>
                <a:tc>
                  <a:txBody>
                    <a:bodyPr/>
                    <a:lstStyle/>
                    <a:p>
                      <a:pPr algn="l" indent="0" marL="0">
                        <a:buNone/>
                      </a:pPr>
                      <a:r>
                        <a:rPr lang="en-US" sz="1100" b="1" dirty="0">
                          <a:solidFill>
                            <a:srgbClr val="000000"/>
                          </a:solidFill>
                          <a:latin typeface="Times New Roman" pitchFamily="34" charset="0"/>
                          <a:ea typeface="Times New Roman" pitchFamily="34" charset="-122"/>
                          <a:cs typeface="Times New Roman" pitchFamily="34" charset="-120"/>
                        </a:rPr>
                        <a:t>Year</a:t>
                      </a:r>
                      <a:endParaRPr lang="en-US" sz="1100" dirty="0">
                        <a:latin typeface="Times New Roman" charset="0"/>
                        <a:ea typeface="Times New Roman" charset="0"/>
                        <a:cs typeface="Times New Roman" charset="0"/>
                      </a:endParaRPr>
                    </a:p>
                  </a:txBody>
                  <a:tcPr marL="45720" marR="45720" marT="45720" marB="4572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E8E8E8"/>
                    </a:solidFill>
                  </a:tcPr>
                </a:tc>
                <a:tc>
                  <a:txBody>
                    <a:bodyPr/>
                    <a:lstStyle/>
                    <a:p>
                      <a:pPr algn="l" indent="0" marL="0">
                        <a:buNone/>
                      </a:pPr>
                      <a:r>
                        <a:rPr lang="en-US" sz="1100" b="1" dirty="0">
                          <a:solidFill>
                            <a:srgbClr val="000000"/>
                          </a:solidFill>
                          <a:latin typeface="Times New Roman" pitchFamily="34" charset="0"/>
                          <a:ea typeface="Times New Roman" pitchFamily="34" charset="-122"/>
                          <a:cs typeface="Times New Roman" pitchFamily="34" charset="-120"/>
                        </a:rPr>
                        <a:t>N</a:t>
                      </a:r>
                      <a:endParaRPr lang="en-US" sz="1100" dirty="0">
                        <a:latin typeface="Times New Roman" charset="0"/>
                        <a:ea typeface="Times New Roman" charset="0"/>
                        <a:cs typeface="Times New Roman" charset="0"/>
                      </a:endParaRPr>
                    </a:p>
                  </a:txBody>
                  <a:tcPr marL="45720" marR="45720" marT="45720" marB="4572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E8E8E8"/>
                    </a:solidFill>
                  </a:tcPr>
                </a:tc>
                <a:tc>
                  <a:txBody>
                    <a:bodyPr/>
                    <a:lstStyle/>
                    <a:p>
                      <a:pPr algn="l" indent="0" marL="0">
                        <a:buNone/>
                      </a:pPr>
                      <a:r>
                        <a:rPr lang="en-US" sz="1100" b="1" dirty="0">
                          <a:solidFill>
                            <a:srgbClr val="000000"/>
                          </a:solidFill>
                          <a:latin typeface="Times New Roman" pitchFamily="34" charset="0"/>
                          <a:ea typeface="Times New Roman" pitchFamily="34" charset="-122"/>
                          <a:cs typeface="Times New Roman" pitchFamily="34" charset="-120"/>
                        </a:rPr>
                        <a:t>Conditions per participant</a:t>
                      </a:r>
                      <a:endParaRPr lang="en-US" sz="1100" dirty="0">
                        <a:latin typeface="Times New Roman" charset="0"/>
                        <a:ea typeface="Times New Roman" charset="0"/>
                        <a:cs typeface="Times New Roman" charset="0"/>
                      </a:endParaRPr>
                    </a:p>
                  </a:txBody>
                  <a:tcPr marL="45720" marR="45720" marT="45720" marB="4572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E8E8E8"/>
                    </a:solidFill>
                  </a:tcPr>
                </a:tc>
                <a:tc>
                  <a:txBody>
                    <a:bodyPr/>
                    <a:lstStyle/>
                    <a:p>
                      <a:pPr algn="l" indent="0" marL="0">
                        <a:buNone/>
                      </a:pPr>
                      <a:r>
                        <a:rPr lang="en-US" sz="1100" b="1" dirty="0">
                          <a:solidFill>
                            <a:srgbClr val="000000"/>
                          </a:solidFill>
                          <a:latin typeface="Times New Roman" pitchFamily="34" charset="0"/>
                          <a:ea typeface="Times New Roman" pitchFamily="34" charset="-122"/>
                          <a:cs typeface="Times New Roman" pitchFamily="34" charset="-120"/>
                        </a:rPr>
                        <a:t>Total condition-runs</a:t>
                      </a:r>
                      <a:endParaRPr lang="en-US" sz="1100" dirty="0">
                        <a:latin typeface="Times New Roman" charset="0"/>
                        <a:ea typeface="Times New Roman" charset="0"/>
                        <a:cs typeface="Times New Roman" charset="0"/>
                      </a:endParaRPr>
                    </a:p>
                  </a:txBody>
                  <a:tcPr marL="45720" marR="45720" marT="45720" marB="4572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E8E8E8"/>
                    </a:solidFill>
                  </a:tcPr>
                </a:tc>
                <a:tc>
                  <a:txBody>
                    <a:bodyPr/>
                    <a:lstStyle/>
                    <a:p>
                      <a:pPr algn="l" indent="0" marL="0">
                        <a:buNone/>
                      </a:pPr>
                      <a:r>
                        <a:rPr lang="en-US" sz="1100" b="1" dirty="0">
                          <a:solidFill>
                            <a:srgbClr val="000000"/>
                          </a:solidFill>
                          <a:latin typeface="Times New Roman" pitchFamily="34" charset="0"/>
                          <a:ea typeface="Times New Roman" pitchFamily="34" charset="-122"/>
                          <a:cs typeface="Times New Roman" pitchFamily="34" charset="-120"/>
                        </a:rPr>
                        <a:t>Ocular measure</a:t>
                      </a:r>
                      <a:endParaRPr lang="en-US" sz="1100" dirty="0">
                        <a:latin typeface="Times New Roman" charset="0"/>
                        <a:ea typeface="Times New Roman" charset="0"/>
                        <a:cs typeface="Times New Roman" charset="0"/>
                      </a:endParaRPr>
                    </a:p>
                  </a:txBody>
                  <a:tcPr marL="45720" marR="45720" marT="45720" marB="4572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E8E8E8"/>
                    </a:solidFill>
                  </a:tcPr>
                </a:tc>
                <a:tc>
                  <a:txBody>
                    <a:bodyPr/>
                    <a:lstStyle/>
                    <a:p>
                      <a:pPr algn="l" indent="0" marL="0">
                        <a:buNone/>
                      </a:pPr>
                      <a:r>
                        <a:rPr lang="en-US" sz="1100" b="1" dirty="0">
                          <a:solidFill>
                            <a:srgbClr val="000000"/>
                          </a:solidFill>
                          <a:latin typeface="Times New Roman" pitchFamily="34" charset="0"/>
                          <a:ea typeface="Times New Roman" pitchFamily="34" charset="-122"/>
                          <a:cs typeface="Times New Roman" pitchFamily="34" charset="-120"/>
                        </a:rPr>
                        <a:t>Display parameter manipulated</a:t>
                      </a:r>
                      <a:endParaRPr lang="en-US" sz="1100" dirty="0">
                        <a:latin typeface="Times New Roman" charset="0"/>
                        <a:ea typeface="Times New Roman" charset="0"/>
                        <a:cs typeface="Times New Roman" charset="0"/>
                      </a:endParaRPr>
                    </a:p>
                  </a:txBody>
                  <a:tcPr marL="45720" marR="45720" marT="45720" marB="4572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E8E8E8"/>
                    </a:solidFill>
                  </a:tcPr>
                </a:tc>
              </a:tr>
              <a:tr h="301752">
                <a:tc>
                  <a:txBody>
                    <a:bodyPr/>
                    <a:lstStyle/>
                    <a:p>
                      <a:pPr algn="l" indent="0" marL="0">
                        <a:buNone/>
                      </a:pPr>
                      <a:r>
                        <a:rPr lang="en-US" sz="1100" dirty="0">
                          <a:solidFill>
                            <a:srgbClr val="000000"/>
                          </a:solidFill>
                          <a:latin typeface="Times New Roman" pitchFamily="34" charset="0"/>
                          <a:ea typeface="Times New Roman" pitchFamily="34" charset="-122"/>
                          <a:cs typeface="Times New Roman" pitchFamily="34" charset="-120"/>
                        </a:rPr>
                        <a:t>Hirota </a:t>
                      </a:r>
                      <a:r>
                        <a:rPr lang="en-US" sz="1100" i="1" dirty="0">
                          <a:solidFill>
                            <a:srgbClr val="000000"/>
                          </a:solidFill>
                          <a:latin typeface="Times New Roman" pitchFamily="34" charset="0"/>
                          <a:ea typeface="Times New Roman" pitchFamily="34" charset="-122"/>
                          <a:cs typeface="Times New Roman" pitchFamily="34" charset="-120"/>
                        </a:rPr>
                        <a:t>et al.</a:t>
                      </a:r>
                      <a:endParaRPr lang="en-US" sz="1100" dirty="0">
                        <a:latin typeface="Times New Roman" charset="0"/>
                        <a:ea typeface="Times New Roman" charset="0"/>
                        <a:cs typeface="Times New Roman" charset="0"/>
                      </a:endParaRPr>
                    </a:p>
                  </a:txBody>
                  <a:tcPr marL="45720" marR="45720" marT="45720" marB="4572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00000"/>
                          </a:solidFill>
                          <a:latin typeface="Times New Roman" pitchFamily="34" charset="0"/>
                          <a:ea typeface="Times New Roman" pitchFamily="34" charset="-122"/>
                          <a:cs typeface="Times New Roman" pitchFamily="34" charset="-120"/>
                        </a:rPr>
                        <a:t>2013</a:t>
                      </a:r>
                      <a:endParaRPr lang="en-US" sz="1100" dirty="0">
                        <a:latin typeface="Times New Roman" charset="0"/>
                        <a:ea typeface="Times New Roman" charset="0"/>
                        <a:cs typeface="Times New Roman" charset="0"/>
                      </a:endParaRPr>
                    </a:p>
                  </a:txBody>
                  <a:tcPr marL="45720" marR="45720" marT="45720" marB="4572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00000"/>
                          </a:solidFill>
                          <a:latin typeface="Times New Roman" pitchFamily="34" charset="0"/>
                          <a:ea typeface="Times New Roman" pitchFamily="34" charset="-122"/>
                          <a:cs typeface="Times New Roman" pitchFamily="34" charset="-120"/>
                        </a:rPr>
                        <a:t>11</a:t>
                      </a:r>
                      <a:endParaRPr lang="en-US" sz="1100" dirty="0">
                        <a:latin typeface="Times New Roman" charset="0"/>
                        <a:ea typeface="Times New Roman" charset="0"/>
                        <a:cs typeface="Times New Roman" charset="0"/>
                      </a:endParaRPr>
                    </a:p>
                  </a:txBody>
                  <a:tcPr marL="45720" marR="45720" marT="45720" marB="4572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00000"/>
                          </a:solidFill>
                          <a:latin typeface="Times New Roman" pitchFamily="34" charset="0"/>
                          <a:ea typeface="Times New Roman" pitchFamily="34" charset="-122"/>
                          <a:cs typeface="Times New Roman" pitchFamily="34" charset="-120"/>
                        </a:rPr>
                        <a:t>1</a:t>
                      </a:r>
                      <a:endParaRPr lang="en-US" sz="1100" dirty="0">
                        <a:latin typeface="Times New Roman" charset="0"/>
                        <a:ea typeface="Times New Roman" charset="0"/>
                        <a:cs typeface="Times New Roman" charset="0"/>
                      </a:endParaRPr>
                    </a:p>
                  </a:txBody>
                  <a:tcPr marL="45720" marR="45720" marT="45720" marB="4572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00000"/>
                          </a:solidFill>
                          <a:latin typeface="Times New Roman" pitchFamily="34" charset="0"/>
                          <a:ea typeface="Times New Roman" pitchFamily="34" charset="-122"/>
                          <a:cs typeface="Times New Roman" pitchFamily="34" charset="-120"/>
                        </a:rPr>
                        <a:t>11</a:t>
                      </a:r>
                      <a:endParaRPr lang="en-US" sz="1100" dirty="0">
                        <a:latin typeface="Times New Roman" charset="0"/>
                        <a:ea typeface="Times New Roman" charset="0"/>
                        <a:cs typeface="Times New Roman" charset="0"/>
                      </a:endParaRPr>
                    </a:p>
                  </a:txBody>
                  <a:tcPr marL="45720" marR="45720" marT="45720" marB="4572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00000"/>
                          </a:solidFill>
                          <a:latin typeface="Times New Roman" pitchFamily="34" charset="0"/>
                          <a:ea typeface="Times New Roman" pitchFamily="34" charset="-122"/>
                          <a:cs typeface="Times New Roman" pitchFamily="34" charset="-120"/>
                        </a:rPr>
                        <a:t>Blink composition, tear break-up</a:t>
                      </a:r>
                      <a:endParaRPr lang="en-US" sz="1100" dirty="0">
                        <a:latin typeface="Times New Roman" charset="0"/>
                        <a:ea typeface="Times New Roman" charset="0"/>
                        <a:cs typeface="Times New Roman" charset="0"/>
                      </a:endParaRPr>
                    </a:p>
                  </a:txBody>
                  <a:tcPr marL="45720" marR="45720" marT="45720" marB="4572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00000"/>
                          </a:solidFill>
                          <a:latin typeface="Times New Roman" pitchFamily="34" charset="0"/>
                          <a:ea typeface="Times New Roman" pitchFamily="34" charset="-122"/>
                          <a:cs typeface="Times New Roman" pitchFamily="34" charset="-120"/>
                        </a:rPr>
                        <a:t>None</a:t>
                      </a:r>
                      <a:endParaRPr lang="en-US" sz="1100" dirty="0">
                        <a:latin typeface="Times New Roman" charset="0"/>
                        <a:ea typeface="Times New Roman" charset="0"/>
                        <a:cs typeface="Times New Roman" charset="0"/>
                      </a:endParaRPr>
                    </a:p>
                  </a:txBody>
                  <a:tcPr marL="45720" marR="45720" marT="45720" marB="4572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r>
              <a:tr h="301752">
                <a:tc>
                  <a:txBody>
                    <a:bodyPr/>
                    <a:lstStyle/>
                    <a:p>
                      <a:pPr algn="l" indent="0" marL="0">
                        <a:buNone/>
                      </a:pPr>
                      <a:r>
                        <a:rPr lang="en-US" sz="1100" dirty="0">
                          <a:solidFill>
                            <a:srgbClr val="000000"/>
                          </a:solidFill>
                          <a:latin typeface="Times New Roman" pitchFamily="34" charset="0"/>
                          <a:ea typeface="Times New Roman" pitchFamily="34" charset="-122"/>
                          <a:cs typeface="Times New Roman" pitchFamily="34" charset="-120"/>
                        </a:rPr>
                        <a:t>Jackson </a:t>
                      </a:r>
                      <a:r>
                        <a:rPr lang="en-US" sz="1100" i="1" dirty="0">
                          <a:solidFill>
                            <a:srgbClr val="000000"/>
                          </a:solidFill>
                          <a:latin typeface="Times New Roman" pitchFamily="34" charset="0"/>
                          <a:ea typeface="Times New Roman" pitchFamily="34" charset="-122"/>
                          <a:cs typeface="Times New Roman" pitchFamily="34" charset="-120"/>
                        </a:rPr>
                        <a:t>et al.</a:t>
                      </a:r>
                      <a:endParaRPr lang="en-US" sz="1100" dirty="0">
                        <a:latin typeface="Times New Roman" charset="0"/>
                        <a:ea typeface="Times New Roman" charset="0"/>
                        <a:cs typeface="Times New Roman" charset="0"/>
                      </a:endParaRPr>
                    </a:p>
                  </a:txBody>
                  <a:tcPr marL="45720" marR="45720" marT="45720" marB="4572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00000"/>
                          </a:solidFill>
                          <a:latin typeface="Times New Roman" pitchFamily="34" charset="0"/>
                          <a:ea typeface="Times New Roman" pitchFamily="34" charset="-122"/>
                          <a:cs typeface="Times New Roman" pitchFamily="34" charset="-120"/>
                        </a:rPr>
                        <a:t>2016</a:t>
                      </a:r>
                      <a:endParaRPr lang="en-US" sz="1100" dirty="0">
                        <a:latin typeface="Times New Roman" charset="0"/>
                        <a:ea typeface="Times New Roman" charset="0"/>
                        <a:cs typeface="Times New Roman" charset="0"/>
                      </a:endParaRPr>
                    </a:p>
                  </a:txBody>
                  <a:tcPr marL="45720" marR="45720" marT="45720" marB="4572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00000"/>
                          </a:solidFill>
                          <a:latin typeface="Times New Roman" pitchFamily="34" charset="0"/>
                          <a:ea typeface="Times New Roman" pitchFamily="34" charset="-122"/>
                          <a:cs typeface="Times New Roman" pitchFamily="34" charset="-120"/>
                        </a:rPr>
                        <a:t>12</a:t>
                      </a:r>
                      <a:endParaRPr lang="en-US" sz="1100" dirty="0">
                        <a:latin typeface="Times New Roman" charset="0"/>
                        <a:ea typeface="Times New Roman" charset="0"/>
                        <a:cs typeface="Times New Roman" charset="0"/>
                      </a:endParaRPr>
                    </a:p>
                  </a:txBody>
                  <a:tcPr marL="45720" marR="45720" marT="45720" marB="4572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00000"/>
                          </a:solidFill>
                          <a:latin typeface="Times New Roman" pitchFamily="34" charset="0"/>
                          <a:ea typeface="Times New Roman" pitchFamily="34" charset="-122"/>
                          <a:cs typeface="Times New Roman" pitchFamily="34" charset="-120"/>
                        </a:rPr>
                        <a:t>2</a:t>
                      </a:r>
                      <a:endParaRPr lang="en-US" sz="1100" dirty="0">
                        <a:latin typeface="Times New Roman" charset="0"/>
                        <a:ea typeface="Times New Roman" charset="0"/>
                        <a:cs typeface="Times New Roman" charset="0"/>
                      </a:endParaRPr>
                    </a:p>
                  </a:txBody>
                  <a:tcPr marL="45720" marR="45720" marT="45720" marB="4572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00000"/>
                          </a:solidFill>
                          <a:latin typeface="Times New Roman" pitchFamily="34" charset="0"/>
                          <a:ea typeface="Times New Roman" pitchFamily="34" charset="-122"/>
                          <a:cs typeface="Times New Roman" pitchFamily="34" charset="-120"/>
                        </a:rPr>
                        <a:t>24</a:t>
                      </a:r>
                      <a:endParaRPr lang="en-US" sz="1100" dirty="0">
                        <a:latin typeface="Times New Roman" charset="0"/>
                        <a:ea typeface="Times New Roman" charset="0"/>
                        <a:cs typeface="Times New Roman" charset="0"/>
                      </a:endParaRPr>
                    </a:p>
                  </a:txBody>
                  <a:tcPr marL="45720" marR="45720" marT="45720" marB="4572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00000"/>
                          </a:solidFill>
                          <a:latin typeface="Times New Roman" pitchFamily="34" charset="0"/>
                          <a:ea typeface="Times New Roman" pitchFamily="34" charset="-122"/>
                          <a:cs typeface="Times New Roman" pitchFamily="34" charset="-120"/>
                        </a:rPr>
                        <a:t>PERCLOS</a:t>
                      </a:r>
                      <a:endParaRPr lang="en-US" sz="1100" dirty="0">
                        <a:latin typeface="Times New Roman" charset="0"/>
                        <a:ea typeface="Times New Roman" charset="0"/>
                        <a:cs typeface="Times New Roman" charset="0"/>
                      </a:endParaRPr>
                    </a:p>
                  </a:txBody>
                  <a:tcPr marL="45720" marR="45720" marT="45720" marB="4572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00000"/>
                          </a:solidFill>
                          <a:latin typeface="Times New Roman" pitchFamily="34" charset="0"/>
                          <a:ea typeface="Times New Roman" pitchFamily="34" charset="-122"/>
                          <a:cs typeface="Times New Roman" pitchFamily="34" charset="-120"/>
                        </a:rPr>
                        <a:t>None</a:t>
                      </a:r>
                      <a:endParaRPr lang="en-US" sz="1100" dirty="0">
                        <a:latin typeface="Times New Roman" charset="0"/>
                        <a:ea typeface="Times New Roman" charset="0"/>
                        <a:cs typeface="Times New Roman" charset="0"/>
                      </a:endParaRPr>
                    </a:p>
                  </a:txBody>
                  <a:tcPr marL="45720" marR="45720" marT="45720" marB="4572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r>
              <a:tr h="301752">
                <a:tc>
                  <a:txBody>
                    <a:bodyPr/>
                    <a:lstStyle/>
                    <a:p>
                      <a:pPr algn="l" indent="0" marL="0">
                        <a:buNone/>
                      </a:pPr>
                      <a:r>
                        <a:rPr lang="en-US" sz="1100" dirty="0">
                          <a:solidFill>
                            <a:srgbClr val="000000"/>
                          </a:solidFill>
                          <a:latin typeface="Times New Roman" pitchFamily="34" charset="0"/>
                          <a:ea typeface="Times New Roman" pitchFamily="34" charset="-122"/>
                          <a:cs typeface="Times New Roman" pitchFamily="34" charset="-120"/>
                        </a:rPr>
                        <a:t>Jiménez </a:t>
                      </a:r>
                      <a:r>
                        <a:rPr lang="en-US" sz="1100" i="1" dirty="0">
                          <a:solidFill>
                            <a:srgbClr val="000000"/>
                          </a:solidFill>
                          <a:latin typeface="Times New Roman" pitchFamily="34" charset="0"/>
                          <a:ea typeface="Times New Roman" pitchFamily="34" charset="-122"/>
                          <a:cs typeface="Times New Roman" pitchFamily="34" charset="-120"/>
                        </a:rPr>
                        <a:t>et al.</a:t>
                      </a:r>
                      <a:endParaRPr lang="en-US" sz="1100" dirty="0">
                        <a:latin typeface="Times New Roman" charset="0"/>
                        <a:ea typeface="Times New Roman" charset="0"/>
                        <a:cs typeface="Times New Roman" charset="0"/>
                      </a:endParaRPr>
                    </a:p>
                  </a:txBody>
                  <a:tcPr marL="45720" marR="45720" marT="45720" marB="4572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00000"/>
                          </a:solidFill>
                          <a:latin typeface="Times New Roman" pitchFamily="34" charset="0"/>
                          <a:ea typeface="Times New Roman" pitchFamily="34" charset="-122"/>
                          <a:cs typeface="Times New Roman" pitchFamily="34" charset="-120"/>
                        </a:rPr>
                        <a:t>2020</a:t>
                      </a:r>
                      <a:endParaRPr lang="en-US" sz="1100" dirty="0">
                        <a:latin typeface="Times New Roman" charset="0"/>
                        <a:ea typeface="Times New Roman" charset="0"/>
                        <a:cs typeface="Times New Roman" charset="0"/>
                      </a:endParaRPr>
                    </a:p>
                  </a:txBody>
                  <a:tcPr marL="45720" marR="45720" marT="45720" marB="4572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00000"/>
                          </a:solidFill>
                          <a:latin typeface="Times New Roman" pitchFamily="34" charset="0"/>
                          <a:ea typeface="Times New Roman" pitchFamily="34" charset="-122"/>
                          <a:cs typeface="Times New Roman" pitchFamily="34" charset="-120"/>
                        </a:rPr>
                        <a:t>20</a:t>
                      </a:r>
                      <a:endParaRPr lang="en-US" sz="1100" dirty="0">
                        <a:latin typeface="Times New Roman" charset="0"/>
                        <a:ea typeface="Times New Roman" charset="0"/>
                        <a:cs typeface="Times New Roman" charset="0"/>
                      </a:endParaRPr>
                    </a:p>
                  </a:txBody>
                  <a:tcPr marL="45720" marR="45720" marT="45720" marB="4572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00000"/>
                          </a:solidFill>
                          <a:latin typeface="Times New Roman" pitchFamily="34" charset="0"/>
                          <a:ea typeface="Times New Roman" pitchFamily="34" charset="-122"/>
                          <a:cs typeface="Times New Roman" pitchFamily="34" charset="-120"/>
                        </a:rPr>
                        <a:t>14</a:t>
                      </a:r>
                      <a:endParaRPr lang="en-US" sz="1100" dirty="0">
                        <a:latin typeface="Times New Roman" charset="0"/>
                        <a:ea typeface="Times New Roman" charset="0"/>
                        <a:cs typeface="Times New Roman" charset="0"/>
                      </a:endParaRPr>
                    </a:p>
                  </a:txBody>
                  <a:tcPr marL="45720" marR="45720" marT="45720" marB="4572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00000"/>
                          </a:solidFill>
                          <a:latin typeface="Times New Roman" pitchFamily="34" charset="0"/>
                          <a:ea typeface="Times New Roman" pitchFamily="34" charset="-122"/>
                          <a:cs typeface="Times New Roman" pitchFamily="34" charset="-120"/>
                        </a:rPr>
                        <a:t>280</a:t>
                      </a:r>
                      <a:endParaRPr lang="en-US" sz="1100" dirty="0">
                        <a:latin typeface="Times New Roman" charset="0"/>
                        <a:ea typeface="Times New Roman" charset="0"/>
                        <a:cs typeface="Times New Roman" charset="0"/>
                      </a:endParaRPr>
                    </a:p>
                  </a:txBody>
                  <a:tcPr marL="45720" marR="45720" marT="45720" marB="4572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00000"/>
                          </a:solidFill>
                          <a:latin typeface="Times New Roman" pitchFamily="34" charset="0"/>
                          <a:ea typeface="Times New Roman" pitchFamily="34" charset="-122"/>
                          <a:cs typeface="Times New Roman" pitchFamily="34" charset="-120"/>
                        </a:rPr>
                        <a:t>Accommodation, pupil</a:t>
                      </a:r>
                      <a:endParaRPr lang="en-US" sz="1100" dirty="0">
                        <a:latin typeface="Times New Roman" charset="0"/>
                        <a:ea typeface="Times New Roman" charset="0"/>
                        <a:cs typeface="Times New Roman" charset="0"/>
                      </a:endParaRPr>
                    </a:p>
                  </a:txBody>
                  <a:tcPr marL="45720" marR="45720" marT="45720" marB="4572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00000"/>
                          </a:solidFill>
                          <a:latin typeface="Times New Roman" pitchFamily="34" charset="0"/>
                          <a:ea typeface="Times New Roman" pitchFamily="34" charset="-122"/>
                          <a:cs typeface="Times New Roman" pitchFamily="34" charset="-120"/>
                        </a:rPr>
                        <a:t>Text–background colour</a:t>
                      </a:r>
                      <a:endParaRPr lang="en-US" sz="1100" dirty="0">
                        <a:latin typeface="Times New Roman" charset="0"/>
                        <a:ea typeface="Times New Roman" charset="0"/>
                        <a:cs typeface="Times New Roman" charset="0"/>
                      </a:endParaRPr>
                    </a:p>
                  </a:txBody>
                  <a:tcPr marL="45720" marR="45720" marT="45720" marB="4572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r>
              <a:tr h="301752">
                <a:tc>
                  <a:txBody>
                    <a:bodyPr/>
                    <a:lstStyle/>
                    <a:p>
                      <a:pPr algn="l" indent="0" marL="0">
                        <a:buNone/>
                      </a:pPr>
                      <a:r>
                        <a:rPr lang="en-US" sz="1100" dirty="0">
                          <a:solidFill>
                            <a:srgbClr val="000000"/>
                          </a:solidFill>
                          <a:latin typeface="Times New Roman" pitchFamily="34" charset="0"/>
                          <a:ea typeface="Times New Roman" pitchFamily="34" charset="-122"/>
                          <a:cs typeface="Times New Roman" pitchFamily="34" charset="-120"/>
                        </a:rPr>
                        <a:t>Portello </a:t>
                      </a:r>
                      <a:r>
                        <a:rPr lang="en-US" sz="1100" i="1" dirty="0">
                          <a:solidFill>
                            <a:srgbClr val="000000"/>
                          </a:solidFill>
                          <a:latin typeface="Times New Roman" pitchFamily="34" charset="0"/>
                          <a:ea typeface="Times New Roman" pitchFamily="34" charset="-122"/>
                          <a:cs typeface="Times New Roman" pitchFamily="34" charset="-120"/>
                        </a:rPr>
                        <a:t>et al.</a:t>
                      </a:r>
                      <a:endParaRPr lang="en-US" sz="1100" dirty="0">
                        <a:latin typeface="Times New Roman" charset="0"/>
                        <a:ea typeface="Times New Roman" charset="0"/>
                        <a:cs typeface="Times New Roman" charset="0"/>
                      </a:endParaRPr>
                    </a:p>
                  </a:txBody>
                  <a:tcPr marL="45720" marR="45720" marT="45720" marB="4572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00000"/>
                          </a:solidFill>
                          <a:latin typeface="Times New Roman" pitchFamily="34" charset="0"/>
                          <a:ea typeface="Times New Roman" pitchFamily="34" charset="-122"/>
                          <a:cs typeface="Times New Roman" pitchFamily="34" charset="-120"/>
                        </a:rPr>
                        <a:t>2013</a:t>
                      </a:r>
                      <a:endParaRPr lang="en-US" sz="1100" dirty="0">
                        <a:latin typeface="Times New Roman" charset="0"/>
                        <a:ea typeface="Times New Roman" charset="0"/>
                        <a:cs typeface="Times New Roman" charset="0"/>
                      </a:endParaRPr>
                    </a:p>
                  </a:txBody>
                  <a:tcPr marL="45720" marR="45720" marT="45720" marB="4572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00000"/>
                          </a:solidFill>
                          <a:latin typeface="Times New Roman" pitchFamily="34" charset="0"/>
                          <a:ea typeface="Times New Roman" pitchFamily="34" charset="-122"/>
                          <a:cs typeface="Times New Roman" pitchFamily="34" charset="-120"/>
                        </a:rPr>
                        <a:t>21</a:t>
                      </a:r>
                      <a:endParaRPr lang="en-US" sz="1100" dirty="0">
                        <a:latin typeface="Times New Roman" charset="0"/>
                        <a:ea typeface="Times New Roman" charset="0"/>
                        <a:cs typeface="Times New Roman" charset="0"/>
                      </a:endParaRPr>
                    </a:p>
                  </a:txBody>
                  <a:tcPr marL="45720" marR="45720" marT="45720" marB="4572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00000"/>
                          </a:solidFill>
                          <a:latin typeface="Times New Roman" pitchFamily="34" charset="0"/>
                          <a:ea typeface="Times New Roman" pitchFamily="34" charset="-122"/>
                          <a:cs typeface="Times New Roman" pitchFamily="34" charset="-120"/>
                        </a:rPr>
                        <a:t>2</a:t>
                      </a:r>
                      <a:endParaRPr lang="en-US" sz="1100" dirty="0">
                        <a:latin typeface="Times New Roman" charset="0"/>
                        <a:ea typeface="Times New Roman" charset="0"/>
                        <a:cs typeface="Times New Roman" charset="0"/>
                      </a:endParaRPr>
                    </a:p>
                  </a:txBody>
                  <a:tcPr marL="45720" marR="45720" marT="45720" marB="4572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00000"/>
                          </a:solidFill>
                          <a:latin typeface="Times New Roman" pitchFamily="34" charset="0"/>
                          <a:ea typeface="Times New Roman" pitchFamily="34" charset="-122"/>
                          <a:cs typeface="Times New Roman" pitchFamily="34" charset="-120"/>
                        </a:rPr>
                        <a:t>42</a:t>
                      </a:r>
                      <a:endParaRPr lang="en-US" sz="1100" dirty="0">
                        <a:latin typeface="Times New Roman" charset="0"/>
                        <a:ea typeface="Times New Roman" charset="0"/>
                        <a:cs typeface="Times New Roman" charset="0"/>
                      </a:endParaRPr>
                    </a:p>
                  </a:txBody>
                  <a:tcPr marL="45720" marR="45720" marT="45720" marB="4572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00000"/>
                          </a:solidFill>
                          <a:latin typeface="Times New Roman" pitchFamily="34" charset="0"/>
                          <a:ea typeface="Times New Roman" pitchFamily="34" charset="-122"/>
                          <a:cs typeface="Times New Roman" pitchFamily="34" charset="-120"/>
                        </a:rPr>
                        <a:t>Blink rate, completeness</a:t>
                      </a:r>
                      <a:endParaRPr lang="en-US" sz="1100" dirty="0">
                        <a:latin typeface="Times New Roman" charset="0"/>
                        <a:ea typeface="Times New Roman" charset="0"/>
                        <a:cs typeface="Times New Roman" charset="0"/>
                      </a:endParaRPr>
                    </a:p>
                  </a:txBody>
                  <a:tcPr marL="45720" marR="45720" marT="45720" marB="4572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00000"/>
                          </a:solidFill>
                          <a:latin typeface="Times New Roman" pitchFamily="34" charset="0"/>
                          <a:ea typeface="Times New Roman" pitchFamily="34" charset="-122"/>
                          <a:cs typeface="Times New Roman" pitchFamily="34" charset="-120"/>
                        </a:rPr>
                        <a:t>None</a:t>
                      </a:r>
                      <a:endParaRPr lang="en-US" sz="1100" dirty="0">
                        <a:latin typeface="Times New Roman" charset="0"/>
                        <a:ea typeface="Times New Roman" charset="0"/>
                        <a:cs typeface="Times New Roman" charset="0"/>
                      </a:endParaRPr>
                    </a:p>
                  </a:txBody>
                  <a:tcPr marL="45720" marR="45720" marT="45720" marB="4572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r>
              <a:tr h="301752">
                <a:tc>
                  <a:txBody>
                    <a:bodyPr/>
                    <a:lstStyle/>
                    <a:p>
                      <a:pPr algn="l" indent="0" marL="0">
                        <a:buNone/>
                      </a:pPr>
                      <a:r>
                        <a:rPr lang="en-US" sz="1100" dirty="0">
                          <a:solidFill>
                            <a:srgbClr val="000000"/>
                          </a:solidFill>
                          <a:latin typeface="Times New Roman" pitchFamily="34" charset="0"/>
                          <a:ea typeface="Times New Roman" pitchFamily="34" charset="-122"/>
                          <a:cs typeface="Times New Roman" pitchFamily="34" charset="-120"/>
                        </a:rPr>
                        <a:t>Cardona </a:t>
                      </a:r>
                      <a:r>
                        <a:rPr lang="en-US" sz="1100" i="1" dirty="0">
                          <a:solidFill>
                            <a:srgbClr val="000000"/>
                          </a:solidFill>
                          <a:latin typeface="Times New Roman" pitchFamily="34" charset="0"/>
                          <a:ea typeface="Times New Roman" pitchFamily="34" charset="-122"/>
                          <a:cs typeface="Times New Roman" pitchFamily="34" charset="-120"/>
                        </a:rPr>
                        <a:t>et al.</a:t>
                      </a:r>
                      <a:endParaRPr lang="en-US" sz="1100" dirty="0">
                        <a:latin typeface="Times New Roman" charset="0"/>
                        <a:ea typeface="Times New Roman" charset="0"/>
                        <a:cs typeface="Times New Roman" charset="0"/>
                      </a:endParaRPr>
                    </a:p>
                  </a:txBody>
                  <a:tcPr marL="45720" marR="45720" marT="45720" marB="4572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00000"/>
                          </a:solidFill>
                          <a:latin typeface="Times New Roman" pitchFamily="34" charset="0"/>
                          <a:ea typeface="Times New Roman" pitchFamily="34" charset="-122"/>
                          <a:cs typeface="Times New Roman" pitchFamily="34" charset="-120"/>
                        </a:rPr>
                        <a:t>2011</a:t>
                      </a:r>
                      <a:endParaRPr lang="en-US" sz="1100" dirty="0">
                        <a:latin typeface="Times New Roman" charset="0"/>
                        <a:ea typeface="Times New Roman" charset="0"/>
                        <a:cs typeface="Times New Roman" charset="0"/>
                      </a:endParaRPr>
                    </a:p>
                  </a:txBody>
                  <a:tcPr marL="45720" marR="45720" marT="45720" marB="4572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00000"/>
                          </a:solidFill>
                          <a:latin typeface="Times New Roman" pitchFamily="34" charset="0"/>
                          <a:ea typeface="Times New Roman" pitchFamily="34" charset="-122"/>
                          <a:cs typeface="Times New Roman" pitchFamily="34" charset="-120"/>
                        </a:rPr>
                        <a:t>25</a:t>
                      </a:r>
                      <a:endParaRPr lang="en-US" sz="1100" dirty="0">
                        <a:latin typeface="Times New Roman" charset="0"/>
                        <a:ea typeface="Times New Roman" charset="0"/>
                        <a:cs typeface="Times New Roman" charset="0"/>
                      </a:endParaRPr>
                    </a:p>
                  </a:txBody>
                  <a:tcPr marL="45720" marR="45720" marT="45720" marB="4572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00000"/>
                          </a:solidFill>
                          <a:latin typeface="Times New Roman" pitchFamily="34" charset="0"/>
                          <a:ea typeface="Times New Roman" pitchFamily="34" charset="-122"/>
                          <a:cs typeface="Times New Roman" pitchFamily="34" charset="-120"/>
                        </a:rPr>
                        <a:t>3</a:t>
                      </a:r>
                      <a:endParaRPr lang="en-US" sz="1100" dirty="0">
                        <a:latin typeface="Times New Roman" charset="0"/>
                        <a:ea typeface="Times New Roman" charset="0"/>
                        <a:cs typeface="Times New Roman" charset="0"/>
                      </a:endParaRPr>
                    </a:p>
                  </a:txBody>
                  <a:tcPr marL="45720" marR="45720" marT="45720" marB="4572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00000"/>
                          </a:solidFill>
                          <a:latin typeface="Times New Roman" pitchFamily="34" charset="0"/>
                          <a:ea typeface="Times New Roman" pitchFamily="34" charset="-122"/>
                          <a:cs typeface="Times New Roman" pitchFamily="34" charset="-120"/>
                        </a:rPr>
                        <a:t>75</a:t>
                      </a:r>
                      <a:endParaRPr lang="en-US" sz="1100" dirty="0">
                        <a:latin typeface="Times New Roman" charset="0"/>
                        <a:ea typeface="Times New Roman" charset="0"/>
                        <a:cs typeface="Times New Roman" charset="0"/>
                      </a:endParaRPr>
                    </a:p>
                  </a:txBody>
                  <a:tcPr marL="45720" marR="45720" marT="45720" marB="4572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00000"/>
                          </a:solidFill>
                          <a:latin typeface="Times New Roman" pitchFamily="34" charset="0"/>
                          <a:ea typeface="Times New Roman" pitchFamily="34" charset="-122"/>
                          <a:cs typeface="Times New Roman" pitchFamily="34" charset="-120"/>
                        </a:rPr>
                        <a:t>Blink rate, amplitude</a:t>
                      </a:r>
                      <a:endParaRPr lang="en-US" sz="1100" dirty="0">
                        <a:latin typeface="Times New Roman" charset="0"/>
                        <a:ea typeface="Times New Roman" charset="0"/>
                        <a:cs typeface="Times New Roman" charset="0"/>
                      </a:endParaRPr>
                    </a:p>
                  </a:txBody>
                  <a:tcPr marL="45720" marR="45720" marT="45720" marB="4572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00000"/>
                          </a:solidFill>
                          <a:latin typeface="Times New Roman" pitchFamily="34" charset="0"/>
                          <a:ea typeface="Times New Roman" pitchFamily="34" charset="-122"/>
                          <a:cs typeface="Times New Roman" pitchFamily="34" charset="-120"/>
                        </a:rPr>
                        <a:t>Task dynamism</a:t>
                      </a:r>
                      <a:endParaRPr lang="en-US" sz="1100" dirty="0">
                        <a:latin typeface="Times New Roman" charset="0"/>
                        <a:ea typeface="Times New Roman" charset="0"/>
                        <a:cs typeface="Times New Roman" charset="0"/>
                      </a:endParaRPr>
                    </a:p>
                  </a:txBody>
                  <a:tcPr marL="45720" marR="45720" marT="45720" marB="4572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r>
              <a:tr h="301752">
                <a:tc>
                  <a:txBody>
                    <a:bodyPr/>
                    <a:lstStyle/>
                    <a:p>
                      <a:pPr algn="l" indent="0" marL="0">
                        <a:buNone/>
                      </a:pPr>
                      <a:r>
                        <a:rPr lang="en-US" sz="1100" dirty="0">
                          <a:solidFill>
                            <a:srgbClr val="000000"/>
                          </a:solidFill>
                          <a:latin typeface="Times New Roman" pitchFamily="34" charset="0"/>
                          <a:ea typeface="Times New Roman" pitchFamily="34" charset="-122"/>
                          <a:cs typeface="Times New Roman" pitchFamily="34" charset="-120"/>
                        </a:rPr>
                        <a:t>Lin, M., </a:t>
                      </a:r>
                      <a:r>
                        <a:rPr lang="en-US" sz="1100" i="1" dirty="0">
                          <a:solidFill>
                            <a:srgbClr val="000000"/>
                          </a:solidFill>
                          <a:latin typeface="Times New Roman" pitchFamily="34" charset="0"/>
                          <a:ea typeface="Times New Roman" pitchFamily="34" charset="-122"/>
                          <a:cs typeface="Times New Roman" pitchFamily="34" charset="-120"/>
                        </a:rPr>
                        <a:t>et al.</a:t>
                      </a:r>
                      <a:endParaRPr lang="en-US" sz="1100" dirty="0">
                        <a:latin typeface="Times New Roman" charset="0"/>
                        <a:ea typeface="Times New Roman" charset="0"/>
                        <a:cs typeface="Times New Roman" charset="0"/>
                      </a:endParaRPr>
                    </a:p>
                  </a:txBody>
                  <a:tcPr marL="45720" marR="45720" marT="45720" marB="4572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00000"/>
                          </a:solidFill>
                          <a:latin typeface="Times New Roman" pitchFamily="34" charset="0"/>
                          <a:ea typeface="Times New Roman" pitchFamily="34" charset="-122"/>
                          <a:cs typeface="Times New Roman" pitchFamily="34" charset="-120"/>
                        </a:rPr>
                        <a:t>2025</a:t>
                      </a:r>
                      <a:endParaRPr lang="en-US" sz="1100" dirty="0">
                        <a:latin typeface="Times New Roman" charset="0"/>
                        <a:ea typeface="Times New Roman" charset="0"/>
                        <a:cs typeface="Times New Roman" charset="0"/>
                      </a:endParaRPr>
                    </a:p>
                  </a:txBody>
                  <a:tcPr marL="45720" marR="45720" marT="45720" marB="4572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00000"/>
                          </a:solidFill>
                          <a:latin typeface="Times New Roman" pitchFamily="34" charset="0"/>
                          <a:ea typeface="Times New Roman" pitchFamily="34" charset="-122"/>
                          <a:cs typeface="Times New Roman" pitchFamily="34" charset="-120"/>
                        </a:rPr>
                        <a:t>30</a:t>
                      </a:r>
                      <a:endParaRPr lang="en-US" sz="1100" dirty="0">
                        <a:latin typeface="Times New Roman" charset="0"/>
                        <a:ea typeface="Times New Roman" charset="0"/>
                        <a:cs typeface="Times New Roman" charset="0"/>
                      </a:endParaRPr>
                    </a:p>
                  </a:txBody>
                  <a:tcPr marL="45720" marR="45720" marT="45720" marB="4572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00000"/>
                          </a:solidFill>
                          <a:latin typeface="Times New Roman" pitchFamily="34" charset="0"/>
                          <a:ea typeface="Times New Roman" pitchFamily="34" charset="-122"/>
                          <a:cs typeface="Times New Roman" pitchFamily="34" charset="-120"/>
                        </a:rPr>
                        <a:t>4</a:t>
                      </a:r>
                      <a:endParaRPr lang="en-US" sz="1100" dirty="0">
                        <a:latin typeface="Times New Roman" charset="0"/>
                        <a:ea typeface="Times New Roman" charset="0"/>
                        <a:cs typeface="Times New Roman" charset="0"/>
                      </a:endParaRPr>
                    </a:p>
                  </a:txBody>
                  <a:tcPr marL="45720" marR="45720" marT="45720" marB="4572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00000"/>
                          </a:solidFill>
                          <a:latin typeface="Times New Roman" pitchFamily="34" charset="0"/>
                          <a:ea typeface="Times New Roman" pitchFamily="34" charset="-122"/>
                          <a:cs typeface="Times New Roman" pitchFamily="34" charset="-120"/>
                        </a:rPr>
                        <a:t>120</a:t>
                      </a:r>
                      <a:endParaRPr lang="en-US" sz="1100" dirty="0">
                        <a:latin typeface="Times New Roman" charset="0"/>
                        <a:ea typeface="Times New Roman" charset="0"/>
                        <a:cs typeface="Times New Roman" charset="0"/>
                      </a:endParaRPr>
                    </a:p>
                  </a:txBody>
                  <a:tcPr marL="45720" marR="45720" marT="45720" marB="4572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00000"/>
                          </a:solidFill>
                          <a:latin typeface="Times New Roman" pitchFamily="34" charset="0"/>
                          <a:ea typeface="Times New Roman" pitchFamily="34" charset="-122"/>
                          <a:cs typeface="Times New Roman" pitchFamily="34" charset="-120"/>
                        </a:rPr>
                        <a:t>Blink patterns, tear film</a:t>
                      </a:r>
                      <a:endParaRPr lang="en-US" sz="1100" dirty="0">
                        <a:latin typeface="Times New Roman" charset="0"/>
                        <a:ea typeface="Times New Roman" charset="0"/>
                        <a:cs typeface="Times New Roman" charset="0"/>
                      </a:endParaRPr>
                    </a:p>
                  </a:txBody>
                  <a:tcPr marL="45720" marR="45720" marT="45720" marB="4572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00000"/>
                          </a:solidFill>
                          <a:latin typeface="Times New Roman" pitchFamily="34" charset="0"/>
                          <a:ea typeface="Times New Roman" pitchFamily="34" charset="-122"/>
                          <a:cs typeface="Times New Roman" pitchFamily="34" charset="-120"/>
                        </a:rPr>
                        <a:t>Ambient light × screen brightness</a:t>
                      </a:r>
                      <a:endParaRPr lang="en-US" sz="1100" dirty="0">
                        <a:latin typeface="Times New Roman" charset="0"/>
                        <a:ea typeface="Times New Roman" charset="0"/>
                        <a:cs typeface="Times New Roman" charset="0"/>
                      </a:endParaRPr>
                    </a:p>
                  </a:txBody>
                  <a:tcPr marL="45720" marR="45720" marT="45720" marB="4572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r>
              <a:tr h="301752">
                <a:tc>
                  <a:txBody>
                    <a:bodyPr/>
                    <a:lstStyle/>
                    <a:p>
                      <a:pPr algn="l" indent="0" marL="0">
                        <a:buNone/>
                      </a:pPr>
                      <a:r>
                        <a:rPr lang="en-US" sz="1100" dirty="0">
                          <a:solidFill>
                            <a:srgbClr val="000000"/>
                          </a:solidFill>
                          <a:latin typeface="Times New Roman" pitchFamily="34" charset="0"/>
                          <a:ea typeface="Times New Roman" pitchFamily="34" charset="-122"/>
                          <a:cs typeface="Times New Roman" pitchFamily="34" charset="-120"/>
                        </a:rPr>
                        <a:t>Argilés </a:t>
                      </a:r>
                      <a:r>
                        <a:rPr lang="en-US" sz="1100" i="1" dirty="0">
                          <a:solidFill>
                            <a:srgbClr val="000000"/>
                          </a:solidFill>
                          <a:latin typeface="Times New Roman" pitchFamily="34" charset="0"/>
                          <a:ea typeface="Times New Roman" pitchFamily="34" charset="-122"/>
                          <a:cs typeface="Times New Roman" pitchFamily="34" charset="-120"/>
                        </a:rPr>
                        <a:t>et al.</a:t>
                      </a:r>
                      <a:endParaRPr lang="en-US" sz="1100" dirty="0">
                        <a:latin typeface="Times New Roman" charset="0"/>
                        <a:ea typeface="Times New Roman" charset="0"/>
                        <a:cs typeface="Times New Roman" charset="0"/>
                      </a:endParaRPr>
                    </a:p>
                  </a:txBody>
                  <a:tcPr marL="45720" marR="45720" marT="45720" marB="4572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00000"/>
                          </a:solidFill>
                          <a:latin typeface="Times New Roman" pitchFamily="34" charset="0"/>
                          <a:ea typeface="Times New Roman" pitchFamily="34" charset="-122"/>
                          <a:cs typeface="Times New Roman" pitchFamily="34" charset="-120"/>
                        </a:rPr>
                        <a:t>2015</a:t>
                      </a:r>
                      <a:endParaRPr lang="en-US" sz="1100" dirty="0">
                        <a:latin typeface="Times New Roman" charset="0"/>
                        <a:ea typeface="Times New Roman" charset="0"/>
                        <a:cs typeface="Times New Roman" charset="0"/>
                      </a:endParaRPr>
                    </a:p>
                  </a:txBody>
                  <a:tcPr marL="45720" marR="45720" marT="45720" marB="4572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00000"/>
                          </a:solidFill>
                          <a:latin typeface="Times New Roman" pitchFamily="34" charset="0"/>
                          <a:ea typeface="Times New Roman" pitchFamily="34" charset="-122"/>
                          <a:cs typeface="Times New Roman" pitchFamily="34" charset="-120"/>
                        </a:rPr>
                        <a:t>50</a:t>
                      </a:r>
                      <a:endParaRPr lang="en-US" sz="1100" dirty="0">
                        <a:latin typeface="Times New Roman" charset="0"/>
                        <a:ea typeface="Times New Roman" charset="0"/>
                        <a:cs typeface="Times New Roman" charset="0"/>
                      </a:endParaRPr>
                    </a:p>
                  </a:txBody>
                  <a:tcPr marL="45720" marR="45720" marT="45720" marB="4572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00000"/>
                          </a:solidFill>
                          <a:latin typeface="Times New Roman" pitchFamily="34" charset="0"/>
                          <a:ea typeface="Times New Roman" pitchFamily="34" charset="-122"/>
                          <a:cs typeface="Times New Roman" pitchFamily="34" charset="-120"/>
                        </a:rPr>
                        <a:t>6</a:t>
                      </a:r>
                      <a:endParaRPr lang="en-US" sz="1100" dirty="0">
                        <a:latin typeface="Times New Roman" charset="0"/>
                        <a:ea typeface="Times New Roman" charset="0"/>
                        <a:cs typeface="Times New Roman" charset="0"/>
                      </a:endParaRPr>
                    </a:p>
                  </a:txBody>
                  <a:tcPr marL="45720" marR="45720" marT="45720" marB="4572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00000"/>
                          </a:solidFill>
                          <a:latin typeface="Times New Roman" pitchFamily="34" charset="0"/>
                          <a:ea typeface="Times New Roman" pitchFamily="34" charset="-122"/>
                          <a:cs typeface="Times New Roman" pitchFamily="34" charset="-120"/>
                        </a:rPr>
                        <a:t>300</a:t>
                      </a:r>
                      <a:endParaRPr lang="en-US" sz="1100" dirty="0">
                        <a:latin typeface="Times New Roman" charset="0"/>
                        <a:ea typeface="Times New Roman" charset="0"/>
                        <a:cs typeface="Times New Roman" charset="0"/>
                      </a:endParaRPr>
                    </a:p>
                  </a:txBody>
                  <a:tcPr marL="45720" marR="45720" marT="45720" marB="4572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00000"/>
                          </a:solidFill>
                          <a:latin typeface="Times New Roman" pitchFamily="34" charset="0"/>
                          <a:ea typeface="Times New Roman" pitchFamily="34" charset="-122"/>
                          <a:cs typeface="Times New Roman" pitchFamily="34" charset="-120"/>
                        </a:rPr>
                        <a:t>Blink rate, completeness</a:t>
                      </a:r>
                      <a:endParaRPr lang="en-US" sz="1100" dirty="0">
                        <a:latin typeface="Times New Roman" charset="0"/>
                        <a:ea typeface="Times New Roman" charset="0"/>
                        <a:cs typeface="Times New Roman" charset="0"/>
                      </a:endParaRPr>
                    </a:p>
                  </a:txBody>
                  <a:tcPr marL="45720" marR="45720" marT="45720" marB="4572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00000"/>
                          </a:solidFill>
                          <a:latin typeface="Times New Roman" pitchFamily="34" charset="0"/>
                          <a:ea typeface="Times New Roman" pitchFamily="34" charset="-122"/>
                          <a:cs typeface="Times New Roman" pitchFamily="34" charset="-120"/>
                        </a:rPr>
                        <a:t>Reading medium</a:t>
                      </a:r>
                      <a:endParaRPr lang="en-US" sz="1100" dirty="0">
                        <a:latin typeface="Times New Roman" charset="0"/>
                        <a:ea typeface="Times New Roman" charset="0"/>
                        <a:cs typeface="Times New Roman" charset="0"/>
                      </a:endParaRPr>
                    </a:p>
                  </a:txBody>
                  <a:tcPr marL="45720" marR="45720" marT="45720" marB="4572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r>
              <a:tr h="301752">
                <a:tc>
                  <a:txBody>
                    <a:bodyPr/>
                    <a:lstStyle/>
                    <a:p>
                      <a:pPr algn="l" indent="0" marL="0">
                        <a:buNone/>
                      </a:pPr>
                      <a:r>
                        <a:rPr lang="en-US" sz="1100" b="1" dirty="0">
                          <a:solidFill>
                            <a:srgbClr val="000000"/>
                          </a:solidFill>
                          <a:latin typeface="Times New Roman" pitchFamily="34" charset="0"/>
                          <a:ea typeface="Times New Roman" pitchFamily="34" charset="-122"/>
                          <a:cs typeface="Times New Roman" pitchFamily="34" charset="-120"/>
                        </a:rPr>
                        <a:t>Proposed study</a:t>
                      </a:r>
                      <a:endParaRPr lang="en-US" sz="1100" dirty="0">
                        <a:latin typeface="Times New Roman" charset="0"/>
                        <a:ea typeface="Times New Roman" charset="0"/>
                        <a:cs typeface="Times New Roman" charset="0"/>
                      </a:endParaRPr>
                    </a:p>
                  </a:txBody>
                  <a:tcPr marL="45720" marR="45720" marT="45720" marB="4572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000000"/>
                          </a:solidFill>
                          <a:latin typeface="Times New Roman" pitchFamily="34" charset="0"/>
                          <a:ea typeface="Times New Roman" pitchFamily="34" charset="-122"/>
                          <a:cs typeface="Times New Roman" pitchFamily="34" charset="-120"/>
                        </a:rPr>
                        <a:t>—</a:t>
                      </a:r>
                      <a:endParaRPr lang="en-US" sz="1100" dirty="0">
                        <a:latin typeface="Times New Roman" charset="0"/>
                        <a:ea typeface="Times New Roman" charset="0"/>
                        <a:cs typeface="Times New Roman" charset="0"/>
                      </a:endParaRPr>
                    </a:p>
                  </a:txBody>
                  <a:tcPr marL="45720" marR="45720" marT="45720" marB="4572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000000"/>
                          </a:solidFill>
                          <a:latin typeface="Times New Roman" pitchFamily="34" charset="0"/>
                          <a:ea typeface="Times New Roman" pitchFamily="34" charset="-122"/>
                          <a:cs typeface="Times New Roman" pitchFamily="34" charset="-120"/>
                        </a:rPr>
                        <a:t>130</a:t>
                      </a:r>
                      <a:endParaRPr lang="en-US" sz="1100" dirty="0">
                        <a:latin typeface="Times New Roman" charset="0"/>
                        <a:ea typeface="Times New Roman" charset="0"/>
                        <a:cs typeface="Times New Roman" charset="0"/>
                      </a:endParaRPr>
                    </a:p>
                  </a:txBody>
                  <a:tcPr marL="45720" marR="45720" marT="45720" marB="4572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000000"/>
                          </a:solidFill>
                          <a:latin typeface="Times New Roman" pitchFamily="34" charset="0"/>
                          <a:ea typeface="Times New Roman" pitchFamily="34" charset="-122"/>
                          <a:cs typeface="Times New Roman" pitchFamily="34" charset="-120"/>
                        </a:rPr>
                        <a:t>10</a:t>
                      </a:r>
                      <a:endParaRPr lang="en-US" sz="1100" dirty="0">
                        <a:latin typeface="Times New Roman" charset="0"/>
                        <a:ea typeface="Times New Roman" charset="0"/>
                        <a:cs typeface="Times New Roman" charset="0"/>
                      </a:endParaRPr>
                    </a:p>
                  </a:txBody>
                  <a:tcPr marL="45720" marR="45720" marT="45720" marB="4572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000000"/>
                          </a:solidFill>
                          <a:latin typeface="Times New Roman" pitchFamily="34" charset="0"/>
                          <a:ea typeface="Times New Roman" pitchFamily="34" charset="-122"/>
                          <a:cs typeface="Times New Roman" pitchFamily="34" charset="-120"/>
                        </a:rPr>
                        <a:t>1,300</a:t>
                      </a:r>
                      <a:endParaRPr lang="en-US" sz="1100" dirty="0">
                        <a:latin typeface="Times New Roman" charset="0"/>
                        <a:ea typeface="Times New Roman" charset="0"/>
                        <a:cs typeface="Times New Roman" charset="0"/>
                      </a:endParaRPr>
                    </a:p>
                  </a:txBody>
                  <a:tcPr marL="45720" marR="45720" marT="45720" marB="4572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000000"/>
                          </a:solidFill>
                          <a:latin typeface="Times New Roman" pitchFamily="34" charset="0"/>
                          <a:ea typeface="Times New Roman" pitchFamily="34" charset="-122"/>
                          <a:cs typeface="Times New Roman" pitchFamily="34" charset="-120"/>
                        </a:rPr>
                        <a:t>Incomplete-blink ratio, blink rate, IBI, PERCLOS</a:t>
                      </a:r>
                      <a:endParaRPr lang="en-US" sz="1100" dirty="0">
                        <a:latin typeface="Times New Roman" charset="0"/>
                        <a:ea typeface="Times New Roman" charset="0"/>
                        <a:cs typeface="Times New Roman" charset="0"/>
                      </a:endParaRPr>
                    </a:p>
                  </a:txBody>
                  <a:tcPr marL="45720" marR="45720" marT="45720" marB="4572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000000"/>
                          </a:solidFill>
                          <a:latin typeface="Times New Roman" pitchFamily="34" charset="0"/>
                          <a:ea typeface="Times New Roman" pitchFamily="34" charset="-122"/>
                          <a:cs typeface="Times New Roman" pitchFamily="34" charset="-120"/>
                        </a:rPr>
                        <a:t>Polarity × colour, illumination controlled</a:t>
                      </a:r>
                      <a:endParaRPr lang="en-US" sz="1100" dirty="0">
                        <a:latin typeface="Times New Roman" charset="0"/>
                        <a:ea typeface="Times New Roman" charset="0"/>
                        <a:cs typeface="Times New Roman" charset="0"/>
                      </a:endParaRPr>
                    </a:p>
                  </a:txBody>
                  <a:tcPr marL="45720" marR="45720" marT="45720" marB="4572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r>
            </a:tbl>
          </a:graphicData>
        </a:graphic>
      </p:graphicFrame>
      <p:sp>
        <p:nvSpPr>
          <p:cNvPr id="7" name="Text 4"/>
          <p:cNvSpPr txBox="1"/>
          <p:nvPr/>
        </p:nvSpPr>
        <p:spPr>
          <a:xfrm>
            <a:off x="731520" y="6909816"/>
            <a:ext cx="12252960" cy="263652"/>
          </a:xfrm>
          <a:prstGeom prst="rect">
            <a:avLst/>
          </a:prstGeom>
          <a:noFill/>
          <a:ln/>
        </p:spPr>
        <p:txBody>
          <a:bodyPr wrap="square" lIns="0" tIns="0" rIns="0" bIns="0" rtlCol="0" anchor="t"/>
          <a:lstStyle/>
          <a:p>
            <a:pPr indent="0" marL="0">
              <a:lnSpc>
                <a:spcPts val="1500"/>
              </a:lnSpc>
              <a:buNone/>
            </a:pPr>
            <a:r>
              <a:rPr lang="en-US" sz="1100" i="1" dirty="0">
                <a:solidFill>
                  <a:srgbClr val="595959"/>
                </a:solidFill>
                <a:latin typeface="Times New Roman" pitchFamily="34" charset="0"/>
                <a:ea typeface="Times New Roman" pitchFamily="34" charset="-122"/>
                <a:cs typeface="Times New Roman" pitchFamily="34" charset="-120"/>
              </a:rPr>
              <a:t>Precision on the primary outcome follows the number of condition-runs, not the number of participants.</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1520" y="384048"/>
            <a:ext cx="12252960" cy="566928"/>
          </a:xfrm>
          <a:prstGeom prst="rect">
            <a:avLst/>
          </a:prstGeom>
          <a:noFill/>
          <a:ln/>
        </p:spPr>
        <p:txBody>
          <a:bodyPr wrap="square" lIns="0" tIns="0" rIns="0" bIns="0" rtlCol="0" anchor="t"/>
          <a:lstStyle/>
          <a:p>
            <a:pPr indent="0" marL="0">
              <a:buNone/>
            </a:pPr>
            <a:r>
              <a:rPr lang="en-US" sz="2400" b="1" dirty="0">
                <a:solidFill>
                  <a:srgbClr val="1F3864"/>
                </a:solidFill>
                <a:latin typeface="Times New Roman" pitchFamily="34" charset="0"/>
                <a:ea typeface="Times New Roman" pitchFamily="34" charset="-122"/>
                <a:cs typeface="Times New Roman" pitchFamily="34" charset="-120"/>
              </a:rPr>
              <a:t>3. Aim and Objectives</a:t>
            </a:r>
            <a:endParaRPr lang="en-US" sz="2400" dirty="0"/>
          </a:p>
        </p:txBody>
      </p:sp>
      <p:sp>
        <p:nvSpPr>
          <p:cNvPr id="3" name="Text 1"/>
          <p:cNvSpPr txBox="1"/>
          <p:nvPr/>
        </p:nvSpPr>
        <p:spPr>
          <a:xfrm>
            <a:off x="12435840" y="8229600"/>
            <a:ext cx="548640" cy="274320"/>
          </a:xfrm>
          <a:prstGeom prst="rect">
            <a:avLst/>
          </a:prstGeom>
          <a:noFill/>
          <a:ln/>
        </p:spPr>
        <p:txBody>
          <a:bodyPr wrap="square" lIns="0" tIns="0" rIns="0" bIns="0" rtlCol="0" anchor="ctr"/>
          <a:lstStyle/>
          <a:p>
            <a:pPr algn="r" indent="0" marL="0">
              <a:buNone/>
            </a:pPr>
            <a:r>
              <a:rPr lang="en-US" sz="1100" dirty="0">
                <a:solidFill>
                  <a:srgbClr val="595959"/>
                </a:solidFill>
                <a:latin typeface="Times New Roman" pitchFamily="34" charset="0"/>
                <a:ea typeface="Times New Roman" pitchFamily="34" charset="-122"/>
                <a:cs typeface="Times New Roman" pitchFamily="34" charset="-120"/>
              </a:rPr>
              <a:t>8</a:t>
            </a:r>
            <a:endParaRPr lang="en-US" sz="1100" dirty="0"/>
          </a:p>
        </p:txBody>
      </p:sp>
      <p:sp>
        <p:nvSpPr>
          <p:cNvPr id="4" name="Text 2"/>
          <p:cNvSpPr txBox="1"/>
          <p:nvPr/>
        </p:nvSpPr>
        <p:spPr>
          <a:xfrm>
            <a:off x="731520" y="1280160"/>
            <a:ext cx="12252960" cy="292608"/>
          </a:xfrm>
          <a:prstGeom prst="rect">
            <a:avLst/>
          </a:prstGeom>
          <a:noFill/>
          <a:ln/>
        </p:spPr>
        <p:txBody>
          <a:bodyPr wrap="square" lIns="0" tIns="0" rIns="0" bIns="0" rtlCol="0" anchor="ctr"/>
          <a:lstStyle/>
          <a:p>
            <a:pPr indent="0" marL="0">
              <a:buNone/>
            </a:pPr>
            <a:r>
              <a:rPr lang="en-US" sz="1600" b="1" dirty="0">
                <a:solidFill>
                  <a:srgbClr val="000000"/>
                </a:solidFill>
                <a:latin typeface="Times New Roman" pitchFamily="34" charset="0"/>
                <a:ea typeface="Times New Roman" pitchFamily="34" charset="-122"/>
                <a:cs typeface="Times New Roman" pitchFamily="34" charset="-120"/>
              </a:rPr>
              <a:t>Aim</a:t>
            </a:r>
            <a:endParaRPr lang="en-US" sz="1600" dirty="0"/>
          </a:p>
        </p:txBody>
      </p:sp>
      <p:sp>
        <p:nvSpPr>
          <p:cNvPr id="5" name="Text 3"/>
          <p:cNvSpPr txBox="1"/>
          <p:nvPr/>
        </p:nvSpPr>
        <p:spPr>
          <a:xfrm>
            <a:off x="1005840" y="1664208"/>
            <a:ext cx="11978640" cy="682752"/>
          </a:xfrm>
          <a:prstGeom prst="rect">
            <a:avLst/>
          </a:prstGeom>
          <a:noFill/>
          <a:ln/>
        </p:spPr>
        <p:txBody>
          <a:bodyPr wrap="square" lIns="0" tIns="0" rIns="0" bIns="0" rtlCol="0" anchor="t"/>
          <a:lstStyle/>
          <a:p>
            <a:pPr indent="0" marL="0">
              <a:lnSpc>
                <a:spcPts val="1600"/>
              </a:lnSpc>
              <a:buNone/>
            </a:pPr>
            <a:r>
              <a:rPr lang="en-US" sz="1200" dirty="0">
                <a:solidFill>
                  <a:srgbClr val="000000"/>
                </a:solidFill>
                <a:latin typeface="Times New Roman" pitchFamily="34" charset="0"/>
                <a:ea typeface="Times New Roman" pitchFamily="34" charset="-122"/>
                <a:cs typeface="Times New Roman" pitchFamily="34" charset="-120"/>
              </a:rPr>
              <a:t>To determine the effects and interaction of display polarity and text colour on visual fatigue, ocular behaviour and visual task performance during prolonged tablet-based reading under controlled ambient illumination, and, as a secondary methodological objective, to evaluate the validity and feasibility of camera-based blink assessment as an objective measure of ocular response.</a:t>
            </a:r>
            <a:endParaRPr lang="en-US" sz="1200" dirty="0"/>
          </a:p>
        </p:txBody>
      </p:sp>
      <p:sp>
        <p:nvSpPr>
          <p:cNvPr id="6" name="Text 4"/>
          <p:cNvSpPr txBox="1"/>
          <p:nvPr/>
        </p:nvSpPr>
        <p:spPr>
          <a:xfrm>
            <a:off x="731520" y="2676144"/>
            <a:ext cx="12252960" cy="292608"/>
          </a:xfrm>
          <a:prstGeom prst="rect">
            <a:avLst/>
          </a:prstGeom>
          <a:noFill/>
          <a:ln/>
        </p:spPr>
        <p:txBody>
          <a:bodyPr wrap="square" lIns="0" tIns="0" rIns="0" bIns="0" rtlCol="0" anchor="ctr"/>
          <a:lstStyle/>
          <a:p>
            <a:pPr indent="0" marL="0">
              <a:buNone/>
            </a:pPr>
            <a:r>
              <a:rPr lang="en-US" sz="1600" b="1" dirty="0">
                <a:solidFill>
                  <a:srgbClr val="000000"/>
                </a:solidFill>
                <a:latin typeface="Times New Roman" pitchFamily="34" charset="0"/>
                <a:ea typeface="Times New Roman" pitchFamily="34" charset="-122"/>
                <a:cs typeface="Times New Roman" pitchFamily="34" charset="-120"/>
              </a:rPr>
              <a:t>Primary objectives</a:t>
            </a:r>
            <a:endParaRPr lang="en-US" sz="1600" dirty="0"/>
          </a:p>
        </p:txBody>
      </p:sp>
      <p:sp>
        <p:nvSpPr>
          <p:cNvPr id="7" name="Text 5"/>
          <p:cNvSpPr txBox="1"/>
          <p:nvPr/>
        </p:nvSpPr>
        <p:spPr>
          <a:xfrm>
            <a:off x="1005840" y="3060192"/>
            <a:ext cx="365760" cy="276352"/>
          </a:xfrm>
          <a:prstGeom prst="rect">
            <a:avLst/>
          </a:prstGeom>
          <a:noFill/>
          <a:ln/>
        </p:spPr>
        <p:txBody>
          <a:bodyPr wrap="square" lIns="0" tIns="0" rIns="0" bIns="0" rtlCol="0" anchor="t"/>
          <a:lstStyle/>
          <a:p>
            <a:pPr indent="0" marL="0">
              <a:lnSpc>
                <a:spcPts val="1600"/>
              </a:lnSpc>
              <a:buNone/>
            </a:pPr>
            <a:r>
              <a:rPr lang="en-US" sz="1200" dirty="0">
                <a:solidFill>
                  <a:srgbClr val="000000"/>
                </a:solidFill>
                <a:latin typeface="Times New Roman" pitchFamily="34" charset="0"/>
                <a:ea typeface="Times New Roman" pitchFamily="34" charset="-122"/>
                <a:cs typeface="Times New Roman" pitchFamily="34" charset="-120"/>
              </a:rPr>
              <a:t>1.</a:t>
            </a:r>
            <a:endParaRPr lang="en-US" sz="1200" dirty="0"/>
          </a:p>
        </p:txBody>
      </p:sp>
      <p:sp>
        <p:nvSpPr>
          <p:cNvPr id="8" name="Text 6"/>
          <p:cNvSpPr txBox="1"/>
          <p:nvPr/>
        </p:nvSpPr>
        <p:spPr>
          <a:xfrm>
            <a:off x="1444752" y="3060192"/>
            <a:ext cx="11375136" cy="479552"/>
          </a:xfrm>
          <a:prstGeom prst="rect">
            <a:avLst/>
          </a:prstGeom>
          <a:noFill/>
          <a:ln/>
        </p:spPr>
        <p:txBody>
          <a:bodyPr wrap="square" lIns="0" tIns="0" rIns="0" bIns="0" rtlCol="0" anchor="t"/>
          <a:lstStyle/>
          <a:p>
            <a:pPr indent="0" marL="0">
              <a:lnSpc>
                <a:spcPts val="1600"/>
              </a:lnSpc>
              <a:buNone/>
            </a:pPr>
            <a:r>
              <a:rPr lang="en-US" sz="1200" dirty="0">
                <a:solidFill>
                  <a:srgbClr val="000000"/>
                </a:solidFill>
                <a:latin typeface="Times New Roman" pitchFamily="34" charset="0"/>
                <a:ea typeface="Times New Roman" pitchFamily="34" charset="-122"/>
                <a:cs typeface="Times New Roman" pitchFamily="34" charset="-120"/>
              </a:rPr>
              <a:t>To investigate the individual and interactive effects of display polarity and text colour on subjective visual fatigue, ocular behaviour, cognitive workload and task performance during prolonged tablet reading, with ambient illumination held constant at a single controlled level.</a:t>
            </a:r>
            <a:endParaRPr lang="en-US" sz="1200" dirty="0"/>
          </a:p>
        </p:txBody>
      </p:sp>
      <p:sp>
        <p:nvSpPr>
          <p:cNvPr id="9" name="Text 7"/>
          <p:cNvSpPr txBox="1"/>
          <p:nvPr/>
        </p:nvSpPr>
        <p:spPr>
          <a:xfrm>
            <a:off x="1005840" y="3686048"/>
            <a:ext cx="365760" cy="276352"/>
          </a:xfrm>
          <a:prstGeom prst="rect">
            <a:avLst/>
          </a:prstGeom>
          <a:noFill/>
          <a:ln/>
        </p:spPr>
        <p:txBody>
          <a:bodyPr wrap="square" lIns="0" tIns="0" rIns="0" bIns="0" rtlCol="0" anchor="t"/>
          <a:lstStyle/>
          <a:p>
            <a:pPr indent="0" marL="0">
              <a:lnSpc>
                <a:spcPts val="1600"/>
              </a:lnSpc>
              <a:buNone/>
            </a:pPr>
            <a:r>
              <a:rPr lang="en-US" sz="1200" dirty="0">
                <a:solidFill>
                  <a:srgbClr val="000000"/>
                </a:solidFill>
                <a:latin typeface="Times New Roman" pitchFamily="34" charset="0"/>
                <a:ea typeface="Times New Roman" pitchFamily="34" charset="-122"/>
                <a:cs typeface="Times New Roman" pitchFamily="34" charset="-120"/>
              </a:rPr>
              <a:t>2.</a:t>
            </a:r>
            <a:endParaRPr lang="en-US" sz="1200" dirty="0"/>
          </a:p>
        </p:txBody>
      </p:sp>
      <p:sp>
        <p:nvSpPr>
          <p:cNvPr id="10" name="Text 8"/>
          <p:cNvSpPr txBox="1"/>
          <p:nvPr/>
        </p:nvSpPr>
        <p:spPr>
          <a:xfrm>
            <a:off x="1444752" y="3686048"/>
            <a:ext cx="11375136" cy="479552"/>
          </a:xfrm>
          <a:prstGeom prst="rect">
            <a:avLst/>
          </a:prstGeom>
          <a:noFill/>
          <a:ln/>
        </p:spPr>
        <p:txBody>
          <a:bodyPr wrap="square" lIns="0" tIns="0" rIns="0" bIns="0" rtlCol="0" anchor="t"/>
          <a:lstStyle/>
          <a:p>
            <a:pPr indent="0" marL="0">
              <a:lnSpc>
                <a:spcPts val="1600"/>
              </a:lnSpc>
              <a:buNone/>
            </a:pPr>
            <a:r>
              <a:rPr lang="en-US" sz="1200" dirty="0">
                <a:solidFill>
                  <a:srgbClr val="000000"/>
                </a:solidFill>
                <a:latin typeface="Times New Roman" pitchFamily="34" charset="0"/>
                <a:ea typeface="Times New Roman" pitchFamily="34" charset="-122"/>
                <a:cs typeface="Times New Roman" pitchFamily="34" charset="-120"/>
              </a:rPr>
              <a:t>To model the contribution of luminance contrast and to distinguish it from residual, hue-specific effects, by computing standards-based contrast metrics for every condition and entering contrast explicitly alongside colour.</a:t>
            </a:r>
            <a:endParaRPr lang="en-US" sz="1200" dirty="0"/>
          </a:p>
        </p:txBody>
      </p:sp>
      <p:sp>
        <p:nvSpPr>
          <p:cNvPr id="11" name="Text 9"/>
          <p:cNvSpPr txBox="1"/>
          <p:nvPr/>
        </p:nvSpPr>
        <p:spPr>
          <a:xfrm>
            <a:off x="1005840" y="4311904"/>
            <a:ext cx="365760" cy="276352"/>
          </a:xfrm>
          <a:prstGeom prst="rect">
            <a:avLst/>
          </a:prstGeom>
          <a:noFill/>
          <a:ln/>
        </p:spPr>
        <p:txBody>
          <a:bodyPr wrap="square" lIns="0" tIns="0" rIns="0" bIns="0" rtlCol="0" anchor="t"/>
          <a:lstStyle/>
          <a:p>
            <a:pPr indent="0" marL="0">
              <a:lnSpc>
                <a:spcPts val="1600"/>
              </a:lnSpc>
              <a:buNone/>
            </a:pPr>
            <a:r>
              <a:rPr lang="en-US" sz="1200" dirty="0">
                <a:solidFill>
                  <a:srgbClr val="000000"/>
                </a:solidFill>
                <a:latin typeface="Times New Roman" pitchFamily="34" charset="0"/>
                <a:ea typeface="Times New Roman" pitchFamily="34" charset="-122"/>
                <a:cs typeface="Times New Roman" pitchFamily="34" charset="-120"/>
              </a:rPr>
              <a:t>3.</a:t>
            </a:r>
            <a:endParaRPr lang="en-US" sz="1200" dirty="0"/>
          </a:p>
        </p:txBody>
      </p:sp>
      <p:sp>
        <p:nvSpPr>
          <p:cNvPr id="12" name="Text 10"/>
          <p:cNvSpPr txBox="1"/>
          <p:nvPr/>
        </p:nvSpPr>
        <p:spPr>
          <a:xfrm>
            <a:off x="1444752" y="4311904"/>
            <a:ext cx="11375136" cy="479552"/>
          </a:xfrm>
          <a:prstGeom prst="rect">
            <a:avLst/>
          </a:prstGeom>
          <a:noFill/>
          <a:ln/>
        </p:spPr>
        <p:txBody>
          <a:bodyPr wrap="square" lIns="0" tIns="0" rIns="0" bIns="0" rtlCol="0" anchor="t"/>
          <a:lstStyle/>
          <a:p>
            <a:pPr indent="0" marL="0">
              <a:lnSpc>
                <a:spcPts val="1600"/>
              </a:lnSpc>
              <a:buNone/>
            </a:pPr>
            <a:r>
              <a:rPr lang="en-US" sz="1200" dirty="0">
                <a:solidFill>
                  <a:srgbClr val="000000"/>
                </a:solidFill>
                <a:latin typeface="Times New Roman" pitchFamily="34" charset="0"/>
                <a:ea typeface="Times New Roman" pitchFamily="34" charset="-122"/>
                <a:cs typeface="Times New Roman" pitchFamily="34" charset="-120"/>
              </a:rPr>
              <a:t>To determine the combination of polarity and text colour that minimises visual fatigue and maximises task performance at that illumination level, and to examine how participant characteristics moderate these effects.</a:t>
            </a:r>
            <a:endParaRPr lang="en-US" sz="1200" dirty="0"/>
          </a:p>
        </p:txBody>
      </p:sp>
      <p:sp>
        <p:nvSpPr>
          <p:cNvPr id="13" name="Text 11"/>
          <p:cNvSpPr txBox="1"/>
          <p:nvPr/>
        </p:nvSpPr>
        <p:spPr>
          <a:xfrm>
            <a:off x="731520" y="5138928"/>
            <a:ext cx="12252960" cy="292608"/>
          </a:xfrm>
          <a:prstGeom prst="rect">
            <a:avLst/>
          </a:prstGeom>
          <a:noFill/>
          <a:ln/>
        </p:spPr>
        <p:txBody>
          <a:bodyPr wrap="square" lIns="0" tIns="0" rIns="0" bIns="0" rtlCol="0" anchor="ctr"/>
          <a:lstStyle/>
          <a:p>
            <a:pPr indent="0" marL="0">
              <a:buNone/>
            </a:pPr>
            <a:r>
              <a:rPr lang="en-US" sz="1600" b="1" dirty="0">
                <a:solidFill>
                  <a:srgbClr val="000000"/>
                </a:solidFill>
                <a:latin typeface="Times New Roman" pitchFamily="34" charset="0"/>
                <a:ea typeface="Times New Roman" pitchFamily="34" charset="-122"/>
                <a:cs typeface="Times New Roman" pitchFamily="34" charset="-120"/>
              </a:rPr>
              <a:t>Methodological objective</a:t>
            </a:r>
            <a:endParaRPr lang="en-US" sz="1600" dirty="0"/>
          </a:p>
        </p:txBody>
      </p:sp>
      <p:sp>
        <p:nvSpPr>
          <p:cNvPr id="14" name="Text 12"/>
          <p:cNvSpPr txBox="1"/>
          <p:nvPr/>
        </p:nvSpPr>
        <p:spPr>
          <a:xfrm>
            <a:off x="1005840" y="5522976"/>
            <a:ext cx="365760" cy="276352"/>
          </a:xfrm>
          <a:prstGeom prst="rect">
            <a:avLst/>
          </a:prstGeom>
          <a:noFill/>
          <a:ln/>
        </p:spPr>
        <p:txBody>
          <a:bodyPr wrap="square" lIns="0" tIns="0" rIns="0" bIns="0" rtlCol="0" anchor="t"/>
          <a:lstStyle/>
          <a:p>
            <a:pPr indent="0" marL="0">
              <a:lnSpc>
                <a:spcPts val="1600"/>
              </a:lnSpc>
              <a:buNone/>
            </a:pPr>
            <a:r>
              <a:rPr lang="en-US" sz="1200" dirty="0">
                <a:solidFill>
                  <a:srgbClr val="000000"/>
                </a:solidFill>
                <a:latin typeface="Times New Roman" pitchFamily="34" charset="0"/>
                <a:ea typeface="Times New Roman" pitchFamily="34" charset="-122"/>
                <a:cs typeface="Times New Roman" pitchFamily="34" charset="-120"/>
              </a:rPr>
              <a:t>4.</a:t>
            </a:r>
            <a:endParaRPr lang="en-US" sz="1200" dirty="0"/>
          </a:p>
        </p:txBody>
      </p:sp>
      <p:sp>
        <p:nvSpPr>
          <p:cNvPr id="15" name="Text 13"/>
          <p:cNvSpPr txBox="1"/>
          <p:nvPr/>
        </p:nvSpPr>
        <p:spPr>
          <a:xfrm>
            <a:off x="1444752" y="5522976"/>
            <a:ext cx="11375136" cy="479552"/>
          </a:xfrm>
          <a:prstGeom prst="rect">
            <a:avLst/>
          </a:prstGeom>
          <a:noFill/>
          <a:ln/>
        </p:spPr>
        <p:txBody>
          <a:bodyPr wrap="square" lIns="0" tIns="0" rIns="0" bIns="0" rtlCol="0" anchor="t"/>
          <a:lstStyle/>
          <a:p>
            <a:pPr indent="0" marL="0">
              <a:lnSpc>
                <a:spcPts val="1600"/>
              </a:lnSpc>
              <a:buNone/>
            </a:pPr>
            <a:r>
              <a:rPr lang="en-US" sz="1200" dirty="0">
                <a:solidFill>
                  <a:srgbClr val="000000"/>
                </a:solidFill>
                <a:latin typeface="Times New Roman" pitchFamily="34" charset="0"/>
                <a:ea typeface="Times New Roman" pitchFamily="34" charset="-122"/>
                <a:cs typeface="Times New Roman" pitchFamily="34" charset="-120"/>
              </a:rPr>
              <a:t>To establish the feasibility and criterion validity of tablet-based camera metrology for this purpose, including the agreement of automated blink classification against manual annotation, and the correspondence between subjective and objective indices.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1520" y="384048"/>
            <a:ext cx="12252960" cy="566928"/>
          </a:xfrm>
          <a:prstGeom prst="rect">
            <a:avLst/>
          </a:prstGeom>
          <a:noFill/>
          <a:ln/>
        </p:spPr>
        <p:txBody>
          <a:bodyPr wrap="square" lIns="0" tIns="0" rIns="0" bIns="0" rtlCol="0" anchor="t"/>
          <a:lstStyle/>
          <a:p>
            <a:pPr indent="0" marL="0">
              <a:buNone/>
            </a:pPr>
            <a:r>
              <a:rPr lang="en-US" sz="2400" b="1" dirty="0">
                <a:solidFill>
                  <a:srgbClr val="1F3864"/>
                </a:solidFill>
                <a:latin typeface="Times New Roman" pitchFamily="34" charset="0"/>
                <a:ea typeface="Times New Roman" pitchFamily="34" charset="-122"/>
                <a:cs typeface="Times New Roman" pitchFamily="34" charset="-120"/>
              </a:rPr>
              <a:t>3. Aim and Objectives — Hypotheses</a:t>
            </a:r>
            <a:endParaRPr lang="en-US" sz="2400" dirty="0"/>
          </a:p>
        </p:txBody>
      </p:sp>
      <p:sp>
        <p:nvSpPr>
          <p:cNvPr id="3" name="Text 1"/>
          <p:cNvSpPr txBox="1"/>
          <p:nvPr/>
        </p:nvSpPr>
        <p:spPr>
          <a:xfrm>
            <a:off x="12435840" y="8229600"/>
            <a:ext cx="548640" cy="274320"/>
          </a:xfrm>
          <a:prstGeom prst="rect">
            <a:avLst/>
          </a:prstGeom>
          <a:noFill/>
          <a:ln/>
        </p:spPr>
        <p:txBody>
          <a:bodyPr wrap="square" lIns="0" tIns="0" rIns="0" bIns="0" rtlCol="0" anchor="ctr"/>
          <a:lstStyle/>
          <a:p>
            <a:pPr algn="r" indent="0" marL="0">
              <a:buNone/>
            </a:pPr>
            <a:r>
              <a:rPr lang="en-US" sz="1100" dirty="0">
                <a:solidFill>
                  <a:srgbClr val="595959"/>
                </a:solidFill>
                <a:latin typeface="Times New Roman" pitchFamily="34" charset="0"/>
                <a:ea typeface="Times New Roman" pitchFamily="34" charset="-122"/>
                <a:cs typeface="Times New Roman" pitchFamily="34" charset="-120"/>
              </a:rPr>
              <a:t>9</a:t>
            </a:r>
            <a:endParaRPr lang="en-US" sz="1100" dirty="0"/>
          </a:p>
        </p:txBody>
      </p:sp>
      <p:sp>
        <p:nvSpPr>
          <p:cNvPr id="4" name="Text 2"/>
          <p:cNvSpPr txBox="1"/>
          <p:nvPr/>
        </p:nvSpPr>
        <p:spPr>
          <a:xfrm>
            <a:off x="731520" y="1280160"/>
            <a:ext cx="12252960" cy="479552"/>
          </a:xfrm>
          <a:prstGeom prst="rect">
            <a:avLst/>
          </a:prstGeom>
          <a:noFill/>
          <a:ln/>
        </p:spPr>
        <p:txBody>
          <a:bodyPr wrap="square" lIns="0" tIns="0" rIns="0" bIns="0" rtlCol="0" anchor="t"/>
          <a:lstStyle/>
          <a:p>
            <a:pPr indent="0" marL="0">
              <a:lnSpc>
                <a:spcPts val="1600"/>
              </a:lnSpc>
              <a:buNone/>
            </a:pPr>
            <a:r>
              <a:rPr lang="en-US" sz="1200" b="1" dirty="0">
                <a:solidFill>
                  <a:srgbClr val="000000"/>
                </a:solidFill>
                <a:latin typeface="Times New Roman" pitchFamily="34" charset="0"/>
                <a:ea typeface="Times New Roman" pitchFamily="34" charset="-122"/>
                <a:cs typeface="Times New Roman" pitchFamily="34" charset="-120"/>
              </a:rPr>
              <a:t>Null hypothesis (H₀).  </a:t>
            </a:r>
            <a:r>
              <a:rPr lang="en-US" sz="1200" dirty="0">
                <a:solidFill>
                  <a:srgbClr val="000000"/>
                </a:solidFill>
                <a:latin typeface="Times New Roman" pitchFamily="34" charset="0"/>
                <a:ea typeface="Times New Roman" pitchFamily="34" charset="-122"/>
                <a:cs typeface="Times New Roman" pitchFamily="34" charset="-120"/>
              </a:rPr>
              <a:t>Display polarity and text colour, individually or in combination, have no significant effect on visual fatigue, ocular behaviour or visual task performance during prolonged tablet reading at a controlled ambient illumination of 300 lux.</a:t>
            </a:r>
            <a:endParaRPr lang="en-US" sz="1200" dirty="0"/>
          </a:p>
        </p:txBody>
      </p:sp>
      <p:sp>
        <p:nvSpPr>
          <p:cNvPr id="5" name="Text 3"/>
          <p:cNvSpPr txBox="1"/>
          <p:nvPr/>
        </p:nvSpPr>
        <p:spPr>
          <a:xfrm>
            <a:off x="731520" y="1924304"/>
            <a:ext cx="12252960" cy="276352"/>
          </a:xfrm>
          <a:prstGeom prst="rect">
            <a:avLst/>
          </a:prstGeom>
          <a:noFill/>
          <a:ln/>
        </p:spPr>
        <p:txBody>
          <a:bodyPr wrap="square" lIns="0" tIns="0" rIns="0" bIns="0" rtlCol="0" anchor="t"/>
          <a:lstStyle/>
          <a:p>
            <a:pPr indent="0" marL="0">
              <a:lnSpc>
                <a:spcPts val="1600"/>
              </a:lnSpc>
              <a:buNone/>
            </a:pPr>
            <a:r>
              <a:rPr lang="en-US" sz="1200" b="1" dirty="0">
                <a:solidFill>
                  <a:srgbClr val="000000"/>
                </a:solidFill>
                <a:latin typeface="Times New Roman" pitchFamily="34" charset="0"/>
                <a:ea typeface="Times New Roman" pitchFamily="34" charset="-122"/>
                <a:cs typeface="Times New Roman" pitchFamily="34" charset="-120"/>
              </a:rPr>
              <a:t>Alternative hypothesis (H₁).  </a:t>
            </a:r>
            <a:r>
              <a:rPr lang="en-US" sz="1200" dirty="0">
                <a:solidFill>
                  <a:srgbClr val="000000"/>
                </a:solidFill>
                <a:latin typeface="Times New Roman" pitchFamily="34" charset="0"/>
                <a:ea typeface="Times New Roman" pitchFamily="34" charset="-122"/>
                <a:cs typeface="Times New Roman" pitchFamily="34" charset="-120"/>
              </a:rPr>
              <a:t>At least one of these factors, individually or in combination, significantly affects these outcomes.</a:t>
            </a:r>
            <a:endParaRPr lang="en-US" sz="1200" dirty="0"/>
          </a:p>
        </p:txBody>
      </p:sp>
      <p:sp>
        <p:nvSpPr>
          <p:cNvPr id="6" name="Text 4"/>
          <p:cNvSpPr txBox="1"/>
          <p:nvPr/>
        </p:nvSpPr>
        <p:spPr>
          <a:xfrm>
            <a:off x="731520" y="2529840"/>
            <a:ext cx="12252960" cy="292608"/>
          </a:xfrm>
          <a:prstGeom prst="rect">
            <a:avLst/>
          </a:prstGeom>
          <a:noFill/>
          <a:ln/>
        </p:spPr>
        <p:txBody>
          <a:bodyPr wrap="square" lIns="0" tIns="0" rIns="0" bIns="0" rtlCol="0" anchor="ctr"/>
          <a:lstStyle/>
          <a:p>
            <a:pPr indent="0" marL="0">
              <a:buNone/>
            </a:pPr>
            <a:r>
              <a:rPr lang="en-US" sz="1600" b="1" dirty="0">
                <a:solidFill>
                  <a:srgbClr val="000000"/>
                </a:solidFill>
                <a:latin typeface="Times New Roman" pitchFamily="34" charset="0"/>
                <a:ea typeface="Times New Roman" pitchFamily="34" charset="-122"/>
                <a:cs typeface="Times New Roman" pitchFamily="34" charset="-120"/>
              </a:rPr>
              <a:t>Hypotheses linked to the objectives</a:t>
            </a:r>
            <a:endParaRPr lang="en-US" sz="1600" dirty="0"/>
          </a:p>
        </p:txBody>
      </p:sp>
      <p:sp>
        <p:nvSpPr>
          <p:cNvPr id="7" name="Text 5"/>
          <p:cNvSpPr txBox="1"/>
          <p:nvPr/>
        </p:nvSpPr>
        <p:spPr>
          <a:xfrm>
            <a:off x="1005840" y="2913888"/>
            <a:ext cx="3200400" cy="276352"/>
          </a:xfrm>
          <a:prstGeom prst="rect">
            <a:avLst/>
          </a:prstGeom>
          <a:noFill/>
          <a:ln/>
        </p:spPr>
        <p:txBody>
          <a:bodyPr wrap="square" lIns="0" tIns="0" rIns="0" bIns="0" rtlCol="0" anchor="t"/>
          <a:lstStyle/>
          <a:p>
            <a:pPr indent="0" marL="0">
              <a:lnSpc>
                <a:spcPts val="1600"/>
              </a:lnSpc>
              <a:buNone/>
            </a:pPr>
            <a:r>
              <a:rPr lang="en-US" sz="1200" b="1" dirty="0">
                <a:solidFill>
                  <a:srgbClr val="000000"/>
                </a:solidFill>
                <a:latin typeface="Times New Roman" pitchFamily="34" charset="0"/>
                <a:ea typeface="Times New Roman" pitchFamily="34" charset="-122"/>
                <a:cs typeface="Times New Roman" pitchFamily="34" charset="-120"/>
              </a:rPr>
              <a:t>H₁ₐ  (Objective 1, main effects).</a:t>
            </a:r>
            <a:endParaRPr lang="en-US" sz="1200" dirty="0"/>
          </a:p>
        </p:txBody>
      </p:sp>
      <p:sp>
        <p:nvSpPr>
          <p:cNvPr id="8" name="Text 6"/>
          <p:cNvSpPr txBox="1"/>
          <p:nvPr/>
        </p:nvSpPr>
        <p:spPr>
          <a:xfrm>
            <a:off x="4343400" y="2913888"/>
            <a:ext cx="8458200" cy="479552"/>
          </a:xfrm>
          <a:prstGeom prst="rect">
            <a:avLst/>
          </a:prstGeom>
          <a:noFill/>
          <a:ln/>
        </p:spPr>
        <p:txBody>
          <a:bodyPr wrap="square" lIns="0" tIns="0" rIns="0" bIns="0" rtlCol="0" anchor="t"/>
          <a:lstStyle/>
          <a:p>
            <a:pPr indent="0" marL="0">
              <a:lnSpc>
                <a:spcPts val="1600"/>
              </a:lnSpc>
              <a:buNone/>
            </a:pPr>
            <a:r>
              <a:rPr lang="en-US" sz="1200" dirty="0">
                <a:solidFill>
                  <a:srgbClr val="000000"/>
                </a:solidFill>
                <a:latin typeface="Times New Roman" pitchFamily="34" charset="0"/>
                <a:ea typeface="Times New Roman" pitchFamily="34" charset="-122"/>
                <a:cs typeface="Times New Roman" pitchFamily="34" charset="-120"/>
              </a:rPr>
              <a:t>Positive polarity and higher luminance contrast are each associated with a lower incomplete-blink ratio, lower subjective visual fatigue and better task performance.</a:t>
            </a:r>
            <a:endParaRPr lang="en-US" sz="1200" dirty="0"/>
          </a:p>
        </p:txBody>
      </p:sp>
      <p:sp>
        <p:nvSpPr>
          <p:cNvPr id="9" name="Text 7"/>
          <p:cNvSpPr txBox="1"/>
          <p:nvPr/>
        </p:nvSpPr>
        <p:spPr>
          <a:xfrm>
            <a:off x="1005840" y="3612896"/>
            <a:ext cx="3200400" cy="276352"/>
          </a:xfrm>
          <a:prstGeom prst="rect">
            <a:avLst/>
          </a:prstGeom>
          <a:noFill/>
          <a:ln/>
        </p:spPr>
        <p:txBody>
          <a:bodyPr wrap="square" lIns="0" tIns="0" rIns="0" bIns="0" rtlCol="0" anchor="t"/>
          <a:lstStyle/>
          <a:p>
            <a:pPr indent="0" marL="0">
              <a:lnSpc>
                <a:spcPts val="1600"/>
              </a:lnSpc>
              <a:buNone/>
            </a:pPr>
            <a:r>
              <a:rPr lang="en-US" sz="1200" b="1" dirty="0">
                <a:solidFill>
                  <a:srgbClr val="000000"/>
                </a:solidFill>
                <a:latin typeface="Times New Roman" pitchFamily="34" charset="0"/>
                <a:ea typeface="Times New Roman" pitchFamily="34" charset="-122"/>
                <a:cs typeface="Times New Roman" pitchFamily="34" charset="-120"/>
              </a:rPr>
              <a:t>H₁ᵦ  (Objective 1, interaction).</a:t>
            </a:r>
            <a:endParaRPr lang="en-US" sz="1200" dirty="0"/>
          </a:p>
        </p:txBody>
      </p:sp>
      <p:sp>
        <p:nvSpPr>
          <p:cNvPr id="10" name="Text 8"/>
          <p:cNvSpPr txBox="1"/>
          <p:nvPr/>
        </p:nvSpPr>
        <p:spPr>
          <a:xfrm>
            <a:off x="4343400" y="3612896"/>
            <a:ext cx="8458200" cy="479552"/>
          </a:xfrm>
          <a:prstGeom prst="rect">
            <a:avLst/>
          </a:prstGeom>
          <a:noFill/>
          <a:ln/>
        </p:spPr>
        <p:txBody>
          <a:bodyPr wrap="square" lIns="0" tIns="0" rIns="0" bIns="0" rtlCol="0" anchor="t"/>
          <a:lstStyle/>
          <a:p>
            <a:pPr indent="0" marL="0">
              <a:lnSpc>
                <a:spcPts val="1600"/>
              </a:lnSpc>
              <a:buNone/>
            </a:pPr>
            <a:r>
              <a:rPr lang="en-US" sz="1200" dirty="0">
                <a:solidFill>
                  <a:srgbClr val="000000"/>
                </a:solidFill>
                <a:latin typeface="Times New Roman" pitchFamily="34" charset="0"/>
                <a:ea typeface="Times New Roman" pitchFamily="34" charset="-122"/>
                <a:cs typeface="Times New Roman" pitchFamily="34" charset="-120"/>
              </a:rPr>
              <a:t>The effect of text colour depends on polarity. The further prediction that negative polarity costs more under dim illumination (Dobres </a:t>
            </a:r>
            <a:r>
              <a:rPr lang="en-US" sz="1200" i="1" dirty="0">
                <a:solidFill>
                  <a:srgbClr val="000000"/>
                </a:solidFill>
                <a:latin typeface="Times New Roman" pitchFamily="34" charset="0"/>
                <a:ea typeface="Times New Roman" pitchFamily="34" charset="-122"/>
                <a:cs typeface="Times New Roman" pitchFamily="34" charset="-120"/>
              </a:rPr>
              <a:t>et al.</a:t>
            </a:r>
            <a:r>
              <a:rPr lang="en-US" sz="1200" dirty="0">
                <a:solidFill>
                  <a:srgbClr val="000000"/>
                </a:solidFill>
                <a:latin typeface="Times New Roman" pitchFamily="34" charset="0"/>
                <a:ea typeface="Times New Roman" pitchFamily="34" charset="-122"/>
                <a:cs typeface="Times New Roman" pitchFamily="34" charset="-120"/>
              </a:rPr>
              <a:t>, 2017) is not tested here, illumination being held constant; it is retained as a stated limitation.</a:t>
            </a:r>
            <a:endParaRPr lang="en-US" sz="1200" dirty="0"/>
          </a:p>
        </p:txBody>
      </p:sp>
      <p:sp>
        <p:nvSpPr>
          <p:cNvPr id="11" name="Text 9"/>
          <p:cNvSpPr txBox="1"/>
          <p:nvPr/>
        </p:nvSpPr>
        <p:spPr>
          <a:xfrm>
            <a:off x="1005840" y="4311904"/>
            <a:ext cx="3200400" cy="276352"/>
          </a:xfrm>
          <a:prstGeom prst="rect">
            <a:avLst/>
          </a:prstGeom>
          <a:noFill/>
          <a:ln/>
        </p:spPr>
        <p:txBody>
          <a:bodyPr wrap="square" lIns="0" tIns="0" rIns="0" bIns="0" rtlCol="0" anchor="t"/>
          <a:lstStyle/>
          <a:p>
            <a:pPr indent="0" marL="0">
              <a:lnSpc>
                <a:spcPts val="1600"/>
              </a:lnSpc>
              <a:buNone/>
            </a:pPr>
            <a:r>
              <a:rPr lang="en-US" sz="1200" b="1" dirty="0">
                <a:solidFill>
                  <a:srgbClr val="000000"/>
                </a:solidFill>
                <a:latin typeface="Times New Roman" pitchFamily="34" charset="0"/>
                <a:ea typeface="Times New Roman" pitchFamily="34" charset="-122"/>
                <a:cs typeface="Times New Roman" pitchFamily="34" charset="-120"/>
              </a:rPr>
              <a:t>H₁ᵪ  (Objective 2, contrast mediation).</a:t>
            </a:r>
            <a:endParaRPr lang="en-US" sz="1200" dirty="0"/>
          </a:p>
        </p:txBody>
      </p:sp>
      <p:sp>
        <p:nvSpPr>
          <p:cNvPr id="12" name="Text 10"/>
          <p:cNvSpPr txBox="1"/>
          <p:nvPr/>
        </p:nvSpPr>
        <p:spPr>
          <a:xfrm>
            <a:off x="4343400" y="4311904"/>
            <a:ext cx="8458200" cy="682752"/>
          </a:xfrm>
          <a:prstGeom prst="rect">
            <a:avLst/>
          </a:prstGeom>
          <a:noFill/>
          <a:ln/>
        </p:spPr>
        <p:txBody>
          <a:bodyPr wrap="square" lIns="0" tIns="0" rIns="0" bIns="0" rtlCol="0" anchor="t"/>
          <a:lstStyle/>
          <a:p>
            <a:pPr indent="0" marL="0">
              <a:lnSpc>
                <a:spcPts val="1600"/>
              </a:lnSpc>
              <a:buNone/>
            </a:pPr>
            <a:r>
              <a:rPr lang="en-US" sz="1200" dirty="0">
                <a:solidFill>
                  <a:srgbClr val="000000"/>
                </a:solidFill>
                <a:latin typeface="Times New Roman" pitchFamily="34" charset="0"/>
                <a:ea typeface="Times New Roman" pitchFamily="34" charset="-122"/>
                <a:cs typeface="Times New Roman" pitchFamily="34" charset="-120"/>
              </a:rPr>
              <a:t>Colour-related variance is largely accounted for by luminance contrast. Because the computed contrast ordering reverses between the two polarities, contrast mediation predicts a matching reversal of the colour ordering, whereas a residual hue-specific effect predicts a consistent ordering — with red the a priori candidate exception (Fan </a:t>
            </a:r>
            <a:r>
              <a:rPr lang="en-US" sz="1200" i="1" dirty="0">
                <a:solidFill>
                  <a:srgbClr val="000000"/>
                </a:solidFill>
                <a:latin typeface="Times New Roman" pitchFamily="34" charset="0"/>
                <a:ea typeface="Times New Roman" pitchFamily="34" charset="-122"/>
                <a:cs typeface="Times New Roman" pitchFamily="34" charset="-120"/>
              </a:rPr>
              <a:t>et al.</a:t>
            </a:r>
            <a:r>
              <a:rPr lang="en-US" sz="1200" dirty="0">
                <a:solidFill>
                  <a:srgbClr val="000000"/>
                </a:solidFill>
                <a:latin typeface="Times New Roman" pitchFamily="34" charset="0"/>
                <a:ea typeface="Times New Roman" pitchFamily="34" charset="-122"/>
                <a:cs typeface="Times New Roman" pitchFamily="34" charset="-120"/>
              </a:rPr>
              <a:t>, 2024).</a:t>
            </a:r>
            <a:endParaRPr lang="en-US" sz="1200" dirty="0"/>
          </a:p>
        </p:txBody>
      </p:sp>
      <p:sp>
        <p:nvSpPr>
          <p:cNvPr id="13" name="Text 11"/>
          <p:cNvSpPr txBox="1"/>
          <p:nvPr/>
        </p:nvSpPr>
        <p:spPr>
          <a:xfrm>
            <a:off x="1005840" y="5214112"/>
            <a:ext cx="3200400" cy="276352"/>
          </a:xfrm>
          <a:prstGeom prst="rect">
            <a:avLst/>
          </a:prstGeom>
          <a:noFill/>
          <a:ln/>
        </p:spPr>
        <p:txBody>
          <a:bodyPr wrap="square" lIns="0" tIns="0" rIns="0" bIns="0" rtlCol="0" anchor="t"/>
          <a:lstStyle/>
          <a:p>
            <a:pPr indent="0" marL="0">
              <a:lnSpc>
                <a:spcPts val="1600"/>
              </a:lnSpc>
              <a:buNone/>
            </a:pPr>
            <a:r>
              <a:rPr lang="en-US" sz="1200" b="1" dirty="0">
                <a:solidFill>
                  <a:srgbClr val="000000"/>
                </a:solidFill>
                <a:latin typeface="Times New Roman" pitchFamily="34" charset="0"/>
                <a:ea typeface="Times New Roman" pitchFamily="34" charset="-122"/>
                <a:cs typeface="Times New Roman" pitchFamily="34" charset="-120"/>
              </a:rPr>
              <a:t>H₁ᵨ  (Objective 3, moderation).</a:t>
            </a:r>
            <a:endParaRPr lang="en-US" sz="1200" dirty="0"/>
          </a:p>
        </p:txBody>
      </p:sp>
      <p:sp>
        <p:nvSpPr>
          <p:cNvPr id="14" name="Text 12"/>
          <p:cNvSpPr txBox="1"/>
          <p:nvPr/>
        </p:nvSpPr>
        <p:spPr>
          <a:xfrm>
            <a:off x="4343400" y="5214112"/>
            <a:ext cx="8458200" cy="479552"/>
          </a:xfrm>
          <a:prstGeom prst="rect">
            <a:avLst/>
          </a:prstGeom>
          <a:noFill/>
          <a:ln/>
        </p:spPr>
        <p:txBody>
          <a:bodyPr wrap="square" lIns="0" tIns="0" rIns="0" bIns="0" rtlCol="0" anchor="t"/>
          <a:lstStyle/>
          <a:p>
            <a:pPr indent="0" marL="0">
              <a:lnSpc>
                <a:spcPts val="1600"/>
              </a:lnSpc>
              <a:buNone/>
            </a:pPr>
            <a:r>
              <a:rPr lang="en-US" sz="1200" dirty="0">
                <a:solidFill>
                  <a:srgbClr val="000000"/>
                </a:solidFill>
                <a:latin typeface="Times New Roman" pitchFamily="34" charset="0"/>
                <a:ea typeface="Times New Roman" pitchFamily="34" charset="-122"/>
                <a:cs typeface="Times New Roman" pitchFamily="34" charset="-120"/>
              </a:rPr>
              <a:t>Habitual display-mode preference, habitual screen exposure, typical ambient-lighting environment and digital literacy moderate the magnitude of these effects.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1520" y="384048"/>
            <a:ext cx="12252960" cy="566928"/>
          </a:xfrm>
          <a:prstGeom prst="rect">
            <a:avLst/>
          </a:prstGeom>
          <a:noFill/>
          <a:ln/>
        </p:spPr>
        <p:txBody>
          <a:bodyPr wrap="square" lIns="0" tIns="0" rIns="0" bIns="0" rtlCol="0" anchor="t"/>
          <a:lstStyle/>
          <a:p>
            <a:pPr indent="0" marL="0">
              <a:buNone/>
            </a:pPr>
            <a:r>
              <a:rPr lang="en-US" sz="2400" b="1" dirty="0">
                <a:solidFill>
                  <a:srgbClr val="1F3864"/>
                </a:solidFill>
                <a:latin typeface="Times New Roman" pitchFamily="34" charset="0"/>
                <a:ea typeface="Times New Roman" pitchFamily="34" charset="-122"/>
                <a:cs typeface="Times New Roman" pitchFamily="34" charset="-120"/>
              </a:rPr>
              <a:t>4. Methods and Methodology — Study Design and Display Conditions</a:t>
            </a:r>
            <a:endParaRPr lang="en-US" sz="2400" dirty="0"/>
          </a:p>
        </p:txBody>
      </p:sp>
      <p:sp>
        <p:nvSpPr>
          <p:cNvPr id="3" name="Text 1"/>
          <p:cNvSpPr txBox="1"/>
          <p:nvPr/>
        </p:nvSpPr>
        <p:spPr>
          <a:xfrm>
            <a:off x="12435840" y="8229600"/>
            <a:ext cx="548640" cy="274320"/>
          </a:xfrm>
          <a:prstGeom prst="rect">
            <a:avLst/>
          </a:prstGeom>
          <a:noFill/>
          <a:ln/>
        </p:spPr>
        <p:txBody>
          <a:bodyPr wrap="square" lIns="0" tIns="0" rIns="0" bIns="0" rtlCol="0" anchor="ctr"/>
          <a:lstStyle/>
          <a:p>
            <a:pPr algn="r" indent="0" marL="0">
              <a:buNone/>
            </a:pPr>
            <a:r>
              <a:rPr lang="en-US" sz="1100" dirty="0">
                <a:solidFill>
                  <a:srgbClr val="595959"/>
                </a:solidFill>
                <a:latin typeface="Times New Roman" pitchFamily="34" charset="0"/>
                <a:ea typeface="Times New Roman" pitchFamily="34" charset="-122"/>
                <a:cs typeface="Times New Roman" pitchFamily="34" charset="-120"/>
              </a:rPr>
              <a:t>10</a:t>
            </a:r>
            <a:endParaRPr lang="en-US" sz="1100" dirty="0"/>
          </a:p>
        </p:txBody>
      </p:sp>
      <p:sp>
        <p:nvSpPr>
          <p:cNvPr id="4" name="Text 2"/>
          <p:cNvSpPr txBox="1"/>
          <p:nvPr/>
        </p:nvSpPr>
        <p:spPr>
          <a:xfrm>
            <a:off x="731520" y="1280160"/>
            <a:ext cx="12252960" cy="3088640"/>
          </a:xfrm>
          <a:prstGeom prst="rect">
            <a:avLst/>
          </a:prstGeom>
          <a:noFill/>
          <a:ln/>
        </p:spPr>
        <p:txBody>
          <a:bodyPr wrap="square" lIns="0" tIns="0" rIns="0" bIns="0" rtlCol="0" anchor="t"/>
          <a:lstStyle/>
          <a:p>
            <a:pPr marL="203200" indent="-203200">
              <a:lnSpc>
                <a:spcPts val="1600"/>
              </a:lnSpc>
              <a:spcAft>
                <a:spcPts val="700"/>
              </a:spcAft>
              <a:buSzPct val="100000"/>
              <a:buChar char="•"/>
            </a:pPr>
            <a:r>
              <a:rPr lang="en-US" sz="1200" i="1" dirty="0">
                <a:solidFill>
                  <a:srgbClr val="000000"/>
                </a:solidFill>
                <a:latin typeface="Times New Roman" pitchFamily="34" charset="0"/>
                <a:ea typeface="Times New Roman" pitchFamily="34" charset="-122"/>
                <a:cs typeface="Times New Roman" pitchFamily="34" charset="-120"/>
              </a:rPr>
              <a:t>Design.</a:t>
            </a:r>
            <a:r>
              <a:rPr lang="en-US" sz="1200" dirty="0">
                <a:solidFill>
                  <a:srgbClr val="000000"/>
                </a:solidFill>
                <a:latin typeface="Times New Roman" pitchFamily="34" charset="0"/>
                <a:ea typeface="Times New Roman" pitchFamily="34" charset="-122"/>
                <a:cs typeface="Times New Roman" pitchFamily="34" charset="-120"/>
              </a:rPr>
              <a:t> A repeated-measures (within-subject) factorial design. Display polarity (positive, negative) is crossed with text colour (achromatic, blue, red, yellow, green), giving ten display conditions, each presented once in a single sitting. Each participant contributes ten condition-runs and serves as their own control; 130 analysed participants give 1,300 condition-runs.</a:t>
            </a:r>
            <a:endParaRPr lang="en-US" sz="1200" dirty="0"/>
          </a:p>
          <a:p>
            <a:pPr marL="203200" indent="-203200">
              <a:lnSpc>
                <a:spcPts val="1600"/>
              </a:lnSpc>
              <a:spcAft>
                <a:spcPts val="700"/>
              </a:spcAft>
              <a:buSzPct val="100000"/>
              <a:buChar char="•"/>
            </a:pPr>
            <a:r>
              <a:rPr lang="en-US" sz="1200" i="1" dirty="0">
                <a:solidFill>
                  <a:srgbClr val="000000"/>
                </a:solidFill>
                <a:latin typeface="Times New Roman" pitchFamily="34" charset="0"/>
                <a:ea typeface="Times New Roman" pitchFamily="34" charset="-122"/>
                <a:cs typeface="Times New Roman" pitchFamily="34" charset="-120"/>
              </a:rPr>
              <a:t>Display conditions.</a:t>
            </a:r>
            <a:r>
              <a:rPr lang="en-US" sz="1200" dirty="0">
                <a:solidFill>
                  <a:srgbClr val="000000"/>
                </a:solidFill>
                <a:latin typeface="Times New Roman" pitchFamily="34" charset="0"/>
                <a:ea typeface="Times New Roman" pitchFamily="34" charset="-122"/>
                <a:cs typeface="Times New Roman" pitchFamily="34" charset="-120"/>
              </a:rPr>
              <a:t> One tablet at a fixed white luminance, characterised photometrically before collection. Hex values are locked and WCAG contrast is computed from them, entering the analysis as a covariate. Because contrast on a white field falls as the text’s relative luminance rises while contrast on a black field rises with it, the rank order of the chromatic conditions is exactly inverted between the two polarities; the achromatic pair is contrast-matched at 21.00 : 1 in both, giving the one comparison in which a polarity effect cannot be attributed to contrast.</a:t>
            </a:r>
            <a:endParaRPr lang="en-US" sz="1200" dirty="0"/>
          </a:p>
          <a:p>
            <a:pPr marL="203200" indent="-203200">
              <a:lnSpc>
                <a:spcPts val="1600"/>
              </a:lnSpc>
              <a:spcAft>
                <a:spcPts val="700"/>
              </a:spcAft>
              <a:buSzPct val="100000"/>
              <a:buChar char="•"/>
            </a:pPr>
            <a:r>
              <a:rPr lang="en-US" sz="1200" i="1" dirty="0">
                <a:solidFill>
                  <a:srgbClr val="000000"/>
                </a:solidFill>
                <a:latin typeface="Times New Roman" pitchFamily="34" charset="0"/>
                <a:ea typeface="Times New Roman" pitchFamily="34" charset="-122"/>
                <a:cs typeface="Times New Roman" pitchFamily="34" charset="-120"/>
              </a:rPr>
              <a:t>Ambient illumination.</a:t>
            </a:r>
            <a:r>
              <a:rPr lang="en-US" sz="1200" dirty="0">
                <a:solidFill>
                  <a:srgbClr val="000000"/>
                </a:solidFill>
                <a:latin typeface="Times New Roman" pitchFamily="34" charset="0"/>
                <a:ea typeface="Times New Roman" pitchFamily="34" charset="-122"/>
                <a:cs typeface="Times New Roman" pitchFamily="34" charset="-120"/>
              </a:rPr>
              <a:t> Held constant at 300 lux (accepted 250–350), verified at the eye position and the display plane with a calibrated meter and logged three times per sitting. It is a controlled variable with a manipulation check, not a factor, and the level is high enough that room light rather than the display dominates the illuminance on the reader’s face — necessary because the ocular measures are camera-derived.</a:t>
            </a:r>
            <a:endParaRPr lang="en-US" sz="1200" dirty="0"/>
          </a:p>
          <a:p>
            <a:pPr marL="203200" indent="-203200">
              <a:lnSpc>
                <a:spcPts val="1600"/>
              </a:lnSpc>
              <a:spcAft>
                <a:spcPts val="700"/>
              </a:spcAft>
              <a:buSzPct val="100000"/>
              <a:buChar char="•"/>
            </a:pPr>
            <a:r>
              <a:rPr lang="en-US" sz="1200" i="1" dirty="0">
                <a:solidFill>
                  <a:srgbClr val="000000"/>
                </a:solidFill>
                <a:latin typeface="Times New Roman" pitchFamily="34" charset="0"/>
                <a:ea typeface="Times New Roman" pitchFamily="34" charset="-122"/>
                <a:cs typeface="Times New Roman" pitchFamily="34" charset="-120"/>
              </a:rPr>
              <a:t>Counterbalancing.</a:t>
            </a:r>
            <a:r>
              <a:rPr lang="en-US" sz="1200" dirty="0">
                <a:solidFill>
                  <a:srgbClr val="000000"/>
                </a:solidFill>
                <a:latin typeface="Times New Roman" pitchFamily="34" charset="0"/>
                <a:ea typeface="Times New Roman" pitchFamily="34" charset="-122"/>
                <a:cs typeface="Times New Roman" pitchFamily="34" charset="-120"/>
              </a:rPr>
              <a:t> A balanced Williams-type Latin square over the ten conditions: each condition occupies each serial position equally often, and precedes and follows every other equally often. Participants are assigned to rows by enrolment number, with complete balance in blocks of ten. Ten reading passages cover the ten runs, each read exactly once, so no practice effect requires adjustment.</a:t>
            </a:r>
            <a:endParaRPr lang="en-US" sz="1200" dirty="0"/>
          </a:p>
        </p:txBody>
      </p:sp>
      <p:pic>
        <p:nvPicPr>
          <p:cNvPr id="5" name="Image 0" descr="/home/user/PhD-PWA/synopsis/figures/fig_design.png">    </p:cNvPr>
          <p:cNvPicPr>
            <a:picLocks noChangeAspect="1"/>
          </p:cNvPicPr>
          <p:nvPr/>
        </p:nvPicPr>
        <p:blipFill>
          <a:blip r:embed="rId1"/>
          <a:stretch>
            <a:fillRect/>
          </a:stretch>
        </p:blipFill>
        <p:spPr>
          <a:xfrm>
            <a:off x="2926080" y="4533392"/>
            <a:ext cx="7863840" cy="3104147"/>
          </a:xfrm>
          <a:prstGeom prst="rect">
            <a:avLst/>
          </a:prstGeom>
        </p:spPr>
      </p:pic>
      <p:sp>
        <p:nvSpPr>
          <p:cNvPr id="6" name="Text 3"/>
          <p:cNvSpPr txBox="1"/>
          <p:nvPr/>
        </p:nvSpPr>
        <p:spPr>
          <a:xfrm>
            <a:off x="2926080" y="7728979"/>
            <a:ext cx="7863840" cy="274320"/>
          </a:xfrm>
          <a:prstGeom prst="rect">
            <a:avLst/>
          </a:prstGeom>
          <a:noFill/>
          <a:ln/>
        </p:spPr>
        <p:txBody>
          <a:bodyPr wrap="square" lIns="0" tIns="0" rIns="0" bIns="0" rtlCol="0" anchor="ctr"/>
          <a:lstStyle/>
          <a:p>
            <a:pPr indent="0" marL="0">
              <a:buNone/>
            </a:pPr>
            <a:r>
              <a:rPr lang="en-US" sz="1100" dirty="0">
                <a:solidFill>
                  <a:srgbClr val="000000"/>
                </a:solidFill>
                <a:latin typeface="Times New Roman" pitchFamily="34" charset="0"/>
                <a:ea typeface="Times New Roman" pitchFamily="34" charset="-122"/>
                <a:cs typeface="Times New Roman" pitchFamily="34" charset="-120"/>
              </a:rPr>
              <a:t>Figure 3. The ten display conditions one participant sees within a single sitting.</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1520" y="384048"/>
            <a:ext cx="12252960" cy="566928"/>
          </a:xfrm>
          <a:prstGeom prst="rect">
            <a:avLst/>
          </a:prstGeom>
          <a:noFill/>
          <a:ln/>
        </p:spPr>
        <p:txBody>
          <a:bodyPr wrap="square" lIns="0" tIns="0" rIns="0" bIns="0" rtlCol="0" anchor="t"/>
          <a:lstStyle/>
          <a:p>
            <a:pPr indent="0" marL="0">
              <a:buNone/>
            </a:pPr>
            <a:r>
              <a:rPr lang="en-US" sz="2400" b="1" dirty="0">
                <a:solidFill>
                  <a:srgbClr val="1F3864"/>
                </a:solidFill>
                <a:latin typeface="Times New Roman" pitchFamily="34" charset="0"/>
                <a:ea typeface="Times New Roman" pitchFamily="34" charset="-122"/>
                <a:cs typeface="Times New Roman" pitchFamily="34" charset="-120"/>
              </a:rPr>
              <a:t>4. Methods and Methodology — Participants and Eligibility</a:t>
            </a:r>
            <a:endParaRPr lang="en-US" sz="2400" dirty="0"/>
          </a:p>
        </p:txBody>
      </p:sp>
      <p:sp>
        <p:nvSpPr>
          <p:cNvPr id="3" name="Text 1"/>
          <p:cNvSpPr txBox="1"/>
          <p:nvPr/>
        </p:nvSpPr>
        <p:spPr>
          <a:xfrm>
            <a:off x="12435840" y="8229600"/>
            <a:ext cx="548640" cy="274320"/>
          </a:xfrm>
          <a:prstGeom prst="rect">
            <a:avLst/>
          </a:prstGeom>
          <a:noFill/>
          <a:ln/>
        </p:spPr>
        <p:txBody>
          <a:bodyPr wrap="square" lIns="0" tIns="0" rIns="0" bIns="0" rtlCol="0" anchor="ctr"/>
          <a:lstStyle/>
          <a:p>
            <a:pPr algn="r" indent="0" marL="0">
              <a:buNone/>
            </a:pPr>
            <a:r>
              <a:rPr lang="en-US" sz="1100" dirty="0">
                <a:solidFill>
                  <a:srgbClr val="595959"/>
                </a:solidFill>
                <a:latin typeface="Times New Roman" pitchFamily="34" charset="0"/>
                <a:ea typeface="Times New Roman" pitchFamily="34" charset="-122"/>
                <a:cs typeface="Times New Roman" pitchFamily="34" charset="-120"/>
              </a:rPr>
              <a:t>11</a:t>
            </a:r>
            <a:endParaRPr lang="en-US" sz="1100" dirty="0"/>
          </a:p>
        </p:txBody>
      </p:sp>
      <p:sp>
        <p:nvSpPr>
          <p:cNvPr id="4" name="Text 2"/>
          <p:cNvSpPr txBox="1"/>
          <p:nvPr/>
        </p:nvSpPr>
        <p:spPr>
          <a:xfrm>
            <a:off x="731520" y="1280160"/>
            <a:ext cx="6583680" cy="274320"/>
          </a:xfrm>
          <a:prstGeom prst="rect">
            <a:avLst/>
          </a:prstGeom>
          <a:noFill/>
          <a:ln/>
        </p:spPr>
        <p:txBody>
          <a:bodyPr wrap="square" lIns="0" tIns="0" rIns="0" bIns="0" rtlCol="0" anchor="ctr"/>
          <a:lstStyle/>
          <a:p>
            <a:pPr indent="0" marL="0">
              <a:buNone/>
            </a:pPr>
            <a:r>
              <a:rPr lang="en-US" sz="1100" dirty="0">
                <a:solidFill>
                  <a:srgbClr val="000000"/>
                </a:solidFill>
                <a:latin typeface="Times New Roman" pitchFamily="34" charset="0"/>
                <a:ea typeface="Times New Roman" pitchFamily="34" charset="-122"/>
                <a:cs typeface="Times New Roman" pitchFamily="34" charset="-120"/>
              </a:rPr>
              <a:t>Table 3.1 — Eligibility criteria.</a:t>
            </a:r>
            <a:endParaRPr lang="en-US" sz="11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731520" y="1572768"/>
          <a:ext cx="6583680" cy="914400"/>
        </p:xfrm>
        <a:graphic>
          <a:graphicData uri="http://schemas.openxmlformats.org/drawingml/2006/table">
            <a:tbl>
              <a:tblPr/>
              <a:tblGrid>
                <a:gridCol w="3291840"/>
                <a:gridCol w="3291840"/>
              </a:tblGrid>
              <a:tr h="502920">
                <a:tc>
                  <a:txBody>
                    <a:bodyPr/>
                    <a:lstStyle/>
                    <a:p>
                      <a:pPr algn="l" indent="0" marL="0">
                        <a:buNone/>
                      </a:pPr>
                      <a:r>
                        <a:rPr lang="en-US" sz="1100" b="1" dirty="0">
                          <a:solidFill>
                            <a:srgbClr val="000000"/>
                          </a:solidFill>
                          <a:latin typeface="Times New Roman" pitchFamily="34" charset="0"/>
                          <a:ea typeface="Times New Roman" pitchFamily="34" charset="-122"/>
                          <a:cs typeface="Times New Roman" pitchFamily="34" charset="-120"/>
                        </a:rPr>
                        <a:t>Inclusion</a:t>
                      </a:r>
                      <a:endParaRPr lang="en-US" sz="1100" dirty="0">
                        <a:latin typeface="Times New Roman" charset="0"/>
                        <a:ea typeface="Times New Roman" charset="0"/>
                        <a:cs typeface="Times New Roman" charset="0"/>
                      </a:endParaRPr>
                    </a:p>
                  </a:txBody>
                  <a:tcPr marL="45720" marR="45720" marT="45720" marB="4572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E8E8E8"/>
                    </a:solidFill>
                  </a:tcPr>
                </a:tc>
                <a:tc>
                  <a:txBody>
                    <a:bodyPr/>
                    <a:lstStyle/>
                    <a:p>
                      <a:pPr algn="l" indent="0" marL="0">
                        <a:buNone/>
                      </a:pPr>
                      <a:r>
                        <a:rPr lang="en-US" sz="1100" b="1" dirty="0">
                          <a:solidFill>
                            <a:srgbClr val="000000"/>
                          </a:solidFill>
                          <a:latin typeface="Times New Roman" pitchFamily="34" charset="0"/>
                          <a:ea typeface="Times New Roman" pitchFamily="34" charset="-122"/>
                          <a:cs typeface="Times New Roman" pitchFamily="34" charset="-120"/>
                        </a:rPr>
                        <a:t>Exclusion</a:t>
                      </a:r>
                      <a:endParaRPr lang="en-US" sz="1100" dirty="0">
                        <a:latin typeface="Times New Roman" charset="0"/>
                        <a:ea typeface="Times New Roman" charset="0"/>
                        <a:cs typeface="Times New Roman" charset="0"/>
                      </a:endParaRPr>
                    </a:p>
                  </a:txBody>
                  <a:tcPr marL="45720" marR="45720" marT="45720" marB="4572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E8E8E8"/>
                    </a:solidFill>
                  </a:tcPr>
                </a:tc>
              </a:tr>
              <a:tr h="502920">
                <a:tc>
                  <a:txBody>
                    <a:bodyPr/>
                    <a:lstStyle/>
                    <a:p>
                      <a:pPr algn="l" indent="0" marL="0">
                        <a:buNone/>
                      </a:pPr>
                      <a:r>
                        <a:rPr lang="en-US" sz="1100" dirty="0">
                          <a:solidFill>
                            <a:srgbClr val="000000"/>
                          </a:solidFill>
                          <a:latin typeface="Times New Roman" pitchFamily="34" charset="0"/>
                          <a:ea typeface="Times New Roman" pitchFamily="34" charset="-122"/>
                          <a:cs typeface="Times New Roman" pitchFamily="34" charset="-120"/>
                        </a:rPr>
                        <a:t>Age 18 to 35 years</a:t>
                      </a:r>
                      <a:endParaRPr lang="en-US" sz="1100" dirty="0">
                        <a:latin typeface="Times New Roman" charset="0"/>
                        <a:ea typeface="Times New Roman" charset="0"/>
                        <a:cs typeface="Times New Roman" charset="0"/>
                      </a:endParaRPr>
                    </a:p>
                  </a:txBody>
                  <a:tcPr marL="45720" marR="45720" marT="45720" marB="4572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00000"/>
                          </a:solidFill>
                          <a:latin typeface="Times New Roman" pitchFamily="34" charset="0"/>
                          <a:ea typeface="Times New Roman" pitchFamily="34" charset="-122"/>
                          <a:cs typeface="Times New Roman" pitchFamily="34" charset="-120"/>
                        </a:rPr>
                        <a:t>Refractive error beyond ±3.00 D</a:t>
                      </a:r>
                      <a:endParaRPr lang="en-US" sz="1100" dirty="0">
                        <a:latin typeface="Times New Roman" charset="0"/>
                        <a:ea typeface="Times New Roman" charset="0"/>
                        <a:cs typeface="Times New Roman" charset="0"/>
                      </a:endParaRPr>
                    </a:p>
                  </a:txBody>
                  <a:tcPr marL="45720" marR="45720" marT="45720" marB="4572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r>
              <a:tr h="502920">
                <a:tc>
                  <a:txBody>
                    <a:bodyPr/>
                    <a:lstStyle/>
                    <a:p>
                      <a:pPr algn="l" indent="0" marL="0">
                        <a:buNone/>
                      </a:pPr>
                      <a:r>
                        <a:rPr lang="en-US" sz="1100" dirty="0">
                          <a:solidFill>
                            <a:srgbClr val="000000"/>
                          </a:solidFill>
                          <a:latin typeface="Times New Roman" pitchFamily="34" charset="0"/>
                          <a:ea typeface="Times New Roman" pitchFamily="34" charset="-122"/>
                          <a:cs typeface="Times New Roman" pitchFamily="34" charset="-120"/>
                        </a:rPr>
                        <a:t>Distance visual acuity 6/6 or better, with or without correction</a:t>
                      </a:r>
                      <a:endParaRPr lang="en-US" sz="1100" dirty="0">
                        <a:latin typeface="Times New Roman" charset="0"/>
                        <a:ea typeface="Times New Roman" charset="0"/>
                        <a:cs typeface="Times New Roman" charset="0"/>
                      </a:endParaRPr>
                    </a:p>
                  </a:txBody>
                  <a:tcPr marL="45720" marR="45720" marT="45720" marB="4572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00000"/>
                          </a:solidFill>
                          <a:latin typeface="Times New Roman" pitchFamily="34" charset="0"/>
                          <a:ea typeface="Times New Roman" pitchFamily="34" charset="-122"/>
                          <a:cs typeface="Times New Roman" pitchFamily="34" charset="-120"/>
                        </a:rPr>
                        <a:t>Manifest binocular vision disorder</a:t>
                      </a:r>
                      <a:endParaRPr lang="en-US" sz="1100" dirty="0">
                        <a:latin typeface="Times New Roman" charset="0"/>
                        <a:ea typeface="Times New Roman" charset="0"/>
                        <a:cs typeface="Times New Roman" charset="0"/>
                      </a:endParaRPr>
                    </a:p>
                  </a:txBody>
                  <a:tcPr marL="45720" marR="45720" marT="45720" marB="4572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r>
              <a:tr h="502920">
                <a:tc>
                  <a:txBody>
                    <a:bodyPr/>
                    <a:lstStyle/>
                    <a:p>
                      <a:pPr algn="l" indent="0" marL="0">
                        <a:buNone/>
                      </a:pPr>
                      <a:r>
                        <a:rPr lang="en-US" sz="1100" dirty="0">
                          <a:solidFill>
                            <a:srgbClr val="000000"/>
                          </a:solidFill>
                          <a:latin typeface="Times New Roman" pitchFamily="34" charset="0"/>
                          <a:ea typeface="Times New Roman" pitchFamily="34" charset="-122"/>
                          <a:cs typeface="Times New Roman" pitchFamily="34" charset="-120"/>
                        </a:rPr>
                        <a:t>Habitual screen use of at least four hours daily</a:t>
                      </a:r>
                      <a:endParaRPr lang="en-US" sz="1100" dirty="0">
                        <a:latin typeface="Times New Roman" charset="0"/>
                        <a:ea typeface="Times New Roman" charset="0"/>
                        <a:cs typeface="Times New Roman" charset="0"/>
                      </a:endParaRPr>
                    </a:p>
                  </a:txBody>
                  <a:tcPr marL="45720" marR="45720" marT="45720" marB="4572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00000"/>
                          </a:solidFill>
                          <a:latin typeface="Times New Roman" pitchFamily="34" charset="0"/>
                          <a:ea typeface="Times New Roman" pitchFamily="34" charset="-122"/>
                          <a:cs typeface="Times New Roman" pitchFamily="34" charset="-120"/>
                        </a:rPr>
                        <a:t>Colour-vision deficiency on screening</a:t>
                      </a:r>
                      <a:endParaRPr lang="en-US" sz="1100" dirty="0">
                        <a:latin typeface="Times New Roman" charset="0"/>
                        <a:ea typeface="Times New Roman" charset="0"/>
                        <a:cs typeface="Times New Roman" charset="0"/>
                      </a:endParaRPr>
                    </a:p>
                  </a:txBody>
                  <a:tcPr marL="45720" marR="45720" marT="45720" marB="4572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r>
              <a:tr h="502920">
                <a:tc>
                  <a:txBody>
                    <a:bodyPr/>
                    <a:lstStyle/>
                    <a:p>
                      <a:pPr algn="l" indent="0" marL="0">
                        <a:buNone/>
                      </a:pPr>
                      <a:r>
                        <a:rPr lang="en-US" sz="1100" dirty="0">
                          <a:solidFill>
                            <a:srgbClr val="000000"/>
                          </a:solidFill>
                          <a:latin typeface="Times New Roman" pitchFamily="34" charset="0"/>
                          <a:ea typeface="Times New Roman" pitchFamily="34" charset="-122"/>
                          <a:cs typeface="Times New Roman" pitchFamily="34" charset="-120"/>
                        </a:rPr>
                        <a:t>No known ocular, systemic or neurological illness</a:t>
                      </a:r>
                      <a:endParaRPr lang="en-US" sz="1100" dirty="0">
                        <a:latin typeface="Times New Roman" charset="0"/>
                        <a:ea typeface="Times New Roman" charset="0"/>
                        <a:cs typeface="Times New Roman" charset="0"/>
                      </a:endParaRPr>
                    </a:p>
                  </a:txBody>
                  <a:tcPr marL="45720" marR="45720" marT="45720" marB="4572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00000"/>
                          </a:solidFill>
                          <a:latin typeface="Times New Roman" pitchFamily="34" charset="0"/>
                          <a:ea typeface="Times New Roman" pitchFamily="34" charset="-122"/>
                          <a:cs typeface="Times New Roman" pitchFamily="34" charset="-120"/>
                        </a:rPr>
                        <a:t>History of photosensitivity or migraine</a:t>
                      </a:r>
                      <a:endParaRPr lang="en-US" sz="1100" dirty="0">
                        <a:latin typeface="Times New Roman" charset="0"/>
                        <a:ea typeface="Times New Roman" charset="0"/>
                        <a:cs typeface="Times New Roman" charset="0"/>
                      </a:endParaRPr>
                    </a:p>
                  </a:txBody>
                  <a:tcPr marL="45720" marR="45720" marT="45720" marB="4572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r>
              <a:tr h="502920">
                <a:tc>
                  <a:txBody>
                    <a:bodyPr/>
                    <a:lstStyle/>
                    <a:p>
                      <a:pPr algn="l" indent="0" marL="0">
                        <a:buNone/>
                      </a:pPr>
                      <a:r>
                        <a:rPr lang="en-US" sz="1100" dirty="0">
                          <a:solidFill>
                            <a:srgbClr val="000000"/>
                          </a:solidFill>
                          <a:latin typeface="Times New Roman" pitchFamily="34" charset="0"/>
                          <a:ea typeface="Times New Roman" pitchFamily="34" charset="-122"/>
                          <a:cs typeface="Times New Roman" pitchFamily="34" charset="-120"/>
                        </a:rPr>
                        <a:t>Able to give written informed consent</a:t>
                      </a:r>
                      <a:endParaRPr lang="en-US" sz="1100" dirty="0">
                        <a:latin typeface="Times New Roman" charset="0"/>
                        <a:ea typeface="Times New Roman" charset="0"/>
                        <a:cs typeface="Times New Roman" charset="0"/>
                      </a:endParaRPr>
                    </a:p>
                  </a:txBody>
                  <a:tcPr marL="45720" marR="45720" marT="45720" marB="4572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00000"/>
                          </a:solidFill>
                          <a:latin typeface="Times New Roman" pitchFamily="34" charset="0"/>
                          <a:ea typeface="Times New Roman" pitchFamily="34" charset="-122"/>
                          <a:cs typeface="Times New Roman" pitchFamily="34" charset="-120"/>
                        </a:rPr>
                        <a:t>Medication affecting vision, accommodation or tear film</a:t>
                      </a:r>
                      <a:endParaRPr lang="en-US" sz="1100" dirty="0">
                        <a:latin typeface="Times New Roman" charset="0"/>
                        <a:ea typeface="Times New Roman" charset="0"/>
                        <a:cs typeface="Times New Roman" charset="0"/>
                      </a:endParaRPr>
                    </a:p>
                  </a:txBody>
                  <a:tcPr marL="45720" marR="45720" marT="45720" marB="4572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r>
              <a:tr h="502920">
                <a:tc>
                  <a:txBody>
                    <a:bodyPr/>
                    <a:lstStyle/>
                    <a:p>
                      <a:pPr algn="l" indent="0" marL="0">
                        <a:buNone/>
                      </a:pPr>
                      <a:r>
                        <a:rPr lang="en-US" sz="1100" dirty="0">
                          <a:solidFill>
                            <a:srgbClr val="000000"/>
                          </a:solidFill>
                          <a:latin typeface="Times New Roman" pitchFamily="34" charset="0"/>
                          <a:ea typeface="Times New Roman" pitchFamily="34" charset="-122"/>
                          <a:cs typeface="Times New Roman" pitchFamily="34" charset="-120"/>
                        </a:rPr>
                        <a:t>Able to attend one sitting of approximately 100 minutes</a:t>
                      </a:r>
                      <a:endParaRPr lang="en-US" sz="1100" dirty="0">
                        <a:latin typeface="Times New Roman" charset="0"/>
                        <a:ea typeface="Times New Roman" charset="0"/>
                        <a:cs typeface="Times New Roman" charset="0"/>
                      </a:endParaRPr>
                    </a:p>
                  </a:txBody>
                  <a:tcPr marL="45720" marR="45720" marT="45720" marB="4572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00000"/>
                          </a:solidFill>
                          <a:latin typeface="Times New Roman" pitchFamily="34" charset="0"/>
                          <a:ea typeface="Times New Roman" pitchFamily="34" charset="-122"/>
                          <a:cs typeface="Times New Roman" pitchFamily="34" charset="-120"/>
                        </a:rPr>
                        <a:t>Diagnosed learning or psychiatric disorder</a:t>
                      </a:r>
                      <a:endParaRPr lang="en-US" sz="1100" dirty="0">
                        <a:latin typeface="Times New Roman" charset="0"/>
                        <a:ea typeface="Times New Roman" charset="0"/>
                        <a:cs typeface="Times New Roman" charset="0"/>
                      </a:endParaRPr>
                    </a:p>
                  </a:txBody>
                  <a:tcPr marL="45720" marR="45720" marT="45720" marB="4572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r>
              <a:tr h="502920">
                <a:tc>
                  <a:txBody>
                    <a:bodyPr/>
                    <a:lstStyle/>
                    <a:p>
                      <a:pPr algn="l" indent="0" marL="0">
                        <a:buNone/>
                      </a:pPr>
                      <a:r>
                        <a:rPr lang="en-US" sz="1100" dirty="0">
                          <a:solidFill>
                            <a:srgbClr val="000000"/>
                          </a:solidFill>
                          <a:latin typeface="Times New Roman" pitchFamily="34" charset="0"/>
                          <a:ea typeface="Times New Roman" pitchFamily="34" charset="-122"/>
                          <a:cs typeface="Times New Roman" pitchFamily="34" charset="-120"/>
                        </a:rPr>
                        <a:t>—</a:t>
                      </a:r>
                      <a:endParaRPr lang="en-US" sz="1100" dirty="0">
                        <a:latin typeface="Times New Roman" charset="0"/>
                        <a:ea typeface="Times New Roman" charset="0"/>
                        <a:cs typeface="Times New Roman" charset="0"/>
                      </a:endParaRPr>
                    </a:p>
                  </a:txBody>
                  <a:tcPr marL="45720" marR="45720" marT="45720" marB="4572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00000"/>
                          </a:solidFill>
                          <a:latin typeface="Times New Roman" pitchFamily="34" charset="0"/>
                          <a:ea typeface="Times New Roman" pitchFamily="34" charset="-122"/>
                          <a:cs typeface="Times New Roman" pitchFamily="34" charset="-120"/>
                        </a:rPr>
                        <a:t>Contact-lens wear on test days; ocular surgery within six months</a:t>
                      </a:r>
                      <a:endParaRPr lang="en-US" sz="1100" dirty="0">
                        <a:latin typeface="Times New Roman" charset="0"/>
                        <a:ea typeface="Times New Roman" charset="0"/>
                        <a:cs typeface="Times New Roman" charset="0"/>
                      </a:endParaRPr>
                    </a:p>
                  </a:txBody>
                  <a:tcPr marL="45720" marR="45720" marT="45720" marB="4572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7863840" y="1280160"/>
            <a:ext cx="5120640" cy="292608"/>
          </a:xfrm>
          <a:prstGeom prst="rect">
            <a:avLst/>
          </a:prstGeom>
          <a:noFill/>
          <a:ln/>
        </p:spPr>
        <p:txBody>
          <a:bodyPr wrap="square" lIns="0" tIns="0" rIns="0" bIns="0" rtlCol="0" anchor="ctr"/>
          <a:lstStyle/>
          <a:p>
            <a:pPr indent="0" marL="0">
              <a:buNone/>
            </a:pPr>
            <a:r>
              <a:rPr lang="en-US" sz="1600" b="1" dirty="0">
                <a:solidFill>
                  <a:srgbClr val="000000"/>
                </a:solidFill>
                <a:latin typeface="Times New Roman" pitchFamily="34" charset="0"/>
                <a:ea typeface="Times New Roman" pitchFamily="34" charset="-122"/>
                <a:cs typeface="Times New Roman" pitchFamily="34" charset="-120"/>
              </a:rPr>
              <a:t>Setting and sampling</a:t>
            </a:r>
            <a:endParaRPr lang="en-US" sz="1600" dirty="0"/>
          </a:p>
        </p:txBody>
      </p:sp>
      <p:sp>
        <p:nvSpPr>
          <p:cNvPr id="7" name="Text 4"/>
          <p:cNvSpPr txBox="1"/>
          <p:nvPr/>
        </p:nvSpPr>
        <p:spPr>
          <a:xfrm>
            <a:off x="7863840" y="1664208"/>
            <a:ext cx="5120640" cy="4079240"/>
          </a:xfrm>
          <a:prstGeom prst="rect">
            <a:avLst/>
          </a:prstGeom>
          <a:noFill/>
          <a:ln/>
        </p:spPr>
        <p:txBody>
          <a:bodyPr wrap="square" lIns="0" tIns="0" rIns="0" bIns="0" rtlCol="0" anchor="t"/>
          <a:lstStyle/>
          <a:p>
            <a:pPr marL="203200" indent="-203200">
              <a:lnSpc>
                <a:spcPts val="1600"/>
              </a:lnSpc>
              <a:spcAft>
                <a:spcPts val="700"/>
              </a:spcAft>
              <a:buSzPct val="100000"/>
              <a:buChar char="•"/>
            </a:pPr>
            <a:r>
              <a:rPr lang="en-US" sz="1200" dirty="0">
                <a:solidFill>
                  <a:srgbClr val="000000"/>
                </a:solidFill>
                <a:latin typeface="Times New Roman" pitchFamily="34" charset="0"/>
                <a:ea typeface="Times New Roman" pitchFamily="34" charset="-122"/>
                <a:cs typeface="Times New Roman" pitchFamily="34" charset="-120"/>
              </a:rPr>
              <a:t>A controlled laboratory room at Assam down town University, in which ambient illuminance can be held constant and daylight is excluded.</a:t>
            </a:r>
            <a:endParaRPr lang="en-US" sz="1200" dirty="0"/>
          </a:p>
          <a:p>
            <a:pPr marL="203200" indent="-203200">
              <a:lnSpc>
                <a:spcPts val="1600"/>
              </a:lnSpc>
              <a:spcAft>
                <a:spcPts val="700"/>
              </a:spcAft>
              <a:buSzPct val="100000"/>
              <a:buChar char="•"/>
            </a:pPr>
            <a:r>
              <a:rPr lang="en-US" sz="1200" dirty="0">
                <a:solidFill>
                  <a:srgbClr val="000000"/>
                </a:solidFill>
                <a:latin typeface="Times New Roman" pitchFamily="34" charset="0"/>
                <a:ea typeface="Times New Roman" pitchFamily="34" charset="-122"/>
                <a:cs typeface="Times New Roman" pitchFamily="34" charset="-120"/>
              </a:rPr>
              <a:t>Purposive sampling of university students and staff meeting the criteria opposite.</a:t>
            </a:r>
            <a:endParaRPr lang="en-US" sz="1200" dirty="0"/>
          </a:p>
          <a:p>
            <a:pPr marL="203200" indent="-203200">
              <a:lnSpc>
                <a:spcPts val="1600"/>
              </a:lnSpc>
              <a:spcAft>
                <a:spcPts val="700"/>
              </a:spcAft>
              <a:buSzPct val="100000"/>
              <a:buChar char="•"/>
            </a:pPr>
            <a:r>
              <a:rPr lang="en-US" sz="1200" i="1" dirty="0">
                <a:solidFill>
                  <a:srgbClr val="000000"/>
                </a:solidFill>
                <a:latin typeface="Times New Roman" pitchFamily="34" charset="0"/>
                <a:ea typeface="Times New Roman" pitchFamily="34" charset="-122"/>
                <a:cs typeface="Times New Roman" pitchFamily="34" charset="-120"/>
              </a:rPr>
              <a:t>145 enrolled, 130 analysed.</a:t>
            </a:r>
            <a:r>
              <a:rPr lang="en-US" sz="1200" dirty="0">
                <a:solidFill>
                  <a:srgbClr val="000000"/>
                </a:solidFill>
                <a:latin typeface="Times New Roman" pitchFamily="34" charset="0"/>
                <a:ea typeface="Times New Roman" pitchFamily="34" charset="-122"/>
                <a:cs typeface="Times New Roman" pitchFamily="34" charset="-120"/>
              </a:rPr>
              <a:t> The target is a multiple of ten, as the Williams counterbalancing requires, and was set by simulation rather than by a formula assuming independent observations.</a:t>
            </a:r>
            <a:endParaRPr lang="en-US" sz="1200" dirty="0"/>
          </a:p>
          <a:p>
            <a:pPr marL="203200" indent="-203200">
              <a:lnSpc>
                <a:spcPts val="1600"/>
              </a:lnSpc>
              <a:spcAft>
                <a:spcPts val="700"/>
              </a:spcAft>
              <a:buSzPct val="100000"/>
              <a:buChar char="•"/>
            </a:pPr>
            <a:r>
              <a:rPr lang="en-US" sz="1200" dirty="0">
                <a:solidFill>
                  <a:srgbClr val="000000"/>
                </a:solidFill>
                <a:latin typeface="Times New Roman" pitchFamily="34" charset="0"/>
                <a:ea typeface="Times New Roman" pitchFamily="34" charset="-122"/>
                <a:cs typeface="Times New Roman" pitchFamily="34" charset="-120"/>
              </a:rPr>
              <a:t>130 participants contribute </a:t>
            </a:r>
            <a:r>
              <a:rPr lang="en-US" sz="1200" i="1" dirty="0">
                <a:solidFill>
                  <a:srgbClr val="000000"/>
                </a:solidFill>
                <a:latin typeface="Times New Roman" pitchFamily="34" charset="0"/>
                <a:ea typeface="Times New Roman" pitchFamily="34" charset="-122"/>
                <a:cs typeface="Times New Roman" pitchFamily="34" charset="-120"/>
              </a:rPr>
              <a:t>1,300 condition-runs</a:t>
            </a:r>
            <a:r>
              <a:rPr lang="en-US" sz="1200" dirty="0">
                <a:solidFill>
                  <a:srgbClr val="000000"/>
                </a:solidFill>
                <a:latin typeface="Times New Roman" pitchFamily="34" charset="0"/>
                <a:ea typeface="Times New Roman" pitchFamily="34" charset="-122"/>
                <a:cs typeface="Times New Roman" pitchFamily="34" charset="-120"/>
              </a:rPr>
              <a:t>. Precision on the primary outcome follows the number of condition-runs, not the number of participants.</a:t>
            </a:r>
            <a:endParaRPr lang="en-US" sz="1200" dirty="0"/>
          </a:p>
          <a:p>
            <a:pPr marL="203200" indent="-203200">
              <a:lnSpc>
                <a:spcPts val="1600"/>
              </a:lnSpc>
              <a:spcAft>
                <a:spcPts val="700"/>
              </a:spcAft>
              <a:buSzPct val="100000"/>
              <a:buChar char="•"/>
            </a:pPr>
            <a:r>
              <a:rPr lang="en-US" sz="1200" dirty="0">
                <a:solidFill>
                  <a:srgbClr val="000000"/>
                </a:solidFill>
                <a:latin typeface="Times New Roman" pitchFamily="34" charset="0"/>
                <a:ea typeface="Times New Roman" pitchFamily="34" charset="-122"/>
                <a:cs typeface="Times New Roman" pitchFamily="34" charset="-120"/>
              </a:rPr>
              <a:t>One sitting per participant. Simulation over 2,000 synthetic participants gives a median of 98 minutes and a 95th percentile of 119 — also the total contact time, there being one visit.</a:t>
            </a:r>
            <a:endParaRPr lang="en-US" sz="1200" dirty="0"/>
          </a:p>
          <a:p>
            <a:pPr marL="203200" indent="-203200">
              <a:lnSpc>
                <a:spcPts val="1600"/>
              </a:lnSpc>
              <a:spcAft>
                <a:spcPts val="700"/>
              </a:spcAft>
              <a:buSzPct val="100000"/>
              <a:buChar char="•"/>
            </a:pPr>
            <a:r>
              <a:rPr lang="en-US" sz="1200" dirty="0">
                <a:solidFill>
                  <a:srgbClr val="000000"/>
                </a:solidFill>
                <a:latin typeface="Times New Roman" pitchFamily="34" charset="0"/>
                <a:ea typeface="Times New Roman" pitchFamily="34" charset="-122"/>
                <a:cs typeface="Times New Roman" pitchFamily="34" charset="-120"/>
              </a:rPr>
              <a:t>A pilot of ten precedes the main study. Failing a 120-minute median, one withdrawal in ten, or 0.90 face presence in a tenth of runs, the conditions are split across two sittings of five, with the Williams row continuing rather than restarting.</a:t>
            </a:r>
            <a:endParaRPr lang="en-US" sz="1200" dirty="0"/>
          </a:p>
        </p:txBody>
      </p:sp>
      <p:sp>
        <p:nvSpPr>
          <p:cNvPr id="8" name="Text 5"/>
          <p:cNvSpPr txBox="1"/>
          <p:nvPr/>
        </p:nvSpPr>
        <p:spPr>
          <a:xfrm>
            <a:off x="731520" y="6007608"/>
            <a:ext cx="6583680" cy="292608"/>
          </a:xfrm>
          <a:prstGeom prst="rect">
            <a:avLst/>
          </a:prstGeom>
          <a:noFill/>
          <a:ln/>
        </p:spPr>
        <p:txBody>
          <a:bodyPr wrap="square" lIns="0" tIns="0" rIns="0" bIns="0" rtlCol="0" anchor="ctr"/>
          <a:lstStyle/>
          <a:p>
            <a:pPr indent="0" marL="0">
              <a:buNone/>
            </a:pPr>
            <a:r>
              <a:rPr lang="en-US" sz="1600" b="1" dirty="0">
                <a:solidFill>
                  <a:srgbClr val="000000"/>
                </a:solidFill>
                <a:latin typeface="Times New Roman" pitchFamily="34" charset="0"/>
                <a:ea typeface="Times New Roman" pitchFamily="34" charset="-122"/>
                <a:cs typeface="Times New Roman" pitchFamily="34" charset="-120"/>
              </a:rPr>
              <a:t>Ethical considerations</a:t>
            </a:r>
            <a:endParaRPr lang="en-US" sz="1600" dirty="0"/>
          </a:p>
        </p:txBody>
      </p:sp>
      <p:sp>
        <p:nvSpPr>
          <p:cNvPr id="9" name="Text 6"/>
          <p:cNvSpPr txBox="1"/>
          <p:nvPr/>
        </p:nvSpPr>
        <p:spPr>
          <a:xfrm>
            <a:off x="731520" y="6391656"/>
            <a:ext cx="6583680" cy="1577340"/>
          </a:xfrm>
          <a:prstGeom prst="rect">
            <a:avLst/>
          </a:prstGeom>
          <a:noFill/>
          <a:ln/>
        </p:spPr>
        <p:txBody>
          <a:bodyPr wrap="square" lIns="0" tIns="0" rIns="0" bIns="0" rtlCol="0" anchor="t"/>
          <a:lstStyle/>
          <a:p>
            <a:pPr marL="203200" indent="-203200">
              <a:lnSpc>
                <a:spcPts val="1600"/>
              </a:lnSpc>
              <a:spcAft>
                <a:spcPts val="700"/>
              </a:spcAft>
              <a:buSzPct val="100000"/>
              <a:buChar char="•"/>
            </a:pPr>
            <a:r>
              <a:rPr lang="en-US" sz="1200" dirty="0">
                <a:solidFill>
                  <a:srgbClr val="000000"/>
                </a:solidFill>
                <a:latin typeface="Times New Roman" pitchFamily="34" charset="0"/>
                <a:ea typeface="Times New Roman" pitchFamily="34" charset="-122"/>
                <a:cs typeface="Times New Roman" pitchFamily="34" charset="-120"/>
              </a:rPr>
              <a:t>Institutional Ethics Committee approval obtained before recruitment; conducted in accordance with the Declaration of Helsinki.</a:t>
            </a:r>
            <a:endParaRPr lang="en-US" sz="1200" dirty="0"/>
          </a:p>
          <a:p>
            <a:pPr marL="203200" indent="-203200">
              <a:lnSpc>
                <a:spcPts val="1600"/>
              </a:lnSpc>
              <a:spcAft>
                <a:spcPts val="700"/>
              </a:spcAft>
              <a:buSzPct val="100000"/>
              <a:buChar char="•"/>
            </a:pPr>
            <a:r>
              <a:rPr lang="en-US" sz="1200" dirty="0">
                <a:solidFill>
                  <a:srgbClr val="000000"/>
                </a:solidFill>
                <a:latin typeface="Times New Roman" pitchFamily="34" charset="0"/>
                <a:ea typeface="Times New Roman" pitchFamily="34" charset="-122"/>
                <a:cs typeface="Times New Roman" pitchFamily="34" charset="-120"/>
              </a:rPr>
              <a:t>Written informed consent, with photography and video capture consented separately and refusable without affecting participation.</a:t>
            </a:r>
            <a:endParaRPr lang="en-US" sz="1200" dirty="0"/>
          </a:p>
          <a:p>
            <a:pPr marL="203200" indent="-203200">
              <a:lnSpc>
                <a:spcPts val="1600"/>
              </a:lnSpc>
              <a:spcAft>
                <a:spcPts val="700"/>
              </a:spcAft>
              <a:buSzPct val="100000"/>
              <a:buChar char="•"/>
            </a:pPr>
            <a:r>
              <a:rPr lang="en-US" sz="1200" dirty="0">
                <a:solidFill>
                  <a:srgbClr val="000000"/>
                </a:solidFill>
                <a:latin typeface="Times New Roman" pitchFamily="34" charset="0"/>
                <a:ea typeface="Times New Roman" pitchFamily="34" charset="-122"/>
                <a:cs typeface="Times New Roman" pitchFamily="34" charset="-120"/>
              </a:rPr>
              <a:t>No video leaves the tablet unless separately consented; data are pseudonymised, and a participant may withdraw at any point.</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1520" y="384048"/>
            <a:ext cx="12252960" cy="566928"/>
          </a:xfrm>
          <a:prstGeom prst="rect">
            <a:avLst/>
          </a:prstGeom>
          <a:noFill/>
          <a:ln/>
        </p:spPr>
        <p:txBody>
          <a:bodyPr wrap="square" lIns="0" tIns="0" rIns="0" bIns="0" rtlCol="0" anchor="t"/>
          <a:lstStyle/>
          <a:p>
            <a:pPr indent="0" marL="0">
              <a:buNone/>
            </a:pPr>
            <a:r>
              <a:rPr lang="en-US" sz="2400" b="1" dirty="0">
                <a:solidFill>
                  <a:srgbClr val="1F3864"/>
                </a:solidFill>
                <a:latin typeface="Times New Roman" pitchFamily="34" charset="0"/>
                <a:ea typeface="Times New Roman" pitchFamily="34" charset="-122"/>
                <a:cs typeface="Times New Roman" pitchFamily="34" charset="-120"/>
              </a:rPr>
              <a:t>4. Methods and Methodology — Procedure, Outcome Measures and Analysis</a:t>
            </a:r>
            <a:endParaRPr lang="en-US" sz="2400" dirty="0"/>
          </a:p>
        </p:txBody>
      </p:sp>
      <p:sp>
        <p:nvSpPr>
          <p:cNvPr id="3" name="Text 1"/>
          <p:cNvSpPr txBox="1"/>
          <p:nvPr/>
        </p:nvSpPr>
        <p:spPr>
          <a:xfrm>
            <a:off x="12435840" y="8229600"/>
            <a:ext cx="548640" cy="274320"/>
          </a:xfrm>
          <a:prstGeom prst="rect">
            <a:avLst/>
          </a:prstGeom>
          <a:noFill/>
          <a:ln/>
        </p:spPr>
        <p:txBody>
          <a:bodyPr wrap="square" lIns="0" tIns="0" rIns="0" bIns="0" rtlCol="0" anchor="ctr"/>
          <a:lstStyle/>
          <a:p>
            <a:pPr algn="r" indent="0" marL="0">
              <a:buNone/>
            </a:pPr>
            <a:r>
              <a:rPr lang="en-US" sz="1100" dirty="0">
                <a:solidFill>
                  <a:srgbClr val="595959"/>
                </a:solidFill>
                <a:latin typeface="Times New Roman" pitchFamily="34" charset="0"/>
                <a:ea typeface="Times New Roman" pitchFamily="34" charset="-122"/>
                <a:cs typeface="Times New Roman" pitchFamily="34" charset="-120"/>
              </a:rPr>
              <a:t>12</a:t>
            </a:r>
            <a:endParaRPr lang="en-US" sz="1100" dirty="0"/>
          </a:p>
        </p:txBody>
      </p:sp>
      <p:sp>
        <p:nvSpPr>
          <p:cNvPr id="4" name="Text 2"/>
          <p:cNvSpPr txBox="1"/>
          <p:nvPr/>
        </p:nvSpPr>
        <p:spPr>
          <a:xfrm>
            <a:off x="731520" y="1280160"/>
            <a:ext cx="12252960" cy="292608"/>
          </a:xfrm>
          <a:prstGeom prst="rect">
            <a:avLst/>
          </a:prstGeom>
          <a:noFill/>
          <a:ln/>
        </p:spPr>
        <p:txBody>
          <a:bodyPr wrap="square" lIns="0" tIns="0" rIns="0" bIns="0" rtlCol="0" anchor="ctr"/>
          <a:lstStyle/>
          <a:p>
            <a:pPr indent="0" marL="0">
              <a:buNone/>
            </a:pPr>
            <a:r>
              <a:rPr lang="en-US" sz="1600" b="1" dirty="0">
                <a:solidFill>
                  <a:srgbClr val="000000"/>
                </a:solidFill>
                <a:latin typeface="Times New Roman" pitchFamily="34" charset="0"/>
                <a:ea typeface="Times New Roman" pitchFamily="34" charset="-122"/>
                <a:cs typeface="Times New Roman" pitchFamily="34" charset="-120"/>
              </a:rPr>
              <a:t>The sequence within one condition-run, repeated ten times in Williams order</a:t>
            </a:r>
            <a:endParaRPr lang="en-US" sz="1600" dirty="0"/>
          </a:p>
        </p:txBody>
      </p:sp>
      <p:sp>
        <p:nvSpPr>
          <p:cNvPr id="5" name="Shape 3"/>
          <p:cNvSpPr/>
          <p:nvPr/>
        </p:nvSpPr>
        <p:spPr>
          <a:xfrm>
            <a:off x="731520" y="1664208"/>
            <a:ext cx="2157984" cy="960120"/>
          </a:xfrm>
          <a:prstGeom prst="rect">
            <a:avLst/>
          </a:prstGeom>
          <a:solidFill>
            <a:srgbClr val="FFFFFF"/>
          </a:solidFill>
          <a:ln w="9525">
            <a:solidFill>
              <a:srgbClr val="000000"/>
            </a:solidFill>
            <a:prstDash val="solid"/>
          </a:ln>
        </p:spPr>
      </p:sp>
      <p:sp>
        <p:nvSpPr>
          <p:cNvPr id="6" name="Text 4"/>
          <p:cNvSpPr txBox="1"/>
          <p:nvPr/>
        </p:nvSpPr>
        <p:spPr>
          <a:xfrm>
            <a:off x="795528" y="1664208"/>
            <a:ext cx="2029968" cy="960120"/>
          </a:xfrm>
          <a:prstGeom prst="rect">
            <a:avLst/>
          </a:prstGeom>
          <a:noFill/>
          <a:ln/>
        </p:spPr>
        <p:txBody>
          <a:bodyPr wrap="square" lIns="0" tIns="0" rIns="0" bIns="0" rtlCol="0" anchor="ctr"/>
          <a:lstStyle/>
          <a:p>
            <a:pPr algn="ctr" indent="0" marL="0">
              <a:lnSpc>
                <a:spcPts val="1300"/>
              </a:lnSpc>
              <a:buNone/>
            </a:pPr>
            <a:r>
              <a:rPr lang="en-US" sz="1050" dirty="0">
                <a:solidFill>
                  <a:srgbClr val="000000"/>
                </a:solidFill>
                <a:latin typeface="Times New Roman" pitchFamily="34" charset="0"/>
                <a:ea typeface="Times New Roman" pitchFamily="34" charset="-122"/>
                <a:cs typeface="Times New Roman" pitchFamily="34" charset="-120"/>
              </a:rPr>
              <a:t>Adaptation on</a:t>
            </a:r>
            <a:endParaRPr lang="en-US" sz="1050" dirty="0"/>
          </a:p>
          <a:p>
            <a:pPr algn="ctr" indent="0" marL="0">
              <a:lnSpc>
                <a:spcPts val="1300"/>
              </a:lnSpc>
              <a:buNone/>
            </a:pPr>
            <a:r>
              <a:rPr lang="en-US" sz="1050" dirty="0">
                <a:solidFill>
                  <a:srgbClr val="000000"/>
                </a:solidFill>
                <a:latin typeface="Times New Roman" pitchFamily="34" charset="0"/>
                <a:ea typeface="Times New Roman" pitchFamily="34" charset="-122"/>
                <a:cs typeface="Times New Roman" pitchFamily="34" charset="-120"/>
              </a:rPr>
              <a:t>neutral grey</a:t>
            </a:r>
            <a:endParaRPr lang="en-US" sz="1050" dirty="0"/>
          </a:p>
          <a:p>
            <a:pPr algn="ctr" indent="0" marL="0">
              <a:lnSpc>
                <a:spcPts val="1300"/>
              </a:lnSpc>
              <a:buNone/>
            </a:pPr>
            <a:r>
              <a:rPr lang="en-US" sz="1050" dirty="0">
                <a:solidFill>
                  <a:srgbClr val="000000"/>
                </a:solidFill>
                <a:latin typeface="Times New Roman" pitchFamily="34" charset="0"/>
                <a:ea typeface="Times New Roman" pitchFamily="34" charset="-122"/>
                <a:cs typeface="Times New Roman" pitchFamily="34" charset="-120"/>
              </a:rPr>
              <a:t>60 s (120 s when</a:t>
            </a:r>
            <a:endParaRPr lang="en-US" sz="1050" dirty="0"/>
          </a:p>
          <a:p>
            <a:pPr algn="ctr" indent="0" marL="0">
              <a:lnSpc>
                <a:spcPts val="1300"/>
              </a:lnSpc>
              <a:buNone/>
            </a:pPr>
            <a:r>
              <a:rPr lang="en-US" sz="1050" dirty="0">
                <a:solidFill>
                  <a:srgbClr val="000000"/>
                </a:solidFill>
                <a:latin typeface="Times New Roman" pitchFamily="34" charset="0"/>
                <a:ea typeface="Times New Roman" pitchFamily="34" charset="-122"/>
                <a:cs typeface="Times New Roman" pitchFamily="34" charset="-120"/>
              </a:rPr>
              <a:t>polarity switches)</a:t>
            </a:r>
            <a:endParaRPr lang="en-US" sz="1050" dirty="0"/>
          </a:p>
        </p:txBody>
      </p:sp>
      <p:sp>
        <p:nvSpPr>
          <p:cNvPr id="7" name="Shape 5"/>
          <p:cNvSpPr/>
          <p:nvPr/>
        </p:nvSpPr>
        <p:spPr>
          <a:xfrm>
            <a:off x="2926080" y="2144268"/>
            <a:ext cx="246888" cy="0"/>
          </a:xfrm>
          <a:prstGeom prst="line">
            <a:avLst/>
          </a:prstGeom>
          <a:noFill/>
          <a:ln w="9525">
            <a:solidFill>
              <a:srgbClr val="000000"/>
            </a:solidFill>
            <a:prstDash val="solid"/>
            <a:tailEnd type="triangle"/>
          </a:ln>
        </p:spPr>
      </p:sp>
      <p:sp>
        <p:nvSpPr>
          <p:cNvPr id="8" name="Shape 6"/>
          <p:cNvSpPr/>
          <p:nvPr/>
        </p:nvSpPr>
        <p:spPr>
          <a:xfrm>
            <a:off x="3209544" y="1664208"/>
            <a:ext cx="2157984" cy="960120"/>
          </a:xfrm>
          <a:prstGeom prst="rect">
            <a:avLst/>
          </a:prstGeom>
          <a:solidFill>
            <a:srgbClr val="FFFFFF"/>
          </a:solidFill>
          <a:ln w="9525">
            <a:solidFill>
              <a:srgbClr val="000000"/>
            </a:solidFill>
            <a:prstDash val="solid"/>
          </a:ln>
        </p:spPr>
      </p:sp>
      <p:sp>
        <p:nvSpPr>
          <p:cNvPr id="9" name="Text 7"/>
          <p:cNvSpPr txBox="1"/>
          <p:nvPr/>
        </p:nvSpPr>
        <p:spPr>
          <a:xfrm>
            <a:off x="3273552" y="1664208"/>
            <a:ext cx="2029968" cy="960120"/>
          </a:xfrm>
          <a:prstGeom prst="rect">
            <a:avLst/>
          </a:prstGeom>
          <a:noFill/>
          <a:ln/>
        </p:spPr>
        <p:txBody>
          <a:bodyPr wrap="square" lIns="0" tIns="0" rIns="0" bIns="0" rtlCol="0" anchor="ctr"/>
          <a:lstStyle/>
          <a:p>
            <a:pPr algn="ctr" indent="0" marL="0">
              <a:lnSpc>
                <a:spcPts val="1300"/>
              </a:lnSpc>
              <a:buNone/>
            </a:pPr>
            <a:r>
              <a:rPr lang="en-US" sz="1050" dirty="0">
                <a:solidFill>
                  <a:srgbClr val="000000"/>
                </a:solidFill>
                <a:latin typeface="Times New Roman" pitchFamily="34" charset="0"/>
                <a:ea typeface="Times New Roman" pitchFamily="34" charset="-122"/>
                <a:cs typeface="Times New Roman" pitchFamily="34" charset="-120"/>
              </a:rPr>
              <a:t>Reading task</a:t>
            </a:r>
            <a:endParaRPr lang="en-US" sz="1050" dirty="0"/>
          </a:p>
          <a:p>
            <a:pPr algn="ctr" indent="0" marL="0">
              <a:lnSpc>
                <a:spcPts val="1300"/>
              </a:lnSpc>
              <a:buNone/>
            </a:pPr>
            <a:r>
              <a:rPr lang="en-US" sz="1050" dirty="0">
                <a:solidFill>
                  <a:srgbClr val="000000"/>
                </a:solidFill>
                <a:latin typeface="Times New Roman" pitchFamily="34" charset="0"/>
                <a:ea typeface="Times New Roman" pitchFamily="34" charset="-122"/>
                <a:cs typeface="Times New Roman" pitchFamily="34" charset="-120"/>
              </a:rPr>
              <a:t>the exposure that</a:t>
            </a:r>
            <a:endParaRPr lang="en-US" sz="1050" dirty="0"/>
          </a:p>
          <a:p>
            <a:pPr algn="ctr" indent="0" marL="0">
              <a:lnSpc>
                <a:spcPts val="1300"/>
              </a:lnSpc>
              <a:buNone/>
            </a:pPr>
            <a:r>
              <a:rPr lang="en-US" sz="1050" dirty="0">
                <a:solidFill>
                  <a:srgbClr val="000000"/>
                </a:solidFill>
                <a:latin typeface="Times New Roman" pitchFamily="34" charset="0"/>
                <a:ea typeface="Times New Roman" pitchFamily="34" charset="-122"/>
                <a:cs typeface="Times New Roman" pitchFamily="34" charset="-120"/>
              </a:rPr>
              <a:t>produces the</a:t>
            </a:r>
            <a:endParaRPr lang="en-US" sz="1050" dirty="0"/>
          </a:p>
          <a:p>
            <a:pPr algn="ctr" indent="0" marL="0">
              <a:lnSpc>
                <a:spcPts val="1300"/>
              </a:lnSpc>
              <a:buNone/>
            </a:pPr>
            <a:r>
              <a:rPr lang="en-US" sz="1050" dirty="0">
                <a:solidFill>
                  <a:srgbClr val="000000"/>
                </a:solidFill>
                <a:latin typeface="Times New Roman" pitchFamily="34" charset="0"/>
                <a:ea typeface="Times New Roman" pitchFamily="34" charset="-122"/>
                <a:cs typeface="Times New Roman" pitchFamily="34" charset="-120"/>
              </a:rPr>
              <a:t>primary outcome</a:t>
            </a:r>
            <a:endParaRPr lang="en-US" sz="1050" dirty="0"/>
          </a:p>
        </p:txBody>
      </p:sp>
      <p:sp>
        <p:nvSpPr>
          <p:cNvPr id="10" name="Shape 8"/>
          <p:cNvSpPr/>
          <p:nvPr/>
        </p:nvSpPr>
        <p:spPr>
          <a:xfrm>
            <a:off x="5404104" y="2144268"/>
            <a:ext cx="246888" cy="0"/>
          </a:xfrm>
          <a:prstGeom prst="line">
            <a:avLst/>
          </a:prstGeom>
          <a:noFill/>
          <a:ln w="9525">
            <a:solidFill>
              <a:srgbClr val="000000"/>
            </a:solidFill>
            <a:prstDash val="solid"/>
            <a:tailEnd type="triangle"/>
          </a:ln>
        </p:spPr>
      </p:sp>
      <p:sp>
        <p:nvSpPr>
          <p:cNvPr id="11" name="Shape 9"/>
          <p:cNvSpPr/>
          <p:nvPr/>
        </p:nvSpPr>
        <p:spPr>
          <a:xfrm>
            <a:off x="5687568" y="1664208"/>
            <a:ext cx="2157984" cy="960120"/>
          </a:xfrm>
          <a:prstGeom prst="rect">
            <a:avLst/>
          </a:prstGeom>
          <a:solidFill>
            <a:srgbClr val="FFFFFF"/>
          </a:solidFill>
          <a:ln w="9525">
            <a:solidFill>
              <a:srgbClr val="000000"/>
            </a:solidFill>
            <a:prstDash val="solid"/>
          </a:ln>
        </p:spPr>
      </p:sp>
      <p:sp>
        <p:nvSpPr>
          <p:cNvPr id="12" name="Text 10"/>
          <p:cNvSpPr txBox="1"/>
          <p:nvPr/>
        </p:nvSpPr>
        <p:spPr>
          <a:xfrm>
            <a:off x="5751576" y="1664208"/>
            <a:ext cx="2029968" cy="960120"/>
          </a:xfrm>
          <a:prstGeom prst="rect">
            <a:avLst/>
          </a:prstGeom>
          <a:noFill/>
          <a:ln/>
        </p:spPr>
        <p:txBody>
          <a:bodyPr wrap="square" lIns="0" tIns="0" rIns="0" bIns="0" rtlCol="0" anchor="ctr"/>
          <a:lstStyle/>
          <a:p>
            <a:pPr algn="ctr" indent="0" marL="0">
              <a:lnSpc>
                <a:spcPts val="1300"/>
              </a:lnSpc>
              <a:buNone/>
            </a:pPr>
            <a:r>
              <a:rPr lang="en-US" sz="1050" dirty="0">
                <a:solidFill>
                  <a:srgbClr val="000000"/>
                </a:solidFill>
                <a:latin typeface="Times New Roman" pitchFamily="34" charset="0"/>
                <a:ea typeface="Times New Roman" pitchFamily="34" charset="-122"/>
                <a:cs typeface="Times New Roman" pitchFamily="34" charset="-120"/>
              </a:rPr>
              <a:t>Comprehension,</a:t>
            </a:r>
            <a:endParaRPr lang="en-US" sz="1050" dirty="0"/>
          </a:p>
          <a:p>
            <a:pPr algn="ctr" indent="0" marL="0">
              <a:lnSpc>
                <a:spcPts val="1300"/>
              </a:lnSpc>
              <a:buNone/>
            </a:pPr>
            <a:r>
              <a:rPr lang="en-US" sz="1050" dirty="0">
                <a:solidFill>
                  <a:srgbClr val="000000"/>
                </a:solidFill>
                <a:latin typeface="Times New Roman" pitchFamily="34" charset="0"/>
                <a:ea typeface="Times New Roman" pitchFamily="34" charset="-122"/>
                <a:cs typeface="Times New Roman" pitchFamily="34" charset="-120"/>
              </a:rPr>
              <a:t>3 questions ·</a:t>
            </a:r>
            <a:endParaRPr lang="en-US" sz="1050" dirty="0"/>
          </a:p>
          <a:p>
            <a:pPr algn="ctr" indent="0" marL="0">
              <a:lnSpc>
                <a:spcPts val="1300"/>
              </a:lnSpc>
              <a:buNone/>
            </a:pPr>
            <a:r>
              <a:rPr lang="en-US" sz="1050" dirty="0">
                <a:solidFill>
                  <a:srgbClr val="000000"/>
                </a:solidFill>
                <a:latin typeface="Times New Roman" pitchFamily="34" charset="0"/>
                <a:ea typeface="Times New Roman" pitchFamily="34" charset="-122"/>
                <a:cs typeface="Times New Roman" pitchFamily="34" charset="-120"/>
              </a:rPr>
              <a:t>display rating ·</a:t>
            </a:r>
            <a:endParaRPr lang="en-US" sz="1050" dirty="0"/>
          </a:p>
          <a:p>
            <a:pPr algn="ctr" indent="0" marL="0">
              <a:lnSpc>
                <a:spcPts val="1300"/>
              </a:lnSpc>
              <a:buNone/>
            </a:pPr>
            <a:r>
              <a:rPr lang="en-US" sz="1050" dirty="0">
                <a:solidFill>
                  <a:srgbClr val="000000"/>
                </a:solidFill>
                <a:latin typeface="Times New Roman" pitchFamily="34" charset="0"/>
                <a:ea typeface="Times New Roman" pitchFamily="34" charset="-122"/>
                <a:cs typeface="Times New Roman" pitchFamily="34" charset="-120"/>
              </a:rPr>
              <a:t>visual-fatigue VAS</a:t>
            </a:r>
            <a:endParaRPr lang="en-US" sz="1050" dirty="0"/>
          </a:p>
        </p:txBody>
      </p:sp>
      <p:sp>
        <p:nvSpPr>
          <p:cNvPr id="13" name="Shape 11"/>
          <p:cNvSpPr/>
          <p:nvPr/>
        </p:nvSpPr>
        <p:spPr>
          <a:xfrm>
            <a:off x="7882128" y="2144268"/>
            <a:ext cx="246888" cy="0"/>
          </a:xfrm>
          <a:prstGeom prst="line">
            <a:avLst/>
          </a:prstGeom>
          <a:noFill/>
          <a:ln w="9525">
            <a:solidFill>
              <a:srgbClr val="000000"/>
            </a:solidFill>
            <a:prstDash val="solid"/>
            <a:tailEnd type="triangle"/>
          </a:ln>
        </p:spPr>
      </p:sp>
      <p:sp>
        <p:nvSpPr>
          <p:cNvPr id="14" name="Shape 12"/>
          <p:cNvSpPr/>
          <p:nvPr/>
        </p:nvSpPr>
        <p:spPr>
          <a:xfrm>
            <a:off x="8165592" y="1664208"/>
            <a:ext cx="2157984" cy="960120"/>
          </a:xfrm>
          <a:prstGeom prst="rect">
            <a:avLst/>
          </a:prstGeom>
          <a:solidFill>
            <a:srgbClr val="FFFFFF"/>
          </a:solidFill>
          <a:ln w="9525">
            <a:solidFill>
              <a:srgbClr val="000000"/>
            </a:solidFill>
            <a:prstDash val="solid"/>
          </a:ln>
        </p:spPr>
      </p:sp>
      <p:sp>
        <p:nvSpPr>
          <p:cNvPr id="15" name="Text 13"/>
          <p:cNvSpPr txBox="1"/>
          <p:nvPr/>
        </p:nvSpPr>
        <p:spPr>
          <a:xfrm>
            <a:off x="8229600" y="1664208"/>
            <a:ext cx="2029968" cy="960120"/>
          </a:xfrm>
          <a:prstGeom prst="rect">
            <a:avLst/>
          </a:prstGeom>
          <a:noFill/>
          <a:ln/>
        </p:spPr>
        <p:txBody>
          <a:bodyPr wrap="square" lIns="0" tIns="0" rIns="0" bIns="0" rtlCol="0" anchor="ctr"/>
          <a:lstStyle/>
          <a:p>
            <a:pPr algn="ctr" indent="0" marL="0">
              <a:lnSpc>
                <a:spcPts val="1300"/>
              </a:lnSpc>
              <a:buNone/>
            </a:pPr>
            <a:r>
              <a:rPr lang="en-US" sz="1050" dirty="0">
                <a:solidFill>
                  <a:srgbClr val="000000"/>
                </a:solidFill>
                <a:latin typeface="Times New Roman" pitchFamily="34" charset="0"/>
                <a:ea typeface="Times New Roman" pitchFamily="34" charset="-122"/>
                <a:cs typeface="Times New Roman" pitchFamily="34" charset="-120"/>
              </a:rPr>
              <a:t>Visual search</a:t>
            </a:r>
            <a:endParaRPr lang="en-US" sz="1050" dirty="0"/>
          </a:p>
          <a:p>
            <a:pPr algn="ctr" indent="0" marL="0">
              <a:lnSpc>
                <a:spcPts val="1300"/>
              </a:lnSpc>
              <a:buNone/>
            </a:pPr>
            <a:r>
              <a:rPr lang="en-US" sz="1050" dirty="0">
                <a:solidFill>
                  <a:srgbClr val="000000"/>
                </a:solidFill>
                <a:latin typeface="Times New Roman" pitchFamily="34" charset="0"/>
                <a:ea typeface="Times New Roman" pitchFamily="34" charset="-122"/>
                <a:cs typeface="Times New Roman" pitchFamily="34" charset="-120"/>
              </a:rPr>
              <a:t>tap every</a:t>
            </a:r>
            <a:endParaRPr lang="en-US" sz="1050" dirty="0"/>
          </a:p>
          <a:p>
            <a:pPr algn="ctr" indent="0" marL="0">
              <a:lnSpc>
                <a:spcPts val="1300"/>
              </a:lnSpc>
              <a:buNone/>
            </a:pPr>
            <a:r>
              <a:rPr lang="en-US" sz="1050" dirty="0">
                <a:solidFill>
                  <a:srgbClr val="000000"/>
                </a:solidFill>
                <a:latin typeface="Times New Roman" pitchFamily="34" charset="0"/>
                <a:ea typeface="Times New Roman" pitchFamily="34" charset="-122"/>
                <a:cs typeface="Times New Roman" pitchFamily="34" charset="-120"/>
              </a:rPr>
              <a:t>occurrence of a</a:t>
            </a:r>
            <a:endParaRPr lang="en-US" sz="1050" dirty="0"/>
          </a:p>
          <a:p>
            <a:pPr algn="ctr" indent="0" marL="0">
              <a:lnSpc>
                <a:spcPts val="1300"/>
              </a:lnSpc>
              <a:buNone/>
            </a:pPr>
            <a:r>
              <a:rPr lang="en-US" sz="1050" dirty="0">
                <a:solidFill>
                  <a:srgbClr val="000000"/>
                </a:solidFill>
                <a:latin typeface="Times New Roman" pitchFamily="34" charset="0"/>
                <a:ea typeface="Times New Roman" pitchFamily="34" charset="-122"/>
                <a:cs typeface="Times New Roman" pitchFamily="34" charset="-120"/>
              </a:rPr>
              <a:t>target word</a:t>
            </a:r>
            <a:endParaRPr lang="en-US" sz="1050" dirty="0"/>
          </a:p>
        </p:txBody>
      </p:sp>
      <p:sp>
        <p:nvSpPr>
          <p:cNvPr id="16" name="Shape 14"/>
          <p:cNvSpPr/>
          <p:nvPr/>
        </p:nvSpPr>
        <p:spPr>
          <a:xfrm>
            <a:off x="10360152" y="2144268"/>
            <a:ext cx="246888" cy="0"/>
          </a:xfrm>
          <a:prstGeom prst="line">
            <a:avLst/>
          </a:prstGeom>
          <a:noFill/>
          <a:ln w="9525">
            <a:solidFill>
              <a:srgbClr val="000000"/>
            </a:solidFill>
            <a:prstDash val="solid"/>
            <a:tailEnd type="triangle"/>
          </a:ln>
        </p:spPr>
      </p:sp>
      <p:sp>
        <p:nvSpPr>
          <p:cNvPr id="17" name="Shape 15"/>
          <p:cNvSpPr/>
          <p:nvPr/>
        </p:nvSpPr>
        <p:spPr>
          <a:xfrm>
            <a:off x="10643616" y="1664208"/>
            <a:ext cx="2157984" cy="960120"/>
          </a:xfrm>
          <a:prstGeom prst="rect">
            <a:avLst/>
          </a:prstGeom>
          <a:solidFill>
            <a:srgbClr val="FFFFFF"/>
          </a:solidFill>
          <a:ln w="9525">
            <a:solidFill>
              <a:srgbClr val="000000"/>
            </a:solidFill>
            <a:prstDash val="solid"/>
          </a:ln>
        </p:spPr>
      </p:sp>
      <p:sp>
        <p:nvSpPr>
          <p:cNvPr id="18" name="Text 16"/>
          <p:cNvSpPr txBox="1"/>
          <p:nvPr/>
        </p:nvSpPr>
        <p:spPr>
          <a:xfrm>
            <a:off x="10707624" y="1664208"/>
            <a:ext cx="2029968" cy="960120"/>
          </a:xfrm>
          <a:prstGeom prst="rect">
            <a:avLst/>
          </a:prstGeom>
          <a:noFill/>
          <a:ln/>
        </p:spPr>
        <p:txBody>
          <a:bodyPr wrap="square" lIns="0" tIns="0" rIns="0" bIns="0" rtlCol="0" anchor="ctr"/>
          <a:lstStyle/>
          <a:p>
            <a:pPr algn="ctr" indent="0" marL="0">
              <a:lnSpc>
                <a:spcPts val="1300"/>
              </a:lnSpc>
              <a:buNone/>
            </a:pPr>
            <a:r>
              <a:rPr lang="en-US" sz="1050" dirty="0">
                <a:solidFill>
                  <a:srgbClr val="000000"/>
                </a:solidFill>
                <a:latin typeface="Times New Roman" pitchFamily="34" charset="0"/>
                <a:ea typeface="Times New Roman" pitchFamily="34" charset="-122"/>
                <a:cs typeface="Times New Roman" pitchFamily="34" charset="-120"/>
              </a:rPr>
              <a:t>Go/no-go</a:t>
            </a:r>
            <a:endParaRPr lang="en-US" sz="1050" dirty="0"/>
          </a:p>
          <a:p>
            <a:pPr algn="ctr" indent="0" marL="0">
              <a:lnSpc>
                <a:spcPts val="1300"/>
              </a:lnSpc>
              <a:buNone/>
            </a:pPr>
            <a:r>
              <a:rPr lang="en-US" sz="1050" dirty="0">
                <a:solidFill>
                  <a:srgbClr val="000000"/>
                </a:solidFill>
                <a:latin typeface="Times New Roman" pitchFamily="34" charset="0"/>
                <a:ea typeface="Times New Roman" pitchFamily="34" charset="-122"/>
                <a:cs typeface="Times New Roman" pitchFamily="34" charset="-120"/>
              </a:rPr>
              <a:t>reaction time</a:t>
            </a:r>
            <a:endParaRPr lang="en-US" sz="1050" dirty="0"/>
          </a:p>
          <a:p>
            <a:pPr algn="ctr" indent="0" marL="0">
              <a:lnSpc>
                <a:spcPts val="1300"/>
              </a:lnSpc>
              <a:buNone/>
            </a:pPr>
            <a:r>
              <a:rPr lang="en-US" sz="1050" dirty="0">
                <a:solidFill>
                  <a:srgbClr val="000000"/>
                </a:solidFill>
                <a:latin typeface="Times New Roman" pitchFamily="34" charset="0"/>
                <a:ea typeface="Times New Roman" pitchFamily="34" charset="-122"/>
                <a:cs typeface="Times New Roman" pitchFamily="34" charset="-120"/>
              </a:rPr>
              <a:t>32 trials on the</a:t>
            </a:r>
            <a:endParaRPr lang="en-US" sz="1050" dirty="0"/>
          </a:p>
          <a:p>
            <a:pPr algn="ctr" indent="0" marL="0">
              <a:lnSpc>
                <a:spcPts val="1300"/>
              </a:lnSpc>
              <a:buNone/>
            </a:pPr>
            <a:r>
              <a:rPr lang="en-US" sz="1050" dirty="0">
                <a:solidFill>
                  <a:srgbClr val="000000"/>
                </a:solidFill>
                <a:latin typeface="Times New Roman" pitchFamily="34" charset="0"/>
                <a:ea typeface="Times New Roman" pitchFamily="34" charset="-122"/>
                <a:cs typeface="Times New Roman" pitchFamily="34" charset="-120"/>
              </a:rPr>
              <a:t>active background</a:t>
            </a:r>
            <a:endParaRPr lang="en-US" sz="1050" dirty="0"/>
          </a:p>
        </p:txBody>
      </p:sp>
      <p:sp>
        <p:nvSpPr>
          <p:cNvPr id="19" name="Text 17"/>
          <p:cNvSpPr txBox="1"/>
          <p:nvPr/>
        </p:nvSpPr>
        <p:spPr>
          <a:xfrm>
            <a:off x="731520" y="2734056"/>
            <a:ext cx="12252960" cy="263652"/>
          </a:xfrm>
          <a:prstGeom prst="rect">
            <a:avLst/>
          </a:prstGeom>
          <a:noFill/>
          <a:ln/>
        </p:spPr>
        <p:txBody>
          <a:bodyPr wrap="square" lIns="0" tIns="0" rIns="0" bIns="0" rtlCol="0" anchor="t"/>
          <a:lstStyle/>
          <a:p>
            <a:pPr indent="0" marL="0">
              <a:lnSpc>
                <a:spcPts val="1500"/>
              </a:lnSpc>
              <a:buNone/>
            </a:pPr>
            <a:r>
              <a:rPr lang="en-US" sz="1100" i="1" dirty="0">
                <a:solidFill>
                  <a:srgbClr val="595959"/>
                </a:solidFill>
                <a:latin typeface="Times New Roman" pitchFamily="34" charset="0"/>
                <a:ea typeface="Times New Roman" pitchFamily="34" charset="-122"/>
                <a:cs typeface="Times New Roman" pitchFamily="34" charset="-120"/>
              </a:rPr>
              <a:t>A self-paced rest follows every second condition and no performance feedback is given. The sitting closes with the CVS-Q repeated and the NASA Task Load Index administered once.</a:t>
            </a:r>
            <a:endParaRPr lang="en-US" sz="1100" dirty="0"/>
          </a:p>
        </p:txBody>
      </p:sp>
      <p:sp>
        <p:nvSpPr>
          <p:cNvPr id="20" name="Text 18"/>
          <p:cNvSpPr txBox="1"/>
          <p:nvPr/>
        </p:nvSpPr>
        <p:spPr>
          <a:xfrm>
            <a:off x="731520" y="3272028"/>
            <a:ext cx="5943600" cy="292608"/>
          </a:xfrm>
          <a:prstGeom prst="rect">
            <a:avLst/>
          </a:prstGeom>
          <a:noFill/>
          <a:ln/>
        </p:spPr>
        <p:txBody>
          <a:bodyPr wrap="square" lIns="0" tIns="0" rIns="0" bIns="0" rtlCol="0" anchor="ctr"/>
          <a:lstStyle/>
          <a:p>
            <a:pPr indent="0" marL="0">
              <a:buNone/>
            </a:pPr>
            <a:r>
              <a:rPr lang="en-US" sz="1600" b="1" dirty="0">
                <a:solidFill>
                  <a:srgbClr val="000000"/>
                </a:solidFill>
                <a:latin typeface="Times New Roman" pitchFamily="34" charset="0"/>
                <a:ea typeface="Times New Roman" pitchFamily="34" charset="-122"/>
                <a:cs typeface="Times New Roman" pitchFamily="34" charset="-120"/>
              </a:rPr>
              <a:t>Outcome measures</a:t>
            </a:r>
            <a:endParaRPr lang="en-US" sz="1600" dirty="0"/>
          </a:p>
        </p:txBody>
      </p:sp>
      <p:sp>
        <p:nvSpPr>
          <p:cNvPr id="21" name="Text 19"/>
          <p:cNvSpPr txBox="1"/>
          <p:nvPr/>
        </p:nvSpPr>
        <p:spPr>
          <a:xfrm>
            <a:off x="731520" y="3656076"/>
            <a:ext cx="5943600" cy="2720340"/>
          </a:xfrm>
          <a:prstGeom prst="rect">
            <a:avLst/>
          </a:prstGeom>
          <a:noFill/>
          <a:ln/>
        </p:spPr>
        <p:txBody>
          <a:bodyPr wrap="square" lIns="0" tIns="0" rIns="0" bIns="0" rtlCol="0" anchor="t"/>
          <a:lstStyle/>
          <a:p>
            <a:pPr marL="203200" indent="-203200">
              <a:lnSpc>
                <a:spcPts val="1500"/>
              </a:lnSpc>
              <a:spcAft>
                <a:spcPts val="700"/>
              </a:spcAft>
              <a:buSzPct val="100000"/>
              <a:buChar char="•"/>
            </a:pPr>
            <a:r>
              <a:rPr lang="en-US" sz="1150" i="1" dirty="0">
                <a:solidFill>
                  <a:srgbClr val="000000"/>
                </a:solidFill>
                <a:latin typeface="Times New Roman" pitchFamily="34" charset="0"/>
                <a:ea typeface="Times New Roman" pitchFamily="34" charset="-122"/>
                <a:cs typeface="Times New Roman" pitchFamily="34" charset="-120"/>
              </a:rPr>
              <a:t>Primary.</a:t>
            </a:r>
            <a:r>
              <a:rPr lang="en-US" sz="1150" dirty="0">
                <a:solidFill>
                  <a:srgbClr val="000000"/>
                </a:solidFill>
                <a:latin typeface="Times New Roman" pitchFamily="34" charset="0"/>
                <a:ea typeface="Times New Roman" pitchFamily="34" charset="-122"/>
                <a:cs typeface="Times New Roman" pitchFamily="34" charset="-120"/>
              </a:rPr>
              <a:t> Incomplete-blink ratio, derived from the tablet’s front camera by facial-landmark tracking.</a:t>
            </a:r>
            <a:endParaRPr lang="en-US" sz="1150" dirty="0"/>
          </a:p>
          <a:p>
            <a:pPr marL="203200" indent="-203200">
              <a:lnSpc>
                <a:spcPts val="1500"/>
              </a:lnSpc>
              <a:spcAft>
                <a:spcPts val="700"/>
              </a:spcAft>
              <a:buSzPct val="100000"/>
              <a:buChar char="•"/>
            </a:pPr>
            <a:r>
              <a:rPr lang="en-US" sz="1150" i="1" dirty="0">
                <a:solidFill>
                  <a:srgbClr val="000000"/>
                </a:solidFill>
                <a:latin typeface="Times New Roman" pitchFamily="34" charset="0"/>
                <a:ea typeface="Times New Roman" pitchFamily="34" charset="-122"/>
                <a:cs typeface="Times New Roman" pitchFamily="34" charset="-120"/>
              </a:rPr>
              <a:t>Key secondary.</a:t>
            </a:r>
            <a:r>
              <a:rPr lang="en-US" sz="1150" dirty="0">
                <a:solidFill>
                  <a:srgbClr val="000000"/>
                </a:solidFill>
                <a:latin typeface="Times New Roman" pitchFamily="34" charset="0"/>
                <a:ea typeface="Times New Roman" pitchFamily="34" charset="-122"/>
                <a:cs typeface="Times New Roman" pitchFamily="34" charset="-120"/>
              </a:rPr>
              <a:t> Change in CVS-Q score from baseline (Seguí </a:t>
            </a:r>
            <a:r>
              <a:rPr lang="en-US" sz="1150" i="1" dirty="0">
                <a:solidFill>
                  <a:srgbClr val="000000"/>
                </a:solidFill>
                <a:latin typeface="Times New Roman" pitchFamily="34" charset="0"/>
                <a:ea typeface="Times New Roman" pitchFamily="34" charset="-122"/>
                <a:cs typeface="Times New Roman" pitchFamily="34" charset="-120"/>
              </a:rPr>
              <a:t>et al.</a:t>
            </a:r>
            <a:r>
              <a:rPr lang="en-US" sz="1150" dirty="0">
                <a:solidFill>
                  <a:srgbClr val="000000"/>
                </a:solidFill>
                <a:latin typeface="Times New Roman" pitchFamily="34" charset="0"/>
                <a:ea typeface="Times New Roman" pitchFamily="34" charset="-122"/>
                <a:cs typeface="Times New Roman" pitchFamily="34" charset="-120"/>
              </a:rPr>
              <a:t>, 2015).</a:t>
            </a:r>
            <a:endParaRPr lang="en-US" sz="1150" dirty="0"/>
          </a:p>
          <a:p>
            <a:pPr marL="203200" indent="-203200">
              <a:lnSpc>
                <a:spcPts val="1500"/>
              </a:lnSpc>
              <a:spcAft>
                <a:spcPts val="700"/>
              </a:spcAft>
              <a:buSzPct val="100000"/>
              <a:buChar char="•"/>
            </a:pPr>
            <a:r>
              <a:rPr lang="en-US" sz="1150" i="1" dirty="0">
                <a:solidFill>
                  <a:srgbClr val="000000"/>
                </a:solidFill>
                <a:latin typeface="Times New Roman" pitchFamily="34" charset="0"/>
                <a:ea typeface="Times New Roman" pitchFamily="34" charset="-122"/>
                <a:cs typeface="Times New Roman" pitchFamily="34" charset="-120"/>
              </a:rPr>
              <a:t>Secondary.</a:t>
            </a:r>
            <a:r>
              <a:rPr lang="en-US" sz="1150" dirty="0">
                <a:solidFill>
                  <a:srgbClr val="000000"/>
                </a:solidFill>
                <a:latin typeface="Times New Roman" pitchFamily="34" charset="0"/>
                <a:ea typeface="Times New Roman" pitchFamily="34" charset="-122"/>
                <a:cs typeface="Times New Roman" pitchFamily="34" charset="-120"/>
              </a:rPr>
              <a:t> Blink rate and inter-blink interval; a five-item visual-fatigue VAS with display comfort and clarity ratings per condition; NASA-TLX once per sitting (Hart &amp; Staveland, 1988).</a:t>
            </a:r>
            <a:endParaRPr lang="en-US" sz="1150" dirty="0"/>
          </a:p>
          <a:p>
            <a:pPr marL="203200" indent="-203200">
              <a:lnSpc>
                <a:spcPts val="1500"/>
              </a:lnSpc>
              <a:spcAft>
                <a:spcPts val="700"/>
              </a:spcAft>
              <a:buSzPct val="100000"/>
              <a:buChar char="•"/>
            </a:pPr>
            <a:r>
              <a:rPr lang="en-US" sz="1150" i="1" dirty="0">
                <a:solidFill>
                  <a:srgbClr val="000000"/>
                </a:solidFill>
                <a:latin typeface="Times New Roman" pitchFamily="34" charset="0"/>
                <a:ea typeface="Times New Roman" pitchFamily="34" charset="-122"/>
                <a:cs typeface="Times New Roman" pitchFamily="34" charset="-120"/>
              </a:rPr>
              <a:t>Performance.</a:t>
            </a:r>
            <a:r>
              <a:rPr lang="en-US" sz="1150" dirty="0">
                <a:solidFill>
                  <a:srgbClr val="000000"/>
                </a:solidFill>
                <a:latin typeface="Times New Roman" pitchFamily="34" charset="0"/>
                <a:ea typeface="Times New Roman" pitchFamily="34" charset="-122"/>
                <a:cs typeface="Times New Roman" pitchFamily="34" charset="-120"/>
              </a:rPr>
              <a:t> Reading rate, comprehension accuracy, visual-search accuracy and efficiency, and reaction-time mean, variability, lapse rate, d′ and criterion.</a:t>
            </a:r>
            <a:endParaRPr lang="en-US" sz="1150" dirty="0"/>
          </a:p>
          <a:p>
            <a:pPr marL="203200" indent="-203200">
              <a:lnSpc>
                <a:spcPts val="1500"/>
              </a:lnSpc>
              <a:spcAft>
                <a:spcPts val="700"/>
              </a:spcAft>
              <a:buSzPct val="100000"/>
              <a:buChar char="•"/>
            </a:pPr>
            <a:r>
              <a:rPr lang="en-US" sz="1150" i="1" dirty="0">
                <a:solidFill>
                  <a:srgbClr val="000000"/>
                </a:solidFill>
                <a:latin typeface="Times New Roman" pitchFamily="34" charset="0"/>
                <a:ea typeface="Times New Roman" pitchFamily="34" charset="-122"/>
                <a:cs typeface="Times New Roman" pitchFamily="34" charset="-120"/>
              </a:rPr>
              <a:t>Covariates.</a:t>
            </a:r>
            <a:r>
              <a:rPr lang="en-US" sz="1150" dirty="0">
                <a:solidFill>
                  <a:srgbClr val="000000"/>
                </a:solidFill>
                <a:latin typeface="Times New Roman" pitchFamily="34" charset="0"/>
                <a:ea typeface="Times New Roman" pitchFamily="34" charset="-122"/>
                <a:cs typeface="Times New Roman" pitchFamily="34" charset="-120"/>
              </a:rPr>
              <a:t> Serial position, measured illuminance and display luminance, computed contrast, PERCLOS, achieved sampling rate, and refractive and binocular status.</a:t>
            </a:r>
            <a:endParaRPr lang="en-US" sz="1150" dirty="0"/>
          </a:p>
          <a:p>
            <a:pPr marL="203200" indent="-203200">
              <a:lnSpc>
                <a:spcPts val="1500"/>
              </a:lnSpc>
              <a:spcAft>
                <a:spcPts val="700"/>
              </a:spcAft>
              <a:buSzPct val="100000"/>
              <a:buChar char="•"/>
            </a:pPr>
            <a:r>
              <a:rPr lang="en-US" sz="1150" dirty="0">
                <a:solidFill>
                  <a:srgbClr val="000000"/>
                </a:solidFill>
                <a:latin typeface="Times New Roman" pitchFamily="34" charset="0"/>
                <a:ea typeface="Times New Roman" pitchFamily="34" charset="-122"/>
                <a:cs typeface="Times New Roman" pitchFamily="34" charset="-120"/>
              </a:rPr>
              <a:t>Confirmatory inference is confined to the primary outcome.</a:t>
            </a:r>
            <a:endParaRPr lang="en-US" sz="1150" dirty="0"/>
          </a:p>
        </p:txBody>
      </p:sp>
      <p:sp>
        <p:nvSpPr>
          <p:cNvPr id="22" name="Text 20"/>
          <p:cNvSpPr txBox="1"/>
          <p:nvPr/>
        </p:nvSpPr>
        <p:spPr>
          <a:xfrm>
            <a:off x="7040880" y="3272028"/>
            <a:ext cx="5943600" cy="292608"/>
          </a:xfrm>
          <a:prstGeom prst="rect">
            <a:avLst/>
          </a:prstGeom>
          <a:noFill/>
          <a:ln/>
        </p:spPr>
        <p:txBody>
          <a:bodyPr wrap="square" lIns="0" tIns="0" rIns="0" bIns="0" rtlCol="0" anchor="ctr"/>
          <a:lstStyle/>
          <a:p>
            <a:pPr indent="0" marL="0">
              <a:buNone/>
            </a:pPr>
            <a:r>
              <a:rPr lang="en-US" sz="1600" b="1" dirty="0">
                <a:solidFill>
                  <a:srgbClr val="000000"/>
                </a:solidFill>
                <a:latin typeface="Times New Roman" pitchFamily="34" charset="0"/>
                <a:ea typeface="Times New Roman" pitchFamily="34" charset="-122"/>
                <a:cs typeface="Times New Roman" pitchFamily="34" charset="-120"/>
              </a:rPr>
              <a:t>Blink classification and analysis</a:t>
            </a:r>
            <a:endParaRPr lang="en-US" sz="1600" dirty="0"/>
          </a:p>
        </p:txBody>
      </p:sp>
      <p:sp>
        <p:nvSpPr>
          <p:cNvPr id="23" name="Text 21"/>
          <p:cNvSpPr txBox="1"/>
          <p:nvPr/>
        </p:nvSpPr>
        <p:spPr>
          <a:xfrm>
            <a:off x="7040880" y="3656076"/>
            <a:ext cx="5943600" cy="274320"/>
          </a:xfrm>
          <a:prstGeom prst="rect">
            <a:avLst/>
          </a:prstGeom>
          <a:noFill/>
          <a:ln/>
        </p:spPr>
        <p:txBody>
          <a:bodyPr wrap="square" lIns="0" tIns="0" rIns="0" bIns="0" rtlCol="0" anchor="ctr"/>
          <a:lstStyle/>
          <a:p>
            <a:pPr indent="0" marL="0">
              <a:buNone/>
            </a:pPr>
            <a:r>
              <a:rPr lang="en-US" sz="1100" dirty="0">
                <a:solidFill>
                  <a:srgbClr val="000000"/>
                </a:solidFill>
                <a:latin typeface="Times New Roman" pitchFamily="34" charset="0"/>
                <a:ea typeface="Times New Roman" pitchFamily="34" charset="-122"/>
                <a:cs typeface="Times New Roman" pitchFamily="34" charset="-120"/>
              </a:rPr>
              <a:t>Eye-aspect ratio, expressed relative to the open-eye baseline set at calibration.</a:t>
            </a:r>
            <a:endParaRPr lang="en-US" sz="11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7040880" y="3948684"/>
          <a:ext cx="5943600" cy="914400"/>
        </p:xfrm>
        <a:graphic>
          <a:graphicData uri="http://schemas.openxmlformats.org/drawingml/2006/table">
            <a:tbl>
              <a:tblPr/>
              <a:tblGrid>
                <a:gridCol w="3657600"/>
                <a:gridCol w="2286000"/>
              </a:tblGrid>
              <a:tr h="301752">
                <a:tc>
                  <a:txBody>
                    <a:bodyPr/>
                    <a:lstStyle/>
                    <a:p>
                      <a:pPr algn="l" indent="0" marL="0">
                        <a:buNone/>
                      </a:pPr>
                      <a:r>
                        <a:rPr lang="en-US" sz="1100" b="1" dirty="0">
                          <a:solidFill>
                            <a:srgbClr val="000000"/>
                          </a:solidFill>
                          <a:latin typeface="Times New Roman" pitchFamily="34" charset="0"/>
                          <a:ea typeface="Times New Roman" pitchFamily="34" charset="-122"/>
                          <a:cs typeface="Times New Roman" pitchFamily="34" charset="-120"/>
                        </a:rPr>
                        <a:t>Eye-aspect ratio at its minimum</a:t>
                      </a:r>
                      <a:endParaRPr lang="en-US" sz="1100" dirty="0">
                        <a:latin typeface="Times New Roman" charset="0"/>
                        <a:ea typeface="Times New Roman" charset="0"/>
                        <a:cs typeface="Times New Roman" charset="0"/>
                      </a:endParaRPr>
                    </a:p>
                  </a:txBody>
                  <a:tcPr marL="45720" marR="45720" marT="45720" marB="4572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E8E8E8"/>
                    </a:solidFill>
                  </a:tcPr>
                </a:tc>
                <a:tc>
                  <a:txBody>
                    <a:bodyPr/>
                    <a:lstStyle/>
                    <a:p>
                      <a:pPr algn="l" indent="0" marL="0">
                        <a:buNone/>
                      </a:pPr>
                      <a:r>
                        <a:rPr lang="en-US" sz="1100" b="1" dirty="0">
                          <a:solidFill>
                            <a:srgbClr val="000000"/>
                          </a:solidFill>
                          <a:latin typeface="Times New Roman" pitchFamily="34" charset="0"/>
                          <a:ea typeface="Times New Roman" pitchFamily="34" charset="-122"/>
                          <a:cs typeface="Times New Roman" pitchFamily="34" charset="-120"/>
                        </a:rPr>
                        <a:t>Classification</a:t>
                      </a:r>
                      <a:endParaRPr lang="en-US" sz="1100" dirty="0">
                        <a:latin typeface="Times New Roman" charset="0"/>
                        <a:ea typeface="Times New Roman" charset="0"/>
                        <a:cs typeface="Times New Roman" charset="0"/>
                      </a:endParaRPr>
                    </a:p>
                  </a:txBody>
                  <a:tcPr marL="45720" marR="45720" marT="45720" marB="4572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E8E8E8"/>
                    </a:solidFill>
                  </a:tcPr>
                </a:tc>
              </a:tr>
              <a:tr h="301752">
                <a:tc>
                  <a:txBody>
                    <a:bodyPr/>
                    <a:lstStyle/>
                    <a:p>
                      <a:pPr algn="l" indent="0" marL="0">
                        <a:buNone/>
                      </a:pPr>
                      <a:r>
                        <a:rPr lang="en-US" sz="1100" dirty="0">
                          <a:solidFill>
                            <a:srgbClr val="000000"/>
                          </a:solidFill>
                          <a:latin typeface="Times New Roman" pitchFamily="34" charset="0"/>
                          <a:ea typeface="Times New Roman" pitchFamily="34" charset="-122"/>
                          <a:cs typeface="Times New Roman" pitchFamily="34" charset="-120"/>
                        </a:rPr>
                        <a:t>Never falls below 0.75 × baseline</a:t>
                      </a:r>
                      <a:endParaRPr lang="en-US" sz="1100" dirty="0">
                        <a:latin typeface="Times New Roman" charset="0"/>
                        <a:ea typeface="Times New Roman" charset="0"/>
                        <a:cs typeface="Times New Roman" charset="0"/>
                      </a:endParaRPr>
                    </a:p>
                  </a:txBody>
                  <a:tcPr marL="45720" marR="45720" marT="45720" marB="4572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00000"/>
                          </a:solidFill>
                          <a:latin typeface="Times New Roman" pitchFamily="34" charset="0"/>
                          <a:ea typeface="Times New Roman" pitchFamily="34" charset="-122"/>
                          <a:cs typeface="Times New Roman" pitchFamily="34" charset="-120"/>
                        </a:rPr>
                        <a:t>No blink registered</a:t>
                      </a:r>
                      <a:endParaRPr lang="en-US" sz="1100" dirty="0">
                        <a:latin typeface="Times New Roman" charset="0"/>
                        <a:ea typeface="Times New Roman" charset="0"/>
                        <a:cs typeface="Times New Roman" charset="0"/>
                      </a:endParaRPr>
                    </a:p>
                  </a:txBody>
                  <a:tcPr marL="45720" marR="45720" marT="45720" marB="4572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r>
              <a:tr h="301752">
                <a:tc>
                  <a:txBody>
                    <a:bodyPr/>
                    <a:lstStyle/>
                    <a:p>
                      <a:pPr algn="l" indent="0" marL="0">
                        <a:buNone/>
                      </a:pPr>
                      <a:r>
                        <a:rPr lang="en-US" sz="1100" dirty="0">
                          <a:solidFill>
                            <a:srgbClr val="000000"/>
                          </a:solidFill>
                          <a:latin typeface="Times New Roman" pitchFamily="34" charset="0"/>
                          <a:ea typeface="Times New Roman" pitchFamily="34" charset="-122"/>
                          <a:cs typeface="Times New Roman" pitchFamily="34" charset="-120"/>
                        </a:rPr>
                        <a:t>Reaches 0.60 × baseline or lower</a:t>
                      </a:r>
                      <a:endParaRPr lang="en-US" sz="1100" dirty="0">
                        <a:latin typeface="Times New Roman" charset="0"/>
                        <a:ea typeface="Times New Roman" charset="0"/>
                        <a:cs typeface="Times New Roman" charset="0"/>
                      </a:endParaRPr>
                    </a:p>
                  </a:txBody>
                  <a:tcPr marL="45720" marR="45720" marT="45720" marB="4572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00000"/>
                          </a:solidFill>
                          <a:latin typeface="Times New Roman" pitchFamily="34" charset="0"/>
                          <a:ea typeface="Times New Roman" pitchFamily="34" charset="-122"/>
                          <a:cs typeface="Times New Roman" pitchFamily="34" charset="-120"/>
                        </a:rPr>
                        <a:t>Complete blink</a:t>
                      </a:r>
                      <a:endParaRPr lang="en-US" sz="1100" dirty="0">
                        <a:latin typeface="Times New Roman" charset="0"/>
                        <a:ea typeface="Times New Roman" charset="0"/>
                        <a:cs typeface="Times New Roman" charset="0"/>
                      </a:endParaRPr>
                    </a:p>
                  </a:txBody>
                  <a:tcPr marL="45720" marR="45720" marT="45720" marB="4572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r>
              <a:tr h="301752">
                <a:tc>
                  <a:txBody>
                    <a:bodyPr/>
                    <a:lstStyle/>
                    <a:p>
                      <a:pPr algn="l" indent="0" marL="0">
                        <a:buNone/>
                      </a:pPr>
                      <a:r>
                        <a:rPr lang="en-US" sz="1100" dirty="0">
                          <a:solidFill>
                            <a:srgbClr val="000000"/>
                          </a:solidFill>
                          <a:latin typeface="Times New Roman" pitchFamily="34" charset="0"/>
                          <a:ea typeface="Times New Roman" pitchFamily="34" charset="-122"/>
                          <a:cs typeface="Times New Roman" pitchFamily="34" charset="-120"/>
                        </a:rPr>
                        <a:t>Between 0.60 and 0.75 × baseline</a:t>
                      </a:r>
                      <a:endParaRPr lang="en-US" sz="1100" dirty="0">
                        <a:latin typeface="Times New Roman" charset="0"/>
                        <a:ea typeface="Times New Roman" charset="0"/>
                        <a:cs typeface="Times New Roman" charset="0"/>
                      </a:endParaRPr>
                    </a:p>
                  </a:txBody>
                  <a:tcPr marL="45720" marR="45720" marT="45720" marB="4572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00000"/>
                          </a:solidFill>
                          <a:latin typeface="Times New Roman" pitchFamily="34" charset="0"/>
                          <a:ea typeface="Times New Roman" pitchFamily="34" charset="-122"/>
                          <a:cs typeface="Times New Roman" pitchFamily="34" charset="-120"/>
                        </a:rPr>
                        <a:t>Incomplete blink</a:t>
                      </a:r>
                      <a:endParaRPr lang="en-US" sz="1100" dirty="0">
                        <a:latin typeface="Times New Roman" charset="0"/>
                        <a:ea typeface="Times New Roman" charset="0"/>
                        <a:cs typeface="Times New Roman" charset="0"/>
                      </a:endParaRPr>
                    </a:p>
                  </a:txBody>
                  <a:tcPr marL="45720" marR="45720" marT="45720" marB="4572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r>
            </a:tbl>
          </a:graphicData>
        </a:graphic>
      </p:graphicFrame>
      <p:sp>
        <p:nvSpPr>
          <p:cNvPr id="25" name="Text 22"/>
          <p:cNvSpPr txBox="1"/>
          <p:nvPr/>
        </p:nvSpPr>
        <p:spPr>
          <a:xfrm>
            <a:off x="7040880" y="5301996"/>
            <a:ext cx="5943600" cy="2072640"/>
          </a:xfrm>
          <a:prstGeom prst="rect">
            <a:avLst/>
          </a:prstGeom>
          <a:noFill/>
          <a:ln/>
        </p:spPr>
        <p:txBody>
          <a:bodyPr wrap="square" lIns="0" tIns="0" rIns="0" bIns="0" rtlCol="0" anchor="t"/>
          <a:lstStyle/>
          <a:p>
            <a:pPr marL="203200" indent="-203200">
              <a:lnSpc>
                <a:spcPts val="1500"/>
              </a:lnSpc>
              <a:spcAft>
                <a:spcPts val="700"/>
              </a:spcAft>
              <a:buSzPct val="100000"/>
              <a:buChar char="•"/>
            </a:pPr>
            <a:r>
              <a:rPr lang="en-US" sz="1150" dirty="0">
                <a:solidFill>
                  <a:srgbClr val="000000"/>
                </a:solidFill>
                <a:latin typeface="Times New Roman" pitchFamily="34" charset="0"/>
                <a:ea typeface="Times New Roman" pitchFamily="34" charset="-122"/>
                <a:cs typeface="Times New Roman" pitchFamily="34" charset="-120"/>
              </a:rPr>
              <a:t>Incomplete-blink ratio = incomplete blinks ÷ all detected blinks, per condition. Counting blinks alone would miss this: a lid that descends but never meets is still one blink.</a:t>
            </a:r>
            <a:endParaRPr lang="en-US" sz="1150" dirty="0"/>
          </a:p>
          <a:p>
            <a:pPr marL="203200" indent="-203200">
              <a:lnSpc>
                <a:spcPts val="1500"/>
              </a:lnSpc>
              <a:spcAft>
                <a:spcPts val="700"/>
              </a:spcAft>
              <a:buSzPct val="100000"/>
              <a:buChar char="•"/>
            </a:pPr>
            <a:r>
              <a:rPr lang="en-US" sz="1150" i="1" dirty="0">
                <a:solidFill>
                  <a:srgbClr val="000000"/>
                </a:solidFill>
                <a:latin typeface="Times New Roman" pitchFamily="34" charset="0"/>
                <a:ea typeface="Times New Roman" pitchFamily="34" charset="-122"/>
                <a:cs typeface="Times New Roman" pitchFamily="34" charset="-120"/>
              </a:rPr>
              <a:t>Validation.</a:t>
            </a:r>
            <a:r>
              <a:rPr lang="en-US" sz="1150" dirty="0">
                <a:solidFill>
                  <a:srgbClr val="000000"/>
                </a:solidFill>
                <a:latin typeface="Times New Roman" pitchFamily="34" charset="0"/>
                <a:ea typeface="Times New Roman" pitchFamily="34" charset="-122"/>
                <a:cs typeface="Times New Roman" pitchFamily="34" charset="-120"/>
              </a:rPr>
              <a:t> Twenty participants contribute two 3-minute segments each for masked frame-by-frame annotation. Criteria: Cohen’s κ ≥ 0.60, and Bland–Altman bias within ±5 percentage points.</a:t>
            </a:r>
            <a:endParaRPr lang="en-US" sz="1150" dirty="0"/>
          </a:p>
          <a:p>
            <a:pPr marL="203200" indent="-203200">
              <a:lnSpc>
                <a:spcPts val="1500"/>
              </a:lnSpc>
              <a:spcAft>
                <a:spcPts val="700"/>
              </a:spcAft>
              <a:buSzPct val="100000"/>
              <a:buChar char="•"/>
            </a:pPr>
            <a:r>
              <a:rPr lang="en-US" sz="1150" i="1" dirty="0">
                <a:solidFill>
                  <a:srgbClr val="000000"/>
                </a:solidFill>
                <a:latin typeface="Times New Roman" pitchFamily="34" charset="0"/>
                <a:ea typeface="Times New Roman" pitchFamily="34" charset="-122"/>
                <a:cs typeface="Times New Roman" pitchFamily="34" charset="-120"/>
              </a:rPr>
              <a:t>Analysis.</a:t>
            </a:r>
            <a:r>
              <a:rPr lang="en-US" sz="1150" dirty="0">
                <a:solidFill>
                  <a:srgbClr val="000000"/>
                </a:solidFill>
                <a:latin typeface="Times New Roman" pitchFamily="34" charset="0"/>
                <a:ea typeface="Times New Roman" pitchFamily="34" charset="-122"/>
                <a:cs typeface="Times New Roman" pitchFamily="34" charset="-120"/>
              </a:rPr>
              <a:t> A binomial mixed-effects model of the incomplete-blink counts, with fixed effects for polarity, text colour, their interaction and serial position, and a random intercept for participant. Counts are modelled rather than the ratio, because a proportion from five blinks and one from sixty are not equally informative.</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1520" y="384048"/>
            <a:ext cx="12252960" cy="566928"/>
          </a:xfrm>
          <a:prstGeom prst="rect">
            <a:avLst/>
          </a:prstGeom>
          <a:noFill/>
          <a:ln/>
        </p:spPr>
        <p:txBody>
          <a:bodyPr wrap="square" lIns="0" tIns="0" rIns="0" bIns="0" rtlCol="0" anchor="t"/>
          <a:lstStyle/>
          <a:p>
            <a:pPr indent="0" marL="0">
              <a:buNone/>
            </a:pPr>
            <a:r>
              <a:rPr lang="en-US" sz="2400" b="1" dirty="0">
                <a:solidFill>
                  <a:srgbClr val="1F3864"/>
                </a:solidFill>
                <a:latin typeface="Times New Roman" pitchFamily="34" charset="0"/>
                <a:ea typeface="Times New Roman" pitchFamily="34" charset="-122"/>
                <a:cs typeface="Times New Roman" pitchFamily="34" charset="-120"/>
              </a:rPr>
              <a:t>5. Expected Outcome and Significance</a:t>
            </a:r>
            <a:endParaRPr lang="en-US" sz="2400" dirty="0"/>
          </a:p>
        </p:txBody>
      </p:sp>
      <p:sp>
        <p:nvSpPr>
          <p:cNvPr id="3" name="Text 1"/>
          <p:cNvSpPr txBox="1"/>
          <p:nvPr/>
        </p:nvSpPr>
        <p:spPr>
          <a:xfrm>
            <a:off x="12435840" y="8229600"/>
            <a:ext cx="548640" cy="274320"/>
          </a:xfrm>
          <a:prstGeom prst="rect">
            <a:avLst/>
          </a:prstGeom>
          <a:noFill/>
          <a:ln/>
        </p:spPr>
        <p:txBody>
          <a:bodyPr wrap="square" lIns="0" tIns="0" rIns="0" bIns="0" rtlCol="0" anchor="ctr"/>
          <a:lstStyle/>
          <a:p>
            <a:pPr algn="r" indent="0" marL="0">
              <a:buNone/>
            </a:pPr>
            <a:r>
              <a:rPr lang="en-US" sz="1100" dirty="0">
                <a:solidFill>
                  <a:srgbClr val="595959"/>
                </a:solidFill>
                <a:latin typeface="Times New Roman" pitchFamily="34" charset="0"/>
                <a:ea typeface="Times New Roman" pitchFamily="34" charset="-122"/>
                <a:cs typeface="Times New Roman" pitchFamily="34" charset="-120"/>
              </a:rPr>
              <a:t>13</a:t>
            </a:r>
            <a:endParaRPr lang="en-US" sz="1100" dirty="0"/>
          </a:p>
        </p:txBody>
      </p:sp>
      <p:sp>
        <p:nvSpPr>
          <p:cNvPr id="4" name="Text 2"/>
          <p:cNvSpPr txBox="1"/>
          <p:nvPr/>
        </p:nvSpPr>
        <p:spPr>
          <a:xfrm>
            <a:off x="731520" y="1280160"/>
            <a:ext cx="12252960" cy="292608"/>
          </a:xfrm>
          <a:prstGeom prst="rect">
            <a:avLst/>
          </a:prstGeom>
          <a:noFill/>
          <a:ln/>
        </p:spPr>
        <p:txBody>
          <a:bodyPr wrap="square" lIns="0" tIns="0" rIns="0" bIns="0" rtlCol="0" anchor="ctr"/>
          <a:lstStyle/>
          <a:p>
            <a:pPr indent="0" marL="0">
              <a:buNone/>
            </a:pPr>
            <a:r>
              <a:rPr lang="en-US" sz="1600" b="1" dirty="0">
                <a:solidFill>
                  <a:srgbClr val="000000"/>
                </a:solidFill>
                <a:latin typeface="Times New Roman" pitchFamily="34" charset="0"/>
                <a:ea typeface="Times New Roman" pitchFamily="34" charset="-122"/>
                <a:cs typeface="Times New Roman" pitchFamily="34" charset="-120"/>
              </a:rPr>
              <a:t>Expected outcomes</a:t>
            </a:r>
            <a:endParaRPr lang="en-US" sz="1600" dirty="0"/>
          </a:p>
        </p:txBody>
      </p:sp>
      <p:sp>
        <p:nvSpPr>
          <p:cNvPr id="5" name="Text 3"/>
          <p:cNvSpPr txBox="1"/>
          <p:nvPr/>
        </p:nvSpPr>
        <p:spPr>
          <a:xfrm>
            <a:off x="731520" y="1664208"/>
            <a:ext cx="12252960" cy="1958340"/>
          </a:xfrm>
          <a:prstGeom prst="rect">
            <a:avLst/>
          </a:prstGeom>
          <a:noFill/>
          <a:ln/>
        </p:spPr>
        <p:txBody>
          <a:bodyPr wrap="square" lIns="0" tIns="0" rIns="0" bIns="0" rtlCol="0" anchor="t"/>
          <a:lstStyle/>
          <a:p>
            <a:pPr marL="203200" indent="-203200">
              <a:lnSpc>
                <a:spcPts val="1600"/>
              </a:lnSpc>
              <a:spcAft>
                <a:spcPts val="700"/>
              </a:spcAft>
              <a:buSzPct val="100000"/>
              <a:buChar char="•"/>
            </a:pPr>
            <a:r>
              <a:rPr lang="en-US" sz="1200" dirty="0">
                <a:solidFill>
                  <a:srgbClr val="000000"/>
                </a:solidFill>
                <a:latin typeface="Times New Roman" pitchFamily="34" charset="0"/>
                <a:ea typeface="Times New Roman" pitchFamily="34" charset="-122"/>
                <a:cs typeface="Times New Roman" pitchFamily="34" charset="-120"/>
              </a:rPr>
              <a:t>Quantified effects, with confidence intervals, of display polarity and text colour on subjective visual fatigue, ocular behaviour, cognitive workload and task performance at a controlled ambient illuminance — and, to the best of the available evidence, among the first estimates of the polarity-by-colour interaction on fatigue outcomes.</a:t>
            </a:r>
            <a:endParaRPr lang="en-US" sz="1200" dirty="0"/>
          </a:p>
          <a:p>
            <a:pPr marL="203200" indent="-203200">
              <a:lnSpc>
                <a:spcPts val="1600"/>
              </a:lnSpc>
              <a:spcAft>
                <a:spcPts val="700"/>
              </a:spcAft>
              <a:buSzPct val="100000"/>
              <a:buChar char="•"/>
            </a:pPr>
            <a:r>
              <a:rPr lang="en-US" sz="1200" dirty="0">
                <a:solidFill>
                  <a:srgbClr val="000000"/>
                </a:solidFill>
                <a:latin typeface="Times New Roman" pitchFamily="34" charset="0"/>
                <a:ea typeface="Times New Roman" pitchFamily="34" charset="-122"/>
                <a:cs typeface="Times New Roman" pitchFamily="34" charset="-120"/>
              </a:rPr>
              <a:t>A determination of whether the positive polarity advantage extends from brief legibility tasks to prolonged reading and ocular-surface outcomes.</a:t>
            </a:r>
            <a:endParaRPr lang="en-US" sz="1200" dirty="0"/>
          </a:p>
          <a:p>
            <a:pPr marL="203200" indent="-203200">
              <a:lnSpc>
                <a:spcPts val="1600"/>
              </a:lnSpc>
              <a:spcAft>
                <a:spcPts val="700"/>
              </a:spcAft>
              <a:buSzPct val="100000"/>
              <a:buChar char="•"/>
            </a:pPr>
            <a:r>
              <a:rPr lang="en-US" sz="1200" dirty="0">
                <a:solidFill>
                  <a:srgbClr val="000000"/>
                </a:solidFill>
                <a:latin typeface="Times New Roman" pitchFamily="34" charset="0"/>
                <a:ea typeface="Times New Roman" pitchFamily="34" charset="-122"/>
                <a:cs typeface="Times New Roman" pitchFamily="34" charset="-120"/>
              </a:rPr>
              <a:t>A separation of contrast from hue. Because the contrast ordering of the colours reverses across polarity, a crossover interaction would support contrast mediation, while a preserved ordering would indicate residual hue-specific effects — with red the a priori candidate exception.</a:t>
            </a:r>
            <a:endParaRPr lang="en-US" sz="1200" dirty="0"/>
          </a:p>
          <a:p>
            <a:pPr marL="203200" indent="-203200">
              <a:lnSpc>
                <a:spcPts val="1600"/>
              </a:lnSpc>
              <a:spcAft>
                <a:spcPts val="700"/>
              </a:spcAft>
              <a:buSzPct val="100000"/>
              <a:buChar char="•"/>
            </a:pPr>
            <a:r>
              <a:rPr lang="en-US" sz="1200" dirty="0">
                <a:solidFill>
                  <a:srgbClr val="000000"/>
                </a:solidFill>
                <a:latin typeface="Times New Roman" pitchFamily="34" charset="0"/>
                <a:ea typeface="Times New Roman" pitchFamily="34" charset="-122"/>
                <a:cs typeface="Times New Roman" pitchFamily="34" charset="-120"/>
              </a:rPr>
              <a:t>Identification of the configurations that minimise and maximise fatigue, and an indication of whether a polarity-blind contrast criterion adequately predicts measured readability.</a:t>
            </a:r>
            <a:endParaRPr lang="en-US" sz="1200" dirty="0"/>
          </a:p>
          <a:p>
            <a:pPr marL="203200" indent="-203200">
              <a:lnSpc>
                <a:spcPts val="1600"/>
              </a:lnSpc>
              <a:spcAft>
                <a:spcPts val="700"/>
              </a:spcAft>
              <a:buSzPct val="100000"/>
              <a:buChar char="•"/>
            </a:pPr>
            <a:r>
              <a:rPr lang="en-US" sz="1200" dirty="0">
                <a:solidFill>
                  <a:srgbClr val="000000"/>
                </a:solidFill>
                <a:latin typeface="Times New Roman" pitchFamily="34" charset="0"/>
                <a:ea typeface="Times New Roman" pitchFamily="34" charset="-122"/>
                <a:cs typeface="Times New Roman" pitchFamily="34" charset="-120"/>
              </a:rPr>
              <a:t>An account of subjective–objective correspondence, and a camera-based blink measure whose agreement with manual annotation is reported rather than assumed.</a:t>
            </a:r>
            <a:endParaRPr lang="en-US" sz="1200" dirty="0"/>
          </a:p>
        </p:txBody>
      </p:sp>
      <p:sp>
        <p:nvSpPr>
          <p:cNvPr id="6" name="Text 4"/>
          <p:cNvSpPr txBox="1"/>
          <p:nvPr/>
        </p:nvSpPr>
        <p:spPr>
          <a:xfrm>
            <a:off x="731520" y="3823716"/>
            <a:ext cx="12252960" cy="292608"/>
          </a:xfrm>
          <a:prstGeom prst="rect">
            <a:avLst/>
          </a:prstGeom>
          <a:noFill/>
          <a:ln/>
        </p:spPr>
        <p:txBody>
          <a:bodyPr wrap="square" lIns="0" tIns="0" rIns="0" bIns="0" rtlCol="0" anchor="ctr"/>
          <a:lstStyle/>
          <a:p>
            <a:pPr indent="0" marL="0">
              <a:buNone/>
            </a:pPr>
            <a:r>
              <a:rPr lang="en-US" sz="1600" b="1" dirty="0">
                <a:solidFill>
                  <a:srgbClr val="000000"/>
                </a:solidFill>
                <a:latin typeface="Times New Roman" pitchFamily="34" charset="0"/>
                <a:ea typeface="Times New Roman" pitchFamily="34" charset="-122"/>
                <a:cs typeface="Times New Roman" pitchFamily="34" charset="-120"/>
              </a:rPr>
              <a:t>Significance</a:t>
            </a:r>
            <a:endParaRPr lang="en-US" sz="1600" dirty="0"/>
          </a:p>
        </p:txBody>
      </p:sp>
      <p:sp>
        <p:nvSpPr>
          <p:cNvPr id="7" name="Text 5"/>
          <p:cNvSpPr txBox="1"/>
          <p:nvPr/>
        </p:nvSpPr>
        <p:spPr>
          <a:xfrm>
            <a:off x="731520" y="4207764"/>
            <a:ext cx="12252960" cy="1755140"/>
          </a:xfrm>
          <a:prstGeom prst="rect">
            <a:avLst/>
          </a:prstGeom>
          <a:noFill/>
          <a:ln/>
        </p:spPr>
        <p:txBody>
          <a:bodyPr wrap="square" lIns="0" tIns="0" rIns="0" bIns="0" rtlCol="0" anchor="t"/>
          <a:lstStyle/>
          <a:p>
            <a:pPr marL="203200" indent="-203200">
              <a:lnSpc>
                <a:spcPts val="1600"/>
              </a:lnSpc>
              <a:spcAft>
                <a:spcPts val="700"/>
              </a:spcAft>
              <a:buSzPct val="100000"/>
              <a:buChar char="•"/>
            </a:pPr>
            <a:r>
              <a:rPr lang="en-US" sz="1200" dirty="0">
                <a:solidFill>
                  <a:srgbClr val="000000"/>
                </a:solidFill>
                <a:latin typeface="Times New Roman" pitchFamily="34" charset="0"/>
                <a:ea typeface="Times New Roman" pitchFamily="34" charset="-122"/>
                <a:cs typeface="Times New Roman" pitchFamily="34" charset="-120"/>
              </a:rPr>
              <a:t>Display configuration is a preventive measure that costs nothing to change and can be deployed at population scale, for a condition affecting roughly seven in ten screen users.</a:t>
            </a:r>
            <a:endParaRPr lang="en-US" sz="1200" dirty="0"/>
          </a:p>
          <a:p>
            <a:pPr marL="203200" indent="-203200">
              <a:lnSpc>
                <a:spcPts val="1600"/>
              </a:lnSpc>
              <a:spcAft>
                <a:spcPts val="700"/>
              </a:spcAft>
              <a:buSzPct val="100000"/>
              <a:buChar char="•"/>
            </a:pPr>
            <a:r>
              <a:rPr lang="en-US" sz="1200" dirty="0">
                <a:solidFill>
                  <a:srgbClr val="000000"/>
                </a:solidFill>
                <a:latin typeface="Times New Roman" pitchFamily="34" charset="0"/>
                <a:ea typeface="Times New Roman" pitchFamily="34" charset="-122"/>
                <a:cs typeface="Times New Roman" pitchFamily="34" charset="-120"/>
              </a:rPr>
              <a:t>For interface and product design, an empirically grounded specification of text presentation and dark-mode implementation for reading applications, e-readers, e-learning platforms and operating-system themes.</a:t>
            </a:r>
            <a:endParaRPr lang="en-US" sz="1200" dirty="0"/>
          </a:p>
          <a:p>
            <a:pPr marL="203200" indent="-203200">
              <a:lnSpc>
                <a:spcPts val="1600"/>
              </a:lnSpc>
              <a:spcAft>
                <a:spcPts val="700"/>
              </a:spcAft>
              <a:buSzPct val="100000"/>
              <a:buChar char="•"/>
            </a:pPr>
            <a:r>
              <a:rPr lang="en-US" sz="1200" dirty="0">
                <a:solidFill>
                  <a:srgbClr val="000000"/>
                </a:solidFill>
                <a:latin typeface="Times New Roman" pitchFamily="34" charset="0"/>
                <a:ea typeface="Times New Roman" pitchFamily="34" charset="-122"/>
                <a:cs typeface="Times New Roman" pitchFamily="34" charset="-120"/>
              </a:rPr>
              <a:t>For accessibility standards, evidence on whether and how polarity must enter a contrast criterion that at present ignores it.</a:t>
            </a:r>
            <a:endParaRPr lang="en-US" sz="1200" dirty="0"/>
          </a:p>
          <a:p>
            <a:pPr marL="203200" indent="-203200">
              <a:lnSpc>
                <a:spcPts val="1600"/>
              </a:lnSpc>
              <a:spcAft>
                <a:spcPts val="700"/>
              </a:spcAft>
              <a:buSzPct val="100000"/>
              <a:buChar char="•"/>
            </a:pPr>
            <a:r>
              <a:rPr lang="en-US" sz="1200" dirty="0">
                <a:solidFill>
                  <a:srgbClr val="000000"/>
                </a:solidFill>
                <a:latin typeface="Times New Roman" pitchFamily="34" charset="0"/>
                <a:ea typeface="Times New Roman" pitchFamily="34" charset="-122"/>
                <a:cs typeface="Times New Roman" pitchFamily="34" charset="-120"/>
              </a:rPr>
              <a:t>For optometric practice, actionable device-configuration advice in an area where practitioners are documented to lack quality evidence.</a:t>
            </a:r>
            <a:endParaRPr lang="en-US" sz="1200" dirty="0"/>
          </a:p>
          <a:p>
            <a:pPr marL="203200" indent="-203200">
              <a:lnSpc>
                <a:spcPts val="1600"/>
              </a:lnSpc>
              <a:spcAft>
                <a:spcPts val="700"/>
              </a:spcAft>
              <a:buSzPct val="100000"/>
              <a:buChar char="•"/>
            </a:pPr>
            <a:r>
              <a:rPr lang="en-US" sz="1200" dirty="0">
                <a:solidFill>
                  <a:srgbClr val="000000"/>
                </a:solidFill>
                <a:latin typeface="Times New Roman" pitchFamily="34" charset="0"/>
                <a:ea typeface="Times New Roman" pitchFamily="34" charset="-122"/>
                <a:cs typeface="Times New Roman" pitchFamily="34" charset="-120"/>
              </a:rPr>
              <a:t>Methodologically, a scalable instrument that would relieve the manual-annotation bottleneck which has confined this literature to samples of eleven to fifty participants.</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1520" y="384048"/>
            <a:ext cx="12252960" cy="566928"/>
          </a:xfrm>
          <a:prstGeom prst="rect">
            <a:avLst/>
          </a:prstGeom>
          <a:noFill/>
          <a:ln/>
        </p:spPr>
        <p:txBody>
          <a:bodyPr wrap="square" lIns="0" tIns="0" rIns="0" bIns="0" rtlCol="0" anchor="t"/>
          <a:lstStyle/>
          <a:p>
            <a:pPr indent="0" marL="0">
              <a:buNone/>
            </a:pPr>
            <a:r>
              <a:rPr lang="en-US" sz="2400" b="1" dirty="0">
                <a:solidFill>
                  <a:srgbClr val="1F3864"/>
                </a:solidFill>
                <a:latin typeface="Times New Roman" pitchFamily="34" charset="0"/>
                <a:ea typeface="Times New Roman" pitchFamily="34" charset="-122"/>
                <a:cs typeface="Times New Roman" pitchFamily="34" charset="-120"/>
              </a:rPr>
              <a:t>6. References (1 of 2)</a:t>
            </a:r>
            <a:endParaRPr lang="en-US" sz="2400" dirty="0"/>
          </a:p>
        </p:txBody>
      </p:sp>
      <p:sp>
        <p:nvSpPr>
          <p:cNvPr id="3" name="Text 1"/>
          <p:cNvSpPr txBox="1"/>
          <p:nvPr/>
        </p:nvSpPr>
        <p:spPr>
          <a:xfrm>
            <a:off x="12435840" y="8229600"/>
            <a:ext cx="548640" cy="274320"/>
          </a:xfrm>
          <a:prstGeom prst="rect">
            <a:avLst/>
          </a:prstGeom>
          <a:noFill/>
          <a:ln/>
        </p:spPr>
        <p:txBody>
          <a:bodyPr wrap="square" lIns="0" tIns="0" rIns="0" bIns="0" rtlCol="0" anchor="ctr"/>
          <a:lstStyle/>
          <a:p>
            <a:pPr algn="r" indent="0" marL="0">
              <a:buNone/>
            </a:pPr>
            <a:r>
              <a:rPr lang="en-US" sz="1100" dirty="0">
                <a:solidFill>
                  <a:srgbClr val="595959"/>
                </a:solidFill>
                <a:latin typeface="Times New Roman" pitchFamily="34" charset="0"/>
                <a:ea typeface="Times New Roman" pitchFamily="34" charset="-122"/>
                <a:cs typeface="Times New Roman" pitchFamily="34" charset="-120"/>
              </a:rPr>
              <a:t>14</a:t>
            </a:r>
            <a:endParaRPr lang="en-US" sz="1100" dirty="0"/>
          </a:p>
        </p:txBody>
      </p:sp>
      <p:sp>
        <p:nvSpPr>
          <p:cNvPr id="4" name="Text 2"/>
          <p:cNvSpPr txBox="1"/>
          <p:nvPr/>
        </p:nvSpPr>
        <p:spPr>
          <a:xfrm>
            <a:off x="731520" y="1280160"/>
            <a:ext cx="12252960" cy="454152"/>
          </a:xfrm>
          <a:prstGeom prst="rect">
            <a:avLst/>
          </a:prstGeom>
          <a:noFill/>
          <a:ln/>
        </p:spPr>
        <p:txBody>
          <a:bodyPr wrap="square" lIns="0" tIns="0" rIns="0" bIns="0" rtlCol="0" anchor="t"/>
          <a:lstStyle/>
          <a:p>
            <a:pPr indent="0" marL="0">
              <a:lnSpc>
                <a:spcPts val="1500"/>
              </a:lnSpc>
              <a:buNone/>
            </a:pPr>
            <a:r>
              <a:rPr lang="en-US" sz="1100" dirty="0">
                <a:solidFill>
                  <a:srgbClr val="000000"/>
                </a:solidFill>
                <a:latin typeface="Times New Roman" pitchFamily="34" charset="0"/>
                <a:ea typeface="Times New Roman" pitchFamily="34" charset="-122"/>
                <a:cs typeface="Times New Roman" pitchFamily="34" charset="-120"/>
              </a:rPr>
              <a:t>Argilés, M., Cardona, G., Pérez-Cabré, E., &amp; Rodríguez, M. (2015). Blink rate and incomplete blinks in six different controlled hard-copy and electronic reading conditions. </a:t>
            </a:r>
            <a:r>
              <a:rPr lang="en-US" sz="1100" i="1" dirty="0">
                <a:solidFill>
                  <a:srgbClr val="000000"/>
                </a:solidFill>
                <a:latin typeface="Times New Roman" pitchFamily="34" charset="0"/>
                <a:ea typeface="Times New Roman" pitchFamily="34" charset="-122"/>
                <a:cs typeface="Times New Roman" pitchFamily="34" charset="-120"/>
              </a:rPr>
              <a:t>Investigative Ophthalmology &amp; Visual Science, 56</a:t>
            </a:r>
            <a:r>
              <a:rPr lang="en-US" sz="1100" dirty="0">
                <a:solidFill>
                  <a:srgbClr val="000000"/>
                </a:solidFill>
                <a:latin typeface="Times New Roman" pitchFamily="34" charset="0"/>
                <a:ea typeface="Times New Roman" pitchFamily="34" charset="-122"/>
                <a:cs typeface="Times New Roman" pitchFamily="34" charset="-120"/>
              </a:rPr>
              <a:t>(11), 6679–6685.</a:t>
            </a:r>
            <a:endParaRPr lang="en-US" sz="1100" dirty="0"/>
          </a:p>
        </p:txBody>
      </p:sp>
      <p:sp>
        <p:nvSpPr>
          <p:cNvPr id="5" name="Text 3"/>
          <p:cNvSpPr txBox="1"/>
          <p:nvPr/>
        </p:nvSpPr>
        <p:spPr>
          <a:xfrm>
            <a:off x="731520" y="1844040"/>
            <a:ext cx="12252960" cy="263652"/>
          </a:xfrm>
          <a:prstGeom prst="rect">
            <a:avLst/>
          </a:prstGeom>
          <a:noFill/>
          <a:ln/>
        </p:spPr>
        <p:txBody>
          <a:bodyPr wrap="square" lIns="0" tIns="0" rIns="0" bIns="0" rtlCol="0" anchor="t"/>
          <a:lstStyle/>
          <a:p>
            <a:pPr indent="0" marL="0">
              <a:lnSpc>
                <a:spcPts val="1500"/>
              </a:lnSpc>
              <a:buNone/>
            </a:pPr>
            <a:r>
              <a:rPr lang="en-US" sz="1100" dirty="0">
                <a:solidFill>
                  <a:srgbClr val="000000"/>
                </a:solidFill>
                <a:latin typeface="Times New Roman" pitchFamily="34" charset="0"/>
                <a:ea typeface="Times New Roman" pitchFamily="34" charset="-122"/>
                <a:cs typeface="Times New Roman" pitchFamily="34" charset="-120"/>
              </a:rPr>
              <a:t>Buchner, A., &amp; Baumgartner, N. (2007). Text–background polarity affects performance irrespective of ambient illumination and colour contrast. </a:t>
            </a:r>
            <a:r>
              <a:rPr lang="en-US" sz="1100" i="1" dirty="0">
                <a:solidFill>
                  <a:srgbClr val="000000"/>
                </a:solidFill>
                <a:latin typeface="Times New Roman" pitchFamily="34" charset="0"/>
                <a:ea typeface="Times New Roman" pitchFamily="34" charset="-122"/>
                <a:cs typeface="Times New Roman" pitchFamily="34" charset="-120"/>
              </a:rPr>
              <a:t>Ergonomics, 50</a:t>
            </a:r>
            <a:r>
              <a:rPr lang="en-US" sz="1100" dirty="0">
                <a:solidFill>
                  <a:srgbClr val="000000"/>
                </a:solidFill>
                <a:latin typeface="Times New Roman" pitchFamily="34" charset="0"/>
                <a:ea typeface="Times New Roman" pitchFamily="34" charset="-122"/>
                <a:cs typeface="Times New Roman" pitchFamily="34" charset="-120"/>
              </a:rPr>
              <a:t>(7), 1036–1063.</a:t>
            </a:r>
            <a:endParaRPr lang="en-US" sz="1100" dirty="0"/>
          </a:p>
        </p:txBody>
      </p:sp>
      <p:sp>
        <p:nvSpPr>
          <p:cNvPr id="6" name="Text 4"/>
          <p:cNvSpPr txBox="1"/>
          <p:nvPr/>
        </p:nvSpPr>
        <p:spPr>
          <a:xfrm>
            <a:off x="731520" y="2217420"/>
            <a:ext cx="12252960" cy="263652"/>
          </a:xfrm>
          <a:prstGeom prst="rect">
            <a:avLst/>
          </a:prstGeom>
          <a:noFill/>
          <a:ln/>
        </p:spPr>
        <p:txBody>
          <a:bodyPr wrap="square" lIns="0" tIns="0" rIns="0" bIns="0" rtlCol="0" anchor="t"/>
          <a:lstStyle/>
          <a:p>
            <a:pPr indent="0" marL="0">
              <a:lnSpc>
                <a:spcPts val="1500"/>
              </a:lnSpc>
              <a:buNone/>
            </a:pPr>
            <a:r>
              <a:rPr lang="en-US" sz="1100" dirty="0">
                <a:solidFill>
                  <a:srgbClr val="000000"/>
                </a:solidFill>
                <a:latin typeface="Times New Roman" pitchFamily="34" charset="0"/>
                <a:ea typeface="Times New Roman" pitchFamily="34" charset="-122"/>
                <a:cs typeface="Times New Roman" pitchFamily="34" charset="-120"/>
              </a:rPr>
              <a:t>Buchner, A., Mayr, S., &amp; Brandt, M. (2009). The advantage of positive text–background polarity is due to high display luminance. </a:t>
            </a:r>
            <a:r>
              <a:rPr lang="en-US" sz="1100" i="1" dirty="0">
                <a:solidFill>
                  <a:srgbClr val="000000"/>
                </a:solidFill>
                <a:latin typeface="Times New Roman" pitchFamily="34" charset="0"/>
                <a:ea typeface="Times New Roman" pitchFamily="34" charset="-122"/>
                <a:cs typeface="Times New Roman" pitchFamily="34" charset="-120"/>
              </a:rPr>
              <a:t>Ergonomics, 52</a:t>
            </a:r>
            <a:r>
              <a:rPr lang="en-US" sz="1100" dirty="0">
                <a:solidFill>
                  <a:srgbClr val="000000"/>
                </a:solidFill>
                <a:latin typeface="Times New Roman" pitchFamily="34" charset="0"/>
                <a:ea typeface="Times New Roman" pitchFamily="34" charset="-122"/>
                <a:cs typeface="Times New Roman" pitchFamily="34" charset="-120"/>
              </a:rPr>
              <a:t>(7), 882–886.</a:t>
            </a:r>
            <a:endParaRPr lang="en-US" sz="1100" dirty="0"/>
          </a:p>
        </p:txBody>
      </p:sp>
      <p:sp>
        <p:nvSpPr>
          <p:cNvPr id="7" name="Text 5"/>
          <p:cNvSpPr txBox="1"/>
          <p:nvPr/>
        </p:nvSpPr>
        <p:spPr>
          <a:xfrm>
            <a:off x="731520" y="2590800"/>
            <a:ext cx="12252960" cy="454152"/>
          </a:xfrm>
          <a:prstGeom prst="rect">
            <a:avLst/>
          </a:prstGeom>
          <a:noFill/>
          <a:ln/>
        </p:spPr>
        <p:txBody>
          <a:bodyPr wrap="square" lIns="0" tIns="0" rIns="0" bIns="0" rtlCol="0" anchor="t"/>
          <a:lstStyle/>
          <a:p>
            <a:pPr indent="0" marL="0">
              <a:lnSpc>
                <a:spcPts val="1500"/>
              </a:lnSpc>
              <a:buNone/>
            </a:pPr>
            <a:r>
              <a:rPr lang="en-US" sz="1100" dirty="0">
                <a:solidFill>
                  <a:srgbClr val="000000"/>
                </a:solidFill>
                <a:latin typeface="Times New Roman" pitchFamily="34" charset="0"/>
                <a:ea typeface="Times New Roman" pitchFamily="34" charset="-122"/>
                <a:cs typeface="Times New Roman" pitchFamily="34" charset="-120"/>
              </a:rPr>
              <a:t>Cardona, G., García, C., Serés, C., Vilaseca, M., &amp; Gispets, J. (2011). Blink rate, blink amplitude, and tear film integrity during dynamic visual display terminal tasks. </a:t>
            </a:r>
            <a:r>
              <a:rPr lang="en-US" sz="1100" i="1" dirty="0">
                <a:solidFill>
                  <a:srgbClr val="000000"/>
                </a:solidFill>
                <a:latin typeface="Times New Roman" pitchFamily="34" charset="0"/>
                <a:ea typeface="Times New Roman" pitchFamily="34" charset="-122"/>
                <a:cs typeface="Times New Roman" pitchFamily="34" charset="-120"/>
              </a:rPr>
              <a:t>Current Eye Research, 36</a:t>
            </a:r>
            <a:r>
              <a:rPr lang="en-US" sz="1100" dirty="0">
                <a:solidFill>
                  <a:srgbClr val="000000"/>
                </a:solidFill>
                <a:latin typeface="Times New Roman" pitchFamily="34" charset="0"/>
                <a:ea typeface="Times New Roman" pitchFamily="34" charset="-122"/>
                <a:cs typeface="Times New Roman" pitchFamily="34" charset="-120"/>
              </a:rPr>
              <a:t>(3), 190–197.</a:t>
            </a:r>
            <a:endParaRPr lang="en-US" sz="1100" dirty="0"/>
          </a:p>
        </p:txBody>
      </p:sp>
      <p:sp>
        <p:nvSpPr>
          <p:cNvPr id="8" name="Text 6"/>
          <p:cNvSpPr txBox="1"/>
          <p:nvPr/>
        </p:nvSpPr>
        <p:spPr>
          <a:xfrm>
            <a:off x="731520" y="3154680"/>
            <a:ext cx="12252960" cy="454152"/>
          </a:xfrm>
          <a:prstGeom prst="rect">
            <a:avLst/>
          </a:prstGeom>
          <a:noFill/>
          <a:ln/>
        </p:spPr>
        <p:txBody>
          <a:bodyPr wrap="square" lIns="0" tIns="0" rIns="0" bIns="0" rtlCol="0" anchor="t"/>
          <a:lstStyle/>
          <a:p>
            <a:pPr indent="0" marL="0">
              <a:lnSpc>
                <a:spcPts val="1500"/>
              </a:lnSpc>
              <a:buNone/>
            </a:pPr>
            <a:r>
              <a:rPr lang="en-US" sz="1100" dirty="0">
                <a:solidFill>
                  <a:srgbClr val="000000"/>
                </a:solidFill>
                <a:latin typeface="Times New Roman" pitchFamily="34" charset="0"/>
                <a:ea typeface="Times New Roman" pitchFamily="34" charset="-122"/>
                <a:cs typeface="Times New Roman" pitchFamily="34" charset="-120"/>
              </a:rPr>
              <a:t>Ccami-Bernal, F., Soriano-Moreno, D. R., Romero-Robles, M. A., Barriga-Chambi, F., Tuco, K. G., Castro-Diaz, S. D., … Benites-Zapata, V. A. (2024). Prevalence of computer vision syndrome: A systematic review and meta-analysis. </a:t>
            </a:r>
            <a:r>
              <a:rPr lang="en-US" sz="1100" i="1" dirty="0">
                <a:solidFill>
                  <a:srgbClr val="000000"/>
                </a:solidFill>
                <a:latin typeface="Times New Roman" pitchFamily="34" charset="0"/>
                <a:ea typeface="Times New Roman" pitchFamily="34" charset="-122"/>
                <a:cs typeface="Times New Roman" pitchFamily="34" charset="-120"/>
              </a:rPr>
              <a:t>Journal of Optometry, 17</a:t>
            </a:r>
            <a:r>
              <a:rPr lang="en-US" sz="1100" dirty="0">
                <a:solidFill>
                  <a:srgbClr val="000000"/>
                </a:solidFill>
                <a:latin typeface="Times New Roman" pitchFamily="34" charset="0"/>
                <a:ea typeface="Times New Roman" pitchFamily="34" charset="-122"/>
                <a:cs typeface="Times New Roman" pitchFamily="34" charset="-120"/>
              </a:rPr>
              <a:t>(1), 100482.</a:t>
            </a:r>
            <a:endParaRPr lang="en-US" sz="1100" dirty="0"/>
          </a:p>
        </p:txBody>
      </p:sp>
      <p:sp>
        <p:nvSpPr>
          <p:cNvPr id="9" name="Text 7"/>
          <p:cNvSpPr txBox="1"/>
          <p:nvPr/>
        </p:nvSpPr>
        <p:spPr>
          <a:xfrm>
            <a:off x="731520" y="3718560"/>
            <a:ext cx="12252960" cy="263652"/>
          </a:xfrm>
          <a:prstGeom prst="rect">
            <a:avLst/>
          </a:prstGeom>
          <a:noFill/>
          <a:ln/>
        </p:spPr>
        <p:txBody>
          <a:bodyPr wrap="square" lIns="0" tIns="0" rIns="0" bIns="0" rtlCol="0" anchor="t"/>
          <a:lstStyle/>
          <a:p>
            <a:pPr indent="0" marL="0">
              <a:lnSpc>
                <a:spcPts val="1500"/>
              </a:lnSpc>
              <a:buNone/>
            </a:pPr>
            <a:r>
              <a:rPr lang="en-US" sz="1100" dirty="0">
                <a:solidFill>
                  <a:srgbClr val="000000"/>
                </a:solidFill>
                <a:latin typeface="Times New Roman" pitchFamily="34" charset="0"/>
                <a:ea typeface="Times New Roman" pitchFamily="34" charset="-122"/>
                <a:cs typeface="Times New Roman" pitchFamily="34" charset="-120"/>
              </a:rPr>
              <a:t>Dobres, J., Chahine, N., &amp; Reimer, B. (2017). Effects of ambient illumination, contrast polarity, and letter size on text legibility under glance-like reading. </a:t>
            </a:r>
            <a:r>
              <a:rPr lang="en-US" sz="1100" i="1" dirty="0">
                <a:solidFill>
                  <a:srgbClr val="000000"/>
                </a:solidFill>
                <a:latin typeface="Times New Roman" pitchFamily="34" charset="0"/>
                <a:ea typeface="Times New Roman" pitchFamily="34" charset="-122"/>
                <a:cs typeface="Times New Roman" pitchFamily="34" charset="-120"/>
              </a:rPr>
              <a:t>Applied Ergonomics, 60</a:t>
            </a:r>
            <a:r>
              <a:rPr lang="en-US" sz="1100" dirty="0">
                <a:solidFill>
                  <a:srgbClr val="000000"/>
                </a:solidFill>
                <a:latin typeface="Times New Roman" pitchFamily="34" charset="0"/>
                <a:ea typeface="Times New Roman" pitchFamily="34" charset="-122"/>
                <a:cs typeface="Times New Roman" pitchFamily="34" charset="-120"/>
              </a:rPr>
              <a:t>, 68–73.</a:t>
            </a:r>
            <a:endParaRPr lang="en-US" sz="1100" dirty="0"/>
          </a:p>
        </p:txBody>
      </p:sp>
      <p:sp>
        <p:nvSpPr>
          <p:cNvPr id="10" name="Text 8"/>
          <p:cNvSpPr txBox="1"/>
          <p:nvPr/>
        </p:nvSpPr>
        <p:spPr>
          <a:xfrm>
            <a:off x="731520" y="4091940"/>
            <a:ext cx="12252960" cy="263652"/>
          </a:xfrm>
          <a:prstGeom prst="rect">
            <a:avLst/>
          </a:prstGeom>
          <a:noFill/>
          <a:ln/>
        </p:spPr>
        <p:txBody>
          <a:bodyPr wrap="square" lIns="0" tIns="0" rIns="0" bIns="0" rtlCol="0" anchor="t"/>
          <a:lstStyle/>
          <a:p>
            <a:pPr indent="0" marL="0">
              <a:lnSpc>
                <a:spcPts val="1500"/>
              </a:lnSpc>
              <a:buNone/>
            </a:pPr>
            <a:r>
              <a:rPr lang="en-US" sz="1100" dirty="0">
                <a:solidFill>
                  <a:srgbClr val="000000"/>
                </a:solidFill>
                <a:latin typeface="Times New Roman" pitchFamily="34" charset="0"/>
                <a:ea typeface="Times New Roman" pitchFamily="34" charset="-122"/>
                <a:cs typeface="Times New Roman" pitchFamily="34" charset="-120"/>
              </a:rPr>
              <a:t>Fan, Q., Xie, J., Dong, Z., &amp; Wang, Y. (2024). The effect of ambient illumination and text color on visual fatigue under negative polarity. </a:t>
            </a:r>
            <a:r>
              <a:rPr lang="en-US" sz="1100" i="1" dirty="0">
                <a:solidFill>
                  <a:srgbClr val="000000"/>
                </a:solidFill>
                <a:latin typeface="Times New Roman" pitchFamily="34" charset="0"/>
                <a:ea typeface="Times New Roman" pitchFamily="34" charset="-122"/>
                <a:cs typeface="Times New Roman" pitchFamily="34" charset="-120"/>
              </a:rPr>
              <a:t>Sensors, 24</a:t>
            </a:r>
            <a:r>
              <a:rPr lang="en-US" sz="1100" dirty="0">
                <a:solidFill>
                  <a:srgbClr val="000000"/>
                </a:solidFill>
                <a:latin typeface="Times New Roman" pitchFamily="34" charset="0"/>
                <a:ea typeface="Times New Roman" pitchFamily="34" charset="-122"/>
                <a:cs typeface="Times New Roman" pitchFamily="34" charset="-120"/>
              </a:rPr>
              <a:t>(11), 3516.</a:t>
            </a:r>
            <a:endParaRPr lang="en-US" sz="1100" dirty="0"/>
          </a:p>
        </p:txBody>
      </p:sp>
      <p:sp>
        <p:nvSpPr>
          <p:cNvPr id="11" name="Text 9"/>
          <p:cNvSpPr txBox="1"/>
          <p:nvPr/>
        </p:nvSpPr>
        <p:spPr>
          <a:xfrm>
            <a:off x="731520" y="4465320"/>
            <a:ext cx="12252960" cy="454152"/>
          </a:xfrm>
          <a:prstGeom prst="rect">
            <a:avLst/>
          </a:prstGeom>
          <a:noFill/>
          <a:ln/>
        </p:spPr>
        <p:txBody>
          <a:bodyPr wrap="square" lIns="0" tIns="0" rIns="0" bIns="0" rtlCol="0" anchor="t"/>
          <a:lstStyle/>
          <a:p>
            <a:pPr indent="0" marL="0">
              <a:lnSpc>
                <a:spcPts val="1500"/>
              </a:lnSpc>
              <a:buNone/>
            </a:pPr>
            <a:r>
              <a:rPr lang="en-US" sz="1100" dirty="0">
                <a:solidFill>
                  <a:srgbClr val="000000"/>
                </a:solidFill>
                <a:latin typeface="Times New Roman" pitchFamily="34" charset="0"/>
                <a:ea typeface="Times New Roman" pitchFamily="34" charset="-122"/>
                <a:cs typeface="Times New Roman" pitchFamily="34" charset="-120"/>
              </a:rPr>
              <a:t>Fjaervoll, K., Fjaervoll, H., Magno, M., Nøland, S. T., Dartt, D. A., Vehof, J., &amp; Utheim, T. P. (2022). Review on the possible pathophysiological mechanisms underlying visual display terminal-associated dry eye disease. </a:t>
            </a:r>
            <a:r>
              <a:rPr lang="en-US" sz="1100" i="1" dirty="0">
                <a:solidFill>
                  <a:srgbClr val="000000"/>
                </a:solidFill>
                <a:latin typeface="Times New Roman" pitchFamily="34" charset="0"/>
                <a:ea typeface="Times New Roman" pitchFamily="34" charset="-122"/>
                <a:cs typeface="Times New Roman" pitchFamily="34" charset="-120"/>
              </a:rPr>
              <a:t>Acta Ophthalmologica, 100</a:t>
            </a:r>
            <a:r>
              <a:rPr lang="en-US" sz="1100" dirty="0">
                <a:solidFill>
                  <a:srgbClr val="000000"/>
                </a:solidFill>
                <a:latin typeface="Times New Roman" pitchFamily="34" charset="0"/>
                <a:ea typeface="Times New Roman" pitchFamily="34" charset="-122"/>
                <a:cs typeface="Times New Roman" pitchFamily="34" charset="-120"/>
              </a:rPr>
              <a:t>(8), 861–877.</a:t>
            </a:r>
            <a:endParaRPr lang="en-US" sz="1100" dirty="0"/>
          </a:p>
        </p:txBody>
      </p:sp>
      <p:sp>
        <p:nvSpPr>
          <p:cNvPr id="12" name="Text 10"/>
          <p:cNvSpPr txBox="1"/>
          <p:nvPr/>
        </p:nvSpPr>
        <p:spPr>
          <a:xfrm>
            <a:off x="731520" y="5029200"/>
            <a:ext cx="12252960" cy="454152"/>
          </a:xfrm>
          <a:prstGeom prst="rect">
            <a:avLst/>
          </a:prstGeom>
          <a:noFill/>
          <a:ln/>
        </p:spPr>
        <p:txBody>
          <a:bodyPr wrap="square" lIns="0" tIns="0" rIns="0" bIns="0" rtlCol="0" anchor="t"/>
          <a:lstStyle/>
          <a:p>
            <a:pPr indent="0" marL="0">
              <a:lnSpc>
                <a:spcPts val="1500"/>
              </a:lnSpc>
              <a:buNone/>
            </a:pPr>
            <a:r>
              <a:rPr lang="en-US" sz="1100" dirty="0">
                <a:solidFill>
                  <a:srgbClr val="000000"/>
                </a:solidFill>
                <a:latin typeface="Times New Roman" pitchFamily="34" charset="0"/>
                <a:ea typeface="Times New Roman" pitchFamily="34" charset="-122"/>
                <a:cs typeface="Times New Roman" pitchFamily="34" charset="-120"/>
              </a:rPr>
              <a:t>Hart, S. G., &amp; Staveland, L. E. (1988). Development of NASA-TLX (Task Load Index): Results of empirical and theoretical research. In P. A. Hancock &amp; N. Meshkati (Eds.), </a:t>
            </a:r>
            <a:r>
              <a:rPr lang="en-US" sz="1100" i="1" dirty="0">
                <a:solidFill>
                  <a:srgbClr val="000000"/>
                </a:solidFill>
                <a:latin typeface="Times New Roman" pitchFamily="34" charset="0"/>
                <a:ea typeface="Times New Roman" pitchFamily="34" charset="-122"/>
                <a:cs typeface="Times New Roman" pitchFamily="34" charset="-120"/>
              </a:rPr>
              <a:t>Human mental workload</a:t>
            </a:r>
            <a:r>
              <a:rPr lang="en-US" sz="1100" dirty="0">
                <a:solidFill>
                  <a:srgbClr val="000000"/>
                </a:solidFill>
                <a:latin typeface="Times New Roman" pitchFamily="34" charset="0"/>
                <a:ea typeface="Times New Roman" pitchFamily="34" charset="-122"/>
                <a:cs typeface="Times New Roman" pitchFamily="34" charset="-120"/>
              </a:rPr>
              <a:t> (pp. 139–183). North-Holland.</a:t>
            </a:r>
            <a:endParaRPr lang="en-US" sz="1100" dirty="0"/>
          </a:p>
        </p:txBody>
      </p:sp>
      <p:sp>
        <p:nvSpPr>
          <p:cNvPr id="13" name="Text 11"/>
          <p:cNvSpPr txBox="1"/>
          <p:nvPr/>
        </p:nvSpPr>
        <p:spPr>
          <a:xfrm>
            <a:off x="731520" y="5593080"/>
            <a:ext cx="12252960" cy="263652"/>
          </a:xfrm>
          <a:prstGeom prst="rect">
            <a:avLst/>
          </a:prstGeom>
          <a:noFill/>
          <a:ln/>
        </p:spPr>
        <p:txBody>
          <a:bodyPr wrap="square" lIns="0" tIns="0" rIns="0" bIns="0" rtlCol="0" anchor="t"/>
          <a:lstStyle/>
          <a:p>
            <a:pPr indent="0" marL="0">
              <a:lnSpc>
                <a:spcPts val="1500"/>
              </a:lnSpc>
              <a:buNone/>
            </a:pPr>
            <a:r>
              <a:rPr lang="en-US" sz="1100" dirty="0">
                <a:solidFill>
                  <a:srgbClr val="000000"/>
                </a:solidFill>
                <a:latin typeface="Times New Roman" pitchFamily="34" charset="0"/>
                <a:ea typeface="Times New Roman" pitchFamily="34" charset="-122"/>
                <a:cs typeface="Times New Roman" pitchFamily="34" charset="-120"/>
              </a:rPr>
              <a:t>Hirota, M., Uozato, H., Kawamorita, T., Shibata, Y., &amp; Yamamoto, S. (2013). Effect of incomplete blinking on tear film stability. </a:t>
            </a:r>
            <a:r>
              <a:rPr lang="en-US" sz="1100" i="1" dirty="0">
                <a:solidFill>
                  <a:srgbClr val="000000"/>
                </a:solidFill>
                <a:latin typeface="Times New Roman" pitchFamily="34" charset="0"/>
                <a:ea typeface="Times New Roman" pitchFamily="34" charset="-122"/>
                <a:cs typeface="Times New Roman" pitchFamily="34" charset="-120"/>
              </a:rPr>
              <a:t>Optometry and Vision Science, 90</a:t>
            </a:r>
            <a:r>
              <a:rPr lang="en-US" sz="1100" dirty="0">
                <a:solidFill>
                  <a:srgbClr val="000000"/>
                </a:solidFill>
                <a:latin typeface="Times New Roman" pitchFamily="34" charset="0"/>
                <a:ea typeface="Times New Roman" pitchFamily="34" charset="-122"/>
                <a:cs typeface="Times New Roman" pitchFamily="34" charset="-120"/>
              </a:rPr>
              <a:t>(7), 650–657.</a:t>
            </a:r>
            <a:endParaRPr lang="en-US" sz="1100" dirty="0"/>
          </a:p>
        </p:txBody>
      </p:sp>
      <p:sp>
        <p:nvSpPr>
          <p:cNvPr id="14" name="Text 12"/>
          <p:cNvSpPr txBox="1"/>
          <p:nvPr/>
        </p:nvSpPr>
        <p:spPr>
          <a:xfrm>
            <a:off x="731520" y="5966460"/>
            <a:ext cx="12252960" cy="454152"/>
          </a:xfrm>
          <a:prstGeom prst="rect">
            <a:avLst/>
          </a:prstGeom>
          <a:noFill/>
          <a:ln/>
        </p:spPr>
        <p:txBody>
          <a:bodyPr wrap="square" lIns="0" tIns="0" rIns="0" bIns="0" rtlCol="0" anchor="t"/>
          <a:lstStyle/>
          <a:p>
            <a:pPr indent="0" marL="0">
              <a:lnSpc>
                <a:spcPts val="1500"/>
              </a:lnSpc>
              <a:buNone/>
            </a:pPr>
            <a:r>
              <a:rPr lang="en-US" sz="1100" dirty="0">
                <a:solidFill>
                  <a:srgbClr val="000000"/>
                </a:solidFill>
                <a:latin typeface="Times New Roman" pitchFamily="34" charset="0"/>
                <a:ea typeface="Times New Roman" pitchFamily="34" charset="-122"/>
                <a:cs typeface="Times New Roman" pitchFamily="34" charset="-120"/>
              </a:rPr>
              <a:t>Jackson, M. L., Raj, S., Croft, R. J., Hayley, A. C., Downey, L. A., Kennedy, G. A., &amp; Howard, M. E. (2016). Slow eyelid closure as a measure of driver drowsiness and its relationship to performance. </a:t>
            </a:r>
            <a:r>
              <a:rPr lang="en-US" sz="1100" i="1" dirty="0">
                <a:solidFill>
                  <a:srgbClr val="000000"/>
                </a:solidFill>
                <a:latin typeface="Times New Roman" pitchFamily="34" charset="0"/>
                <a:ea typeface="Times New Roman" pitchFamily="34" charset="-122"/>
                <a:cs typeface="Times New Roman" pitchFamily="34" charset="-120"/>
              </a:rPr>
              <a:t>Traffic Injury Prevention, 17</a:t>
            </a:r>
            <a:r>
              <a:rPr lang="en-US" sz="1100" dirty="0">
                <a:solidFill>
                  <a:srgbClr val="000000"/>
                </a:solidFill>
                <a:latin typeface="Times New Roman" pitchFamily="34" charset="0"/>
                <a:ea typeface="Times New Roman" pitchFamily="34" charset="-122"/>
                <a:cs typeface="Times New Roman" pitchFamily="34" charset="-120"/>
              </a:rPr>
              <a:t>(3), 251–257.</a:t>
            </a:r>
            <a:endParaRPr lang="en-US" sz="1100" dirty="0"/>
          </a:p>
        </p:txBody>
      </p:sp>
      <p:sp>
        <p:nvSpPr>
          <p:cNvPr id="15" name="Text 13"/>
          <p:cNvSpPr txBox="1"/>
          <p:nvPr/>
        </p:nvSpPr>
        <p:spPr>
          <a:xfrm>
            <a:off x="731520" y="6530340"/>
            <a:ext cx="12252960" cy="454152"/>
          </a:xfrm>
          <a:prstGeom prst="rect">
            <a:avLst/>
          </a:prstGeom>
          <a:noFill/>
          <a:ln/>
        </p:spPr>
        <p:txBody>
          <a:bodyPr wrap="square" lIns="0" tIns="0" rIns="0" bIns="0" rtlCol="0" anchor="t"/>
          <a:lstStyle/>
          <a:p>
            <a:pPr indent="0" marL="0">
              <a:lnSpc>
                <a:spcPts val="1500"/>
              </a:lnSpc>
              <a:buNone/>
            </a:pPr>
            <a:r>
              <a:rPr lang="en-US" sz="1100" dirty="0">
                <a:solidFill>
                  <a:srgbClr val="000000"/>
                </a:solidFill>
                <a:latin typeface="Times New Roman" pitchFamily="34" charset="0"/>
                <a:ea typeface="Times New Roman" pitchFamily="34" charset="-122"/>
                <a:cs typeface="Times New Roman" pitchFamily="34" charset="-120"/>
              </a:rPr>
              <a:t>Jiménez, R., Redondo, B., Molina, R., Martínez-Domingo, M. Á., Hernández-Andrés, J., &amp; Vera, J. (2020). Short-term effects of text-background color combinations on the dynamics of the accommodative response. </a:t>
            </a:r>
            <a:r>
              <a:rPr lang="en-US" sz="1100" i="1" dirty="0">
                <a:solidFill>
                  <a:srgbClr val="000000"/>
                </a:solidFill>
                <a:latin typeface="Times New Roman" pitchFamily="34" charset="0"/>
                <a:ea typeface="Times New Roman" pitchFamily="34" charset="-122"/>
                <a:cs typeface="Times New Roman" pitchFamily="34" charset="-120"/>
              </a:rPr>
              <a:t>Vision Research, 166</a:t>
            </a:r>
            <a:r>
              <a:rPr lang="en-US" sz="1100" dirty="0">
                <a:solidFill>
                  <a:srgbClr val="000000"/>
                </a:solidFill>
                <a:latin typeface="Times New Roman" pitchFamily="34" charset="0"/>
                <a:ea typeface="Times New Roman" pitchFamily="34" charset="-122"/>
                <a:cs typeface="Times New Roman" pitchFamily="34" charset="-120"/>
              </a:rPr>
              <a:t>, 33–42.</a:t>
            </a:r>
            <a:endParaRPr lang="en-US" sz="1100" dirty="0"/>
          </a:p>
        </p:txBody>
      </p:sp>
      <p:sp>
        <p:nvSpPr>
          <p:cNvPr id="16" name="Text 14"/>
          <p:cNvSpPr txBox="1"/>
          <p:nvPr/>
        </p:nvSpPr>
        <p:spPr>
          <a:xfrm>
            <a:off x="731520" y="7094220"/>
            <a:ext cx="12252960" cy="454152"/>
          </a:xfrm>
          <a:prstGeom prst="rect">
            <a:avLst/>
          </a:prstGeom>
          <a:noFill/>
          <a:ln/>
        </p:spPr>
        <p:txBody>
          <a:bodyPr wrap="square" lIns="0" tIns="0" rIns="0" bIns="0" rtlCol="0" anchor="t"/>
          <a:lstStyle/>
          <a:p>
            <a:pPr indent="0" marL="0">
              <a:lnSpc>
                <a:spcPts val="1500"/>
              </a:lnSpc>
              <a:buNone/>
            </a:pPr>
            <a:r>
              <a:rPr lang="en-US" sz="1100" dirty="0">
                <a:solidFill>
                  <a:srgbClr val="000000"/>
                </a:solidFill>
                <a:latin typeface="Times New Roman" pitchFamily="34" charset="0"/>
                <a:ea typeface="Times New Roman" pitchFamily="34" charset="-122"/>
                <a:cs typeface="Times New Roman" pitchFamily="34" charset="-120"/>
              </a:rPr>
              <a:t>Kamøy, B., Magno, M., Nøland, S. T., Moe, M. C., Petrovski, G., Vehof, J., &amp; Utheim, T. P. (2022). Video display terminal use and dry eye: Preventive measures and future perspectives. </a:t>
            </a:r>
            <a:r>
              <a:rPr lang="en-US" sz="1100" i="1" dirty="0">
                <a:solidFill>
                  <a:srgbClr val="000000"/>
                </a:solidFill>
                <a:latin typeface="Times New Roman" pitchFamily="34" charset="0"/>
                <a:ea typeface="Times New Roman" pitchFamily="34" charset="-122"/>
                <a:cs typeface="Times New Roman" pitchFamily="34" charset="-120"/>
              </a:rPr>
              <a:t>Acta Ophthalmologica, 100</a:t>
            </a:r>
            <a:r>
              <a:rPr lang="en-US" sz="1100" dirty="0">
                <a:solidFill>
                  <a:srgbClr val="000000"/>
                </a:solidFill>
                <a:latin typeface="Times New Roman" pitchFamily="34" charset="0"/>
                <a:ea typeface="Times New Roman" pitchFamily="34" charset="-122"/>
                <a:cs typeface="Times New Roman" pitchFamily="34" charset="-120"/>
              </a:rPr>
              <a:t>(7), 723–739.</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1520" y="384048"/>
            <a:ext cx="12252960" cy="566928"/>
          </a:xfrm>
          <a:prstGeom prst="rect">
            <a:avLst/>
          </a:prstGeom>
          <a:noFill/>
          <a:ln/>
        </p:spPr>
        <p:txBody>
          <a:bodyPr wrap="square" lIns="0" tIns="0" rIns="0" bIns="0" rtlCol="0" anchor="t"/>
          <a:lstStyle/>
          <a:p>
            <a:pPr indent="0" marL="0">
              <a:buNone/>
            </a:pPr>
            <a:r>
              <a:rPr lang="en-US" sz="2400" b="1" dirty="0">
                <a:solidFill>
                  <a:srgbClr val="1F3864"/>
                </a:solidFill>
                <a:latin typeface="Times New Roman" pitchFamily="34" charset="0"/>
                <a:ea typeface="Times New Roman" pitchFamily="34" charset="-122"/>
                <a:cs typeface="Times New Roman" pitchFamily="34" charset="-120"/>
              </a:rPr>
              <a:t>6. References (2 of 2)</a:t>
            </a:r>
            <a:endParaRPr lang="en-US" sz="2400" dirty="0"/>
          </a:p>
        </p:txBody>
      </p:sp>
      <p:sp>
        <p:nvSpPr>
          <p:cNvPr id="3" name="Text 1"/>
          <p:cNvSpPr txBox="1"/>
          <p:nvPr/>
        </p:nvSpPr>
        <p:spPr>
          <a:xfrm>
            <a:off x="12435840" y="8229600"/>
            <a:ext cx="548640" cy="274320"/>
          </a:xfrm>
          <a:prstGeom prst="rect">
            <a:avLst/>
          </a:prstGeom>
          <a:noFill/>
          <a:ln/>
        </p:spPr>
        <p:txBody>
          <a:bodyPr wrap="square" lIns="0" tIns="0" rIns="0" bIns="0" rtlCol="0" anchor="ctr"/>
          <a:lstStyle/>
          <a:p>
            <a:pPr algn="r" indent="0" marL="0">
              <a:buNone/>
            </a:pPr>
            <a:r>
              <a:rPr lang="en-US" sz="1100" dirty="0">
                <a:solidFill>
                  <a:srgbClr val="595959"/>
                </a:solidFill>
                <a:latin typeface="Times New Roman" pitchFamily="34" charset="0"/>
                <a:ea typeface="Times New Roman" pitchFamily="34" charset="-122"/>
                <a:cs typeface="Times New Roman" pitchFamily="34" charset="-120"/>
              </a:rPr>
              <a:t>15</a:t>
            </a:r>
            <a:endParaRPr lang="en-US" sz="1100" dirty="0"/>
          </a:p>
        </p:txBody>
      </p:sp>
      <p:sp>
        <p:nvSpPr>
          <p:cNvPr id="4" name="Text 2"/>
          <p:cNvSpPr txBox="1"/>
          <p:nvPr/>
        </p:nvSpPr>
        <p:spPr>
          <a:xfrm>
            <a:off x="731520" y="1280160"/>
            <a:ext cx="12252960" cy="454152"/>
          </a:xfrm>
          <a:prstGeom prst="rect">
            <a:avLst/>
          </a:prstGeom>
          <a:noFill/>
          <a:ln/>
        </p:spPr>
        <p:txBody>
          <a:bodyPr wrap="square" lIns="0" tIns="0" rIns="0" bIns="0" rtlCol="0" anchor="t"/>
          <a:lstStyle/>
          <a:p>
            <a:pPr indent="0" marL="0">
              <a:lnSpc>
                <a:spcPts val="1500"/>
              </a:lnSpc>
              <a:buNone/>
            </a:pPr>
            <a:r>
              <a:rPr lang="en-US" sz="1100" dirty="0">
                <a:solidFill>
                  <a:srgbClr val="000000"/>
                </a:solidFill>
                <a:latin typeface="Times New Roman" pitchFamily="34" charset="0"/>
                <a:ea typeface="Times New Roman" pitchFamily="34" charset="-122"/>
                <a:cs typeface="Times New Roman" pitchFamily="34" charset="-120"/>
              </a:rPr>
              <a:t>Lin, M., Zheng, X., He, C., Li, M., Lu, F., &amp; Hu, L. (2025). Effects of ambient illuminance and mobile phone screen brightness on tear film stability, visual fatigue, and blink patterns during reading. </a:t>
            </a:r>
            <a:r>
              <a:rPr lang="en-US" sz="1100" i="1" dirty="0">
                <a:solidFill>
                  <a:srgbClr val="000000"/>
                </a:solidFill>
                <a:latin typeface="Times New Roman" pitchFamily="34" charset="0"/>
                <a:ea typeface="Times New Roman" pitchFamily="34" charset="-122"/>
                <a:cs typeface="Times New Roman" pitchFamily="34" charset="-120"/>
              </a:rPr>
              <a:t>Contact Lens and Anterior Eye, 49</a:t>
            </a:r>
            <a:r>
              <a:rPr lang="en-US" sz="1100" dirty="0">
                <a:solidFill>
                  <a:srgbClr val="000000"/>
                </a:solidFill>
                <a:latin typeface="Times New Roman" pitchFamily="34" charset="0"/>
                <a:ea typeface="Times New Roman" pitchFamily="34" charset="-122"/>
                <a:cs typeface="Times New Roman" pitchFamily="34" charset="-120"/>
              </a:rPr>
              <a:t>(1), 102515.</a:t>
            </a:r>
            <a:endParaRPr lang="en-US" sz="1100" dirty="0"/>
          </a:p>
        </p:txBody>
      </p:sp>
      <p:sp>
        <p:nvSpPr>
          <p:cNvPr id="5" name="Text 3"/>
          <p:cNvSpPr txBox="1"/>
          <p:nvPr/>
        </p:nvSpPr>
        <p:spPr>
          <a:xfrm>
            <a:off x="731520" y="1844040"/>
            <a:ext cx="12252960" cy="263652"/>
          </a:xfrm>
          <a:prstGeom prst="rect">
            <a:avLst/>
          </a:prstGeom>
          <a:noFill/>
          <a:ln/>
        </p:spPr>
        <p:txBody>
          <a:bodyPr wrap="square" lIns="0" tIns="0" rIns="0" bIns="0" rtlCol="0" anchor="t"/>
          <a:lstStyle/>
          <a:p>
            <a:pPr indent="0" marL="0">
              <a:lnSpc>
                <a:spcPts val="1500"/>
              </a:lnSpc>
              <a:buNone/>
            </a:pPr>
            <a:r>
              <a:rPr lang="en-US" sz="1100" dirty="0">
                <a:solidFill>
                  <a:srgbClr val="000000"/>
                </a:solidFill>
                <a:latin typeface="Times New Roman" pitchFamily="34" charset="0"/>
                <a:ea typeface="Times New Roman" pitchFamily="34" charset="-122"/>
                <a:cs typeface="Times New Roman" pitchFamily="34" charset="-120"/>
              </a:rPr>
              <a:t>Piepenbrock, C., Mayr, S., &amp; Buchner, A. (2014a). Positive display polarity is particularly advantageous for small character sizes: Implications for display design. </a:t>
            </a:r>
            <a:r>
              <a:rPr lang="en-US" sz="1100" i="1" dirty="0">
                <a:solidFill>
                  <a:srgbClr val="000000"/>
                </a:solidFill>
                <a:latin typeface="Times New Roman" pitchFamily="34" charset="0"/>
                <a:ea typeface="Times New Roman" pitchFamily="34" charset="-122"/>
                <a:cs typeface="Times New Roman" pitchFamily="34" charset="-120"/>
              </a:rPr>
              <a:t>Human Factors, 56</a:t>
            </a:r>
            <a:r>
              <a:rPr lang="en-US" sz="1100" dirty="0">
                <a:solidFill>
                  <a:srgbClr val="000000"/>
                </a:solidFill>
                <a:latin typeface="Times New Roman" pitchFamily="34" charset="0"/>
                <a:ea typeface="Times New Roman" pitchFamily="34" charset="-122"/>
                <a:cs typeface="Times New Roman" pitchFamily="34" charset="-120"/>
              </a:rPr>
              <a:t>(5), 942–951.</a:t>
            </a:r>
            <a:endParaRPr lang="en-US" sz="1100" dirty="0"/>
          </a:p>
        </p:txBody>
      </p:sp>
      <p:sp>
        <p:nvSpPr>
          <p:cNvPr id="6" name="Text 4"/>
          <p:cNvSpPr txBox="1"/>
          <p:nvPr/>
        </p:nvSpPr>
        <p:spPr>
          <a:xfrm>
            <a:off x="731520" y="2217420"/>
            <a:ext cx="12252960" cy="263652"/>
          </a:xfrm>
          <a:prstGeom prst="rect">
            <a:avLst/>
          </a:prstGeom>
          <a:noFill/>
          <a:ln/>
        </p:spPr>
        <p:txBody>
          <a:bodyPr wrap="square" lIns="0" tIns="0" rIns="0" bIns="0" rtlCol="0" anchor="t"/>
          <a:lstStyle/>
          <a:p>
            <a:pPr indent="0" marL="0">
              <a:lnSpc>
                <a:spcPts val="1500"/>
              </a:lnSpc>
              <a:buNone/>
            </a:pPr>
            <a:r>
              <a:rPr lang="en-US" sz="1100" dirty="0">
                <a:solidFill>
                  <a:srgbClr val="000000"/>
                </a:solidFill>
                <a:latin typeface="Times New Roman" pitchFamily="34" charset="0"/>
                <a:ea typeface="Times New Roman" pitchFamily="34" charset="-122"/>
                <a:cs typeface="Times New Roman" pitchFamily="34" charset="-120"/>
              </a:rPr>
              <a:t>Piepenbrock, C., Mayr, S., &amp; Buchner, A. (2014b). Smaller pupil size and better proofreading performance with positive than with negative polarity displays. </a:t>
            </a:r>
            <a:r>
              <a:rPr lang="en-US" sz="1100" i="1" dirty="0">
                <a:solidFill>
                  <a:srgbClr val="000000"/>
                </a:solidFill>
                <a:latin typeface="Times New Roman" pitchFamily="34" charset="0"/>
                <a:ea typeface="Times New Roman" pitchFamily="34" charset="-122"/>
                <a:cs typeface="Times New Roman" pitchFamily="34" charset="-120"/>
              </a:rPr>
              <a:t>Ergonomics, 57</a:t>
            </a:r>
            <a:r>
              <a:rPr lang="en-US" sz="1100" dirty="0">
                <a:solidFill>
                  <a:srgbClr val="000000"/>
                </a:solidFill>
                <a:latin typeface="Times New Roman" pitchFamily="34" charset="0"/>
                <a:ea typeface="Times New Roman" pitchFamily="34" charset="-122"/>
                <a:cs typeface="Times New Roman" pitchFamily="34" charset="-120"/>
              </a:rPr>
              <a:t>(11), 1670–1677.</a:t>
            </a:r>
            <a:endParaRPr lang="en-US" sz="1100" dirty="0"/>
          </a:p>
        </p:txBody>
      </p:sp>
      <p:sp>
        <p:nvSpPr>
          <p:cNvPr id="7" name="Text 5"/>
          <p:cNvSpPr txBox="1"/>
          <p:nvPr/>
        </p:nvSpPr>
        <p:spPr>
          <a:xfrm>
            <a:off x="731520" y="2590800"/>
            <a:ext cx="12252960" cy="263652"/>
          </a:xfrm>
          <a:prstGeom prst="rect">
            <a:avLst/>
          </a:prstGeom>
          <a:noFill/>
          <a:ln/>
        </p:spPr>
        <p:txBody>
          <a:bodyPr wrap="square" lIns="0" tIns="0" rIns="0" bIns="0" rtlCol="0" anchor="t"/>
          <a:lstStyle/>
          <a:p>
            <a:pPr indent="0" marL="0">
              <a:lnSpc>
                <a:spcPts val="1500"/>
              </a:lnSpc>
              <a:buNone/>
            </a:pPr>
            <a:r>
              <a:rPr lang="en-US" sz="1100" dirty="0">
                <a:solidFill>
                  <a:srgbClr val="000000"/>
                </a:solidFill>
                <a:latin typeface="Times New Roman" pitchFamily="34" charset="0"/>
                <a:ea typeface="Times New Roman" pitchFamily="34" charset="-122"/>
                <a:cs typeface="Times New Roman" pitchFamily="34" charset="-120"/>
              </a:rPr>
              <a:t>Portello, J. K., Rosenfield, M., &amp; Chu, C. A. (2013). Blink rate, incomplete blinks and computer vision syndrome. </a:t>
            </a:r>
            <a:r>
              <a:rPr lang="en-US" sz="1100" i="1" dirty="0">
                <a:solidFill>
                  <a:srgbClr val="000000"/>
                </a:solidFill>
                <a:latin typeface="Times New Roman" pitchFamily="34" charset="0"/>
                <a:ea typeface="Times New Roman" pitchFamily="34" charset="-122"/>
                <a:cs typeface="Times New Roman" pitchFamily="34" charset="-120"/>
              </a:rPr>
              <a:t>Optometry and Vision Science, 90</a:t>
            </a:r>
            <a:r>
              <a:rPr lang="en-US" sz="1100" dirty="0">
                <a:solidFill>
                  <a:srgbClr val="000000"/>
                </a:solidFill>
                <a:latin typeface="Times New Roman" pitchFamily="34" charset="0"/>
                <a:ea typeface="Times New Roman" pitchFamily="34" charset="-122"/>
                <a:cs typeface="Times New Roman" pitchFamily="34" charset="-120"/>
              </a:rPr>
              <a:t>(5), 482–487.</a:t>
            </a:r>
            <a:endParaRPr lang="en-US" sz="1100" dirty="0"/>
          </a:p>
        </p:txBody>
      </p:sp>
      <p:sp>
        <p:nvSpPr>
          <p:cNvPr id="8" name="Text 6"/>
          <p:cNvSpPr txBox="1"/>
          <p:nvPr/>
        </p:nvSpPr>
        <p:spPr>
          <a:xfrm>
            <a:off x="731520" y="2964180"/>
            <a:ext cx="12252960" cy="454152"/>
          </a:xfrm>
          <a:prstGeom prst="rect">
            <a:avLst/>
          </a:prstGeom>
          <a:noFill/>
          <a:ln/>
        </p:spPr>
        <p:txBody>
          <a:bodyPr wrap="square" lIns="0" tIns="0" rIns="0" bIns="0" rtlCol="0" anchor="t"/>
          <a:lstStyle/>
          <a:p>
            <a:pPr indent="0" marL="0">
              <a:lnSpc>
                <a:spcPts val="1500"/>
              </a:lnSpc>
              <a:buNone/>
            </a:pPr>
            <a:r>
              <a:rPr lang="en-US" sz="1100" dirty="0">
                <a:solidFill>
                  <a:srgbClr val="000000"/>
                </a:solidFill>
                <a:latin typeface="Times New Roman" pitchFamily="34" charset="0"/>
                <a:ea typeface="Times New Roman" pitchFamily="34" charset="-122"/>
                <a:cs typeface="Times New Roman" pitchFamily="34" charset="-120"/>
              </a:rPr>
              <a:t>Redondo, B., Jiménez, R., Vera, J., &amp; Rosenfield, M. (2025). The impact of break schedules on digital eye strain symptoms and ocular accommodation during prolonged near work. </a:t>
            </a:r>
            <a:r>
              <a:rPr lang="en-US" sz="1100" i="1" dirty="0">
                <a:solidFill>
                  <a:srgbClr val="000000"/>
                </a:solidFill>
                <a:latin typeface="Times New Roman" pitchFamily="34" charset="0"/>
                <a:ea typeface="Times New Roman" pitchFamily="34" charset="-122"/>
                <a:cs typeface="Times New Roman" pitchFamily="34" charset="-120"/>
              </a:rPr>
              <a:t>Experimental Eye Research, 258</a:t>
            </a:r>
            <a:r>
              <a:rPr lang="en-US" sz="1100" dirty="0">
                <a:solidFill>
                  <a:srgbClr val="000000"/>
                </a:solidFill>
                <a:latin typeface="Times New Roman" pitchFamily="34" charset="0"/>
                <a:ea typeface="Times New Roman" pitchFamily="34" charset="-122"/>
                <a:cs typeface="Times New Roman" pitchFamily="34" charset="-120"/>
              </a:rPr>
              <a:t>, 110463.</a:t>
            </a:r>
            <a:endParaRPr lang="en-US" sz="1100" dirty="0"/>
          </a:p>
        </p:txBody>
      </p:sp>
      <p:sp>
        <p:nvSpPr>
          <p:cNvPr id="9" name="Text 7"/>
          <p:cNvSpPr txBox="1"/>
          <p:nvPr/>
        </p:nvSpPr>
        <p:spPr>
          <a:xfrm>
            <a:off x="731520" y="3528060"/>
            <a:ext cx="12252960" cy="454152"/>
          </a:xfrm>
          <a:prstGeom prst="rect">
            <a:avLst/>
          </a:prstGeom>
          <a:noFill/>
          <a:ln/>
        </p:spPr>
        <p:txBody>
          <a:bodyPr wrap="square" lIns="0" tIns="0" rIns="0" bIns="0" rtlCol="0" anchor="t"/>
          <a:lstStyle/>
          <a:p>
            <a:pPr indent="0" marL="0">
              <a:lnSpc>
                <a:spcPts val="1500"/>
              </a:lnSpc>
              <a:buNone/>
            </a:pPr>
            <a:r>
              <a:rPr lang="en-US" sz="1100" dirty="0">
                <a:solidFill>
                  <a:srgbClr val="000000"/>
                </a:solidFill>
                <a:latin typeface="Times New Roman" pitchFamily="34" charset="0"/>
                <a:ea typeface="Times New Roman" pitchFamily="34" charset="-122"/>
                <a:cs typeface="Times New Roman" pitchFamily="34" charset="-120"/>
              </a:rPr>
              <a:t>Seguí, M. del M., Cabrero-García, J., Crespo, A., Verdú, J., &amp; Ronda, E. (2015). A reliable and valid questionnaire was developed to measure computer vision syndrome at the workplace. </a:t>
            </a:r>
            <a:r>
              <a:rPr lang="en-US" sz="1100" i="1" dirty="0">
                <a:solidFill>
                  <a:srgbClr val="000000"/>
                </a:solidFill>
                <a:latin typeface="Times New Roman" pitchFamily="34" charset="0"/>
                <a:ea typeface="Times New Roman" pitchFamily="34" charset="-122"/>
                <a:cs typeface="Times New Roman" pitchFamily="34" charset="-120"/>
              </a:rPr>
              <a:t>Journal of Clinical Epidemiology, 68</a:t>
            </a:r>
            <a:r>
              <a:rPr lang="en-US" sz="1100" dirty="0">
                <a:solidFill>
                  <a:srgbClr val="000000"/>
                </a:solidFill>
                <a:latin typeface="Times New Roman" pitchFamily="34" charset="0"/>
                <a:ea typeface="Times New Roman" pitchFamily="34" charset="-122"/>
                <a:cs typeface="Times New Roman" pitchFamily="34" charset="-120"/>
              </a:rPr>
              <a:t>(6), 662–673.</a:t>
            </a:r>
            <a:endParaRPr lang="en-US" sz="1100" dirty="0"/>
          </a:p>
        </p:txBody>
      </p:sp>
      <p:sp>
        <p:nvSpPr>
          <p:cNvPr id="10" name="Text 8"/>
          <p:cNvSpPr txBox="1"/>
          <p:nvPr/>
        </p:nvSpPr>
        <p:spPr>
          <a:xfrm>
            <a:off x="731520" y="4091940"/>
            <a:ext cx="12252960" cy="454152"/>
          </a:xfrm>
          <a:prstGeom prst="rect">
            <a:avLst/>
          </a:prstGeom>
          <a:noFill/>
          <a:ln/>
        </p:spPr>
        <p:txBody>
          <a:bodyPr wrap="square" lIns="0" tIns="0" rIns="0" bIns="0" rtlCol="0" anchor="t"/>
          <a:lstStyle/>
          <a:p>
            <a:pPr indent="0" marL="0">
              <a:lnSpc>
                <a:spcPts val="1500"/>
              </a:lnSpc>
              <a:buNone/>
            </a:pPr>
            <a:r>
              <a:rPr lang="en-US" sz="1100" dirty="0">
                <a:solidFill>
                  <a:srgbClr val="000000"/>
                </a:solidFill>
                <a:latin typeface="Times New Roman" pitchFamily="34" charset="0"/>
                <a:ea typeface="Times New Roman" pitchFamily="34" charset="-122"/>
                <a:cs typeface="Times New Roman" pitchFamily="34" charset="-120"/>
              </a:rPr>
              <a:t>Sengsoon, P., &amp; Intaruk, R. (2025). Immediate effects of light mode and dark mode features on visual fatigue in tablet users. </a:t>
            </a:r>
            <a:r>
              <a:rPr lang="en-US" sz="1100" i="1" dirty="0">
                <a:solidFill>
                  <a:srgbClr val="000000"/>
                </a:solidFill>
                <a:latin typeface="Times New Roman" pitchFamily="34" charset="0"/>
                <a:ea typeface="Times New Roman" pitchFamily="34" charset="-122"/>
                <a:cs typeface="Times New Roman" pitchFamily="34" charset="-120"/>
              </a:rPr>
              <a:t>International Journal of Environmental Research and Public Health, 22</a:t>
            </a:r>
            <a:r>
              <a:rPr lang="en-US" sz="1100" dirty="0">
                <a:solidFill>
                  <a:srgbClr val="000000"/>
                </a:solidFill>
                <a:latin typeface="Times New Roman" pitchFamily="34" charset="0"/>
                <a:ea typeface="Times New Roman" pitchFamily="34" charset="-122"/>
                <a:cs typeface="Times New Roman" pitchFamily="34" charset="-120"/>
              </a:rPr>
              <a:t>(4), 609.</a:t>
            </a:r>
            <a:endParaRPr lang="en-US" sz="1100" dirty="0"/>
          </a:p>
        </p:txBody>
      </p:sp>
      <p:sp>
        <p:nvSpPr>
          <p:cNvPr id="11" name="Text 9"/>
          <p:cNvSpPr txBox="1"/>
          <p:nvPr/>
        </p:nvSpPr>
        <p:spPr>
          <a:xfrm>
            <a:off x="731520" y="4655820"/>
            <a:ext cx="12252960" cy="263652"/>
          </a:xfrm>
          <a:prstGeom prst="rect">
            <a:avLst/>
          </a:prstGeom>
          <a:noFill/>
          <a:ln/>
        </p:spPr>
        <p:txBody>
          <a:bodyPr wrap="square" lIns="0" tIns="0" rIns="0" bIns="0" rtlCol="0" anchor="t"/>
          <a:lstStyle/>
          <a:p>
            <a:pPr indent="0" marL="0">
              <a:lnSpc>
                <a:spcPts val="1500"/>
              </a:lnSpc>
              <a:buNone/>
            </a:pPr>
            <a:r>
              <a:rPr lang="en-US" sz="1100" dirty="0">
                <a:solidFill>
                  <a:srgbClr val="000000"/>
                </a:solidFill>
                <a:latin typeface="Times New Roman" pitchFamily="34" charset="0"/>
                <a:ea typeface="Times New Roman" pitchFamily="34" charset="-122"/>
                <a:cs typeface="Times New Roman" pitchFamily="34" charset="-120"/>
              </a:rPr>
              <a:t>Sethi, T., &amp; Ziat, M. (2023). Dark mode vogue: Do light-on-dark displays have measurable benefits to users? </a:t>
            </a:r>
            <a:r>
              <a:rPr lang="en-US" sz="1100" i="1" dirty="0">
                <a:solidFill>
                  <a:srgbClr val="000000"/>
                </a:solidFill>
                <a:latin typeface="Times New Roman" pitchFamily="34" charset="0"/>
                <a:ea typeface="Times New Roman" pitchFamily="34" charset="-122"/>
                <a:cs typeface="Times New Roman" pitchFamily="34" charset="-120"/>
              </a:rPr>
              <a:t>Ergonomics, 66</a:t>
            </a:r>
            <a:r>
              <a:rPr lang="en-US" sz="1100" dirty="0">
                <a:solidFill>
                  <a:srgbClr val="000000"/>
                </a:solidFill>
                <a:latin typeface="Times New Roman" pitchFamily="34" charset="0"/>
                <a:ea typeface="Times New Roman" pitchFamily="34" charset="-122"/>
                <a:cs typeface="Times New Roman" pitchFamily="34" charset="-120"/>
              </a:rPr>
              <a:t>(12), 1814–1828.</a:t>
            </a:r>
            <a:endParaRPr lang="en-US" sz="1100" dirty="0"/>
          </a:p>
        </p:txBody>
      </p:sp>
      <p:sp>
        <p:nvSpPr>
          <p:cNvPr id="12" name="Text 10"/>
          <p:cNvSpPr txBox="1"/>
          <p:nvPr/>
        </p:nvSpPr>
        <p:spPr>
          <a:xfrm>
            <a:off x="731520" y="5029200"/>
            <a:ext cx="12252960" cy="263652"/>
          </a:xfrm>
          <a:prstGeom prst="rect">
            <a:avLst/>
          </a:prstGeom>
          <a:noFill/>
          <a:ln/>
        </p:spPr>
        <p:txBody>
          <a:bodyPr wrap="square" lIns="0" tIns="0" rIns="0" bIns="0" rtlCol="0" anchor="t"/>
          <a:lstStyle/>
          <a:p>
            <a:pPr indent="0" marL="0">
              <a:lnSpc>
                <a:spcPts val="1500"/>
              </a:lnSpc>
              <a:buNone/>
            </a:pPr>
            <a:r>
              <a:rPr lang="en-US" sz="1100" dirty="0">
                <a:solidFill>
                  <a:srgbClr val="000000"/>
                </a:solidFill>
                <a:latin typeface="Times New Roman" pitchFamily="34" charset="0"/>
                <a:ea typeface="Times New Roman" pitchFamily="34" charset="-122"/>
                <a:cs typeface="Times New Roman" pitchFamily="34" charset="-120"/>
              </a:rPr>
              <a:t>Sheppard, A. L., &amp; Wolffsohn, J. S. (2018). Digital eye strain: Prevalence, measurement and amelioration. </a:t>
            </a:r>
            <a:r>
              <a:rPr lang="en-US" sz="1100" i="1" dirty="0">
                <a:solidFill>
                  <a:srgbClr val="000000"/>
                </a:solidFill>
                <a:latin typeface="Times New Roman" pitchFamily="34" charset="0"/>
                <a:ea typeface="Times New Roman" pitchFamily="34" charset="-122"/>
                <a:cs typeface="Times New Roman" pitchFamily="34" charset="-120"/>
              </a:rPr>
              <a:t>BMJ Open Ophthalmology, 3</a:t>
            </a:r>
            <a:r>
              <a:rPr lang="en-US" sz="1100" dirty="0">
                <a:solidFill>
                  <a:srgbClr val="000000"/>
                </a:solidFill>
                <a:latin typeface="Times New Roman" pitchFamily="34" charset="0"/>
                <a:ea typeface="Times New Roman" pitchFamily="34" charset="-122"/>
                <a:cs typeface="Times New Roman" pitchFamily="34" charset="-120"/>
              </a:rPr>
              <a:t>(1), e000146.</a:t>
            </a:r>
            <a:endParaRPr lang="en-US" sz="1100" dirty="0"/>
          </a:p>
        </p:txBody>
      </p:sp>
      <p:sp>
        <p:nvSpPr>
          <p:cNvPr id="13" name="Text 11"/>
          <p:cNvSpPr txBox="1"/>
          <p:nvPr/>
        </p:nvSpPr>
        <p:spPr>
          <a:xfrm>
            <a:off x="731520" y="5402580"/>
            <a:ext cx="12252960" cy="454152"/>
          </a:xfrm>
          <a:prstGeom prst="rect">
            <a:avLst/>
          </a:prstGeom>
          <a:noFill/>
          <a:ln/>
        </p:spPr>
        <p:txBody>
          <a:bodyPr wrap="square" lIns="0" tIns="0" rIns="0" bIns="0" rtlCol="0" anchor="t"/>
          <a:lstStyle/>
          <a:p>
            <a:pPr indent="0" marL="0">
              <a:lnSpc>
                <a:spcPts val="1500"/>
              </a:lnSpc>
              <a:buNone/>
            </a:pPr>
            <a:r>
              <a:rPr lang="en-US" sz="1100" dirty="0">
                <a:solidFill>
                  <a:srgbClr val="000000"/>
                </a:solidFill>
                <a:latin typeface="Times New Roman" pitchFamily="34" charset="0"/>
                <a:ea typeface="Times New Roman" pitchFamily="34" charset="-122"/>
                <a:cs typeface="Times New Roman" pitchFamily="34" charset="-120"/>
              </a:rPr>
              <a:t>Singh, S., McGuinness, M. B., Anderson, A. J., &amp; Downie, L. E. (2022). Interventions for the management of computer vision syndrome: A systematic review and meta-analysis. </a:t>
            </a:r>
            <a:r>
              <a:rPr lang="en-US" sz="1100" i="1" dirty="0">
                <a:solidFill>
                  <a:srgbClr val="000000"/>
                </a:solidFill>
                <a:latin typeface="Times New Roman" pitchFamily="34" charset="0"/>
                <a:ea typeface="Times New Roman" pitchFamily="34" charset="-122"/>
                <a:cs typeface="Times New Roman" pitchFamily="34" charset="-120"/>
              </a:rPr>
              <a:t>Ophthalmology, 129</a:t>
            </a:r>
            <a:r>
              <a:rPr lang="en-US" sz="1100" dirty="0">
                <a:solidFill>
                  <a:srgbClr val="000000"/>
                </a:solidFill>
                <a:latin typeface="Times New Roman" pitchFamily="34" charset="0"/>
                <a:ea typeface="Times New Roman" pitchFamily="34" charset="-122"/>
                <a:cs typeface="Times New Roman" pitchFamily="34" charset="-120"/>
              </a:rPr>
              <a:t>(10), 1192–1215.</a:t>
            </a:r>
            <a:endParaRPr lang="en-US" sz="1100" dirty="0"/>
          </a:p>
        </p:txBody>
      </p:sp>
      <p:sp>
        <p:nvSpPr>
          <p:cNvPr id="14" name="Text 12"/>
          <p:cNvSpPr txBox="1"/>
          <p:nvPr/>
        </p:nvSpPr>
        <p:spPr>
          <a:xfrm>
            <a:off x="731520" y="5966460"/>
            <a:ext cx="12252960" cy="263652"/>
          </a:xfrm>
          <a:prstGeom prst="rect">
            <a:avLst/>
          </a:prstGeom>
          <a:noFill/>
          <a:ln/>
        </p:spPr>
        <p:txBody>
          <a:bodyPr wrap="square" lIns="0" tIns="0" rIns="0" bIns="0" rtlCol="0" anchor="t"/>
          <a:lstStyle/>
          <a:p>
            <a:pPr indent="0" marL="0">
              <a:lnSpc>
                <a:spcPts val="1500"/>
              </a:lnSpc>
              <a:buNone/>
            </a:pPr>
            <a:r>
              <a:rPr lang="en-US" sz="1100" dirty="0">
                <a:solidFill>
                  <a:srgbClr val="000000"/>
                </a:solidFill>
                <a:latin typeface="Times New Roman" pitchFamily="34" charset="0"/>
                <a:ea typeface="Times New Roman" pitchFamily="34" charset="-122"/>
                <a:cs typeface="Times New Roman" pitchFamily="34" charset="-120"/>
              </a:rPr>
              <a:t>Soukupová, T., &amp; Čech, J. (2016). </a:t>
            </a:r>
            <a:r>
              <a:rPr lang="en-US" sz="1100" i="1" dirty="0">
                <a:solidFill>
                  <a:srgbClr val="000000"/>
                </a:solidFill>
                <a:latin typeface="Times New Roman" pitchFamily="34" charset="0"/>
                <a:ea typeface="Times New Roman" pitchFamily="34" charset="-122"/>
                <a:cs typeface="Times New Roman" pitchFamily="34" charset="-120"/>
              </a:rPr>
              <a:t>Real-time eye blink detection using facial landmarks</a:t>
            </a:r>
            <a:r>
              <a:rPr lang="en-US" sz="1100" dirty="0">
                <a:solidFill>
                  <a:srgbClr val="000000"/>
                </a:solidFill>
                <a:latin typeface="Times New Roman" pitchFamily="34" charset="0"/>
                <a:ea typeface="Times New Roman" pitchFamily="34" charset="-122"/>
                <a:cs typeface="Times New Roman" pitchFamily="34" charset="-120"/>
              </a:rPr>
              <a:t> [Paper presentation]. 21st Computer Vision Winter Workshop, Rimske Toplice, Slovenia.</a:t>
            </a:r>
            <a:endParaRPr lang="en-US" sz="1100" dirty="0"/>
          </a:p>
        </p:txBody>
      </p:sp>
      <p:sp>
        <p:nvSpPr>
          <p:cNvPr id="15" name="Text 13"/>
          <p:cNvSpPr txBox="1"/>
          <p:nvPr/>
        </p:nvSpPr>
        <p:spPr>
          <a:xfrm>
            <a:off x="731520" y="6339840"/>
            <a:ext cx="12252960" cy="263652"/>
          </a:xfrm>
          <a:prstGeom prst="rect">
            <a:avLst/>
          </a:prstGeom>
          <a:noFill/>
          <a:ln/>
        </p:spPr>
        <p:txBody>
          <a:bodyPr wrap="square" lIns="0" tIns="0" rIns="0" bIns="0" rtlCol="0" anchor="t"/>
          <a:lstStyle/>
          <a:p>
            <a:pPr indent="0" marL="0">
              <a:lnSpc>
                <a:spcPts val="1500"/>
              </a:lnSpc>
              <a:buNone/>
            </a:pPr>
            <a:r>
              <a:rPr lang="en-US" sz="1100" dirty="0">
                <a:solidFill>
                  <a:srgbClr val="000000"/>
                </a:solidFill>
                <a:latin typeface="Times New Roman" pitchFamily="34" charset="0"/>
                <a:ea typeface="Times New Roman" pitchFamily="34" charset="-122"/>
                <a:cs typeface="Times New Roman" pitchFamily="34" charset="-120"/>
              </a:rPr>
              <a:t>World Wide Web Consortium. (2023, October 5). </a:t>
            </a:r>
            <a:r>
              <a:rPr lang="en-US" sz="1100" i="1" dirty="0">
                <a:solidFill>
                  <a:srgbClr val="000000"/>
                </a:solidFill>
                <a:latin typeface="Times New Roman" pitchFamily="34" charset="0"/>
                <a:ea typeface="Times New Roman" pitchFamily="34" charset="-122"/>
                <a:cs typeface="Times New Roman" pitchFamily="34" charset="-120"/>
              </a:rPr>
              <a:t>Web content accessibility guidelines (WCAG) 2.2</a:t>
            </a:r>
            <a:r>
              <a:rPr lang="en-US" sz="1100" dirty="0">
                <a:solidFill>
                  <a:srgbClr val="000000"/>
                </a:solidFill>
                <a:latin typeface="Times New Roman" pitchFamily="34" charset="0"/>
                <a:ea typeface="Times New Roman" pitchFamily="34" charset="-122"/>
                <a:cs typeface="Times New Roman" pitchFamily="34" charset="-120"/>
              </a:rPr>
              <a:t>. https://www.w3.org/TR/WCAG22/</a:t>
            </a:r>
            <a:endParaRPr lang="en-US" sz="1100" dirty="0"/>
          </a:p>
        </p:txBody>
      </p:sp>
      <p:sp>
        <p:nvSpPr>
          <p:cNvPr id="16" name="Text 14"/>
          <p:cNvSpPr txBox="1"/>
          <p:nvPr/>
        </p:nvSpPr>
        <p:spPr>
          <a:xfrm>
            <a:off x="731520" y="7726680"/>
            <a:ext cx="12252960" cy="263652"/>
          </a:xfrm>
          <a:prstGeom prst="rect">
            <a:avLst/>
          </a:prstGeom>
          <a:noFill/>
          <a:ln/>
        </p:spPr>
        <p:txBody>
          <a:bodyPr wrap="square" lIns="0" tIns="0" rIns="0" bIns="0" rtlCol="0" anchor="t"/>
          <a:lstStyle/>
          <a:p>
            <a:pPr indent="0" marL="0">
              <a:lnSpc>
                <a:spcPts val="1500"/>
              </a:lnSpc>
              <a:buNone/>
            </a:pPr>
            <a:r>
              <a:rPr lang="en-US" sz="1100" i="1" dirty="0">
                <a:solidFill>
                  <a:srgbClr val="595959"/>
                </a:solidFill>
                <a:latin typeface="Times New Roman" pitchFamily="34" charset="0"/>
                <a:ea typeface="Times New Roman" pitchFamily="34" charset="-122"/>
                <a:cs typeface="Times New Roman" pitchFamily="34" charset="-120"/>
              </a:rPr>
              <a:t>Every reference listed has been checked against its PubMed record or, where PubMed does not index it, against the issuing authority. The verification record accompanies the synopsis.</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pic>
        <p:nvPicPr>
          <p:cNvPr id="2" name="Image 0" descr="/home/user/PhD-PWA/synopsis/figures/adtu_logo.png">    </p:cNvPr>
          <p:cNvPicPr>
            <a:picLocks noChangeAspect="1"/>
          </p:cNvPicPr>
          <p:nvPr/>
        </p:nvPicPr>
        <p:blipFill>
          <a:blip r:embed="rId1"/>
          <a:stretch>
            <a:fillRect/>
          </a:stretch>
        </p:blipFill>
        <p:spPr>
          <a:xfrm>
            <a:off x="4224528" y="2468880"/>
            <a:ext cx="5266944" cy="859536"/>
          </a:xfrm>
          <a:prstGeom prst="rect">
            <a:avLst/>
          </a:prstGeom>
        </p:spPr>
      </p:pic>
      <p:sp>
        <p:nvSpPr>
          <p:cNvPr id="3" name="Text 0"/>
          <p:cNvSpPr txBox="1"/>
          <p:nvPr/>
        </p:nvSpPr>
        <p:spPr>
          <a:xfrm>
            <a:off x="914400" y="4114800"/>
            <a:ext cx="11887200" cy="606552"/>
          </a:xfrm>
          <a:prstGeom prst="rect">
            <a:avLst/>
          </a:prstGeom>
          <a:noFill/>
          <a:ln/>
        </p:spPr>
        <p:txBody>
          <a:bodyPr wrap="square" lIns="0" tIns="0" rIns="0" bIns="0" rtlCol="0" anchor="t"/>
          <a:lstStyle/>
          <a:p>
            <a:pPr algn="ctr" indent="0" marL="0">
              <a:lnSpc>
                <a:spcPts val="4200"/>
              </a:lnSpc>
              <a:buNone/>
            </a:pPr>
            <a:r>
              <a:rPr lang="en-US" sz="3200" b="1" dirty="0">
                <a:solidFill>
                  <a:srgbClr val="1F3864"/>
                </a:solidFill>
                <a:latin typeface="Times New Roman" pitchFamily="34" charset="0"/>
                <a:ea typeface="Times New Roman" pitchFamily="34" charset="-122"/>
                <a:cs typeface="Times New Roman" pitchFamily="34" charset="-120"/>
              </a:rPr>
              <a:t>Thank you</a:t>
            </a:r>
            <a:endParaRPr lang="en-US" sz="3200" dirty="0"/>
          </a:p>
        </p:txBody>
      </p:sp>
      <p:sp>
        <p:nvSpPr>
          <p:cNvPr id="4" name="Text 1"/>
          <p:cNvSpPr txBox="1"/>
          <p:nvPr/>
        </p:nvSpPr>
        <p:spPr>
          <a:xfrm>
            <a:off x="914400" y="4937760"/>
            <a:ext cx="11887200" cy="301752"/>
          </a:xfrm>
          <a:prstGeom prst="rect">
            <a:avLst/>
          </a:prstGeom>
          <a:noFill/>
          <a:ln/>
        </p:spPr>
        <p:txBody>
          <a:bodyPr wrap="square" lIns="0" tIns="0" rIns="0" bIns="0" rtlCol="0" anchor="t"/>
          <a:lstStyle/>
          <a:p>
            <a:pPr algn="ctr" indent="0" marL="0">
              <a:lnSpc>
                <a:spcPts val="1800"/>
              </a:lnSpc>
              <a:buNone/>
            </a:pPr>
            <a:r>
              <a:rPr lang="en-US" sz="1400" dirty="0">
                <a:solidFill>
                  <a:srgbClr val="000000"/>
                </a:solidFill>
                <a:latin typeface="Times New Roman" pitchFamily="34" charset="0"/>
                <a:ea typeface="Times New Roman" pitchFamily="34" charset="-122"/>
                <a:cs typeface="Times New Roman" pitchFamily="34" charset="-120"/>
              </a:rPr>
              <a:t>Questions and suggestions are welcome</a:t>
            </a:r>
            <a:endParaRPr lang="en-US" sz="1400" dirty="0"/>
          </a:p>
        </p:txBody>
      </p:sp>
      <p:sp>
        <p:nvSpPr>
          <p:cNvPr id="5" name="Text 2"/>
          <p:cNvSpPr txBox="1"/>
          <p:nvPr/>
        </p:nvSpPr>
        <p:spPr>
          <a:xfrm>
            <a:off x="914400" y="5852160"/>
            <a:ext cx="11887200" cy="339852"/>
          </a:xfrm>
          <a:prstGeom prst="rect">
            <a:avLst/>
          </a:prstGeom>
          <a:noFill/>
          <a:ln/>
        </p:spPr>
        <p:txBody>
          <a:bodyPr wrap="square" lIns="0" tIns="0" rIns="0" bIns="0" rtlCol="0" anchor="t"/>
          <a:lstStyle/>
          <a:p>
            <a:pPr algn="ctr" indent="0" marL="0">
              <a:lnSpc>
                <a:spcPts val="2100"/>
              </a:lnSpc>
              <a:buNone/>
            </a:pPr>
            <a:r>
              <a:rPr lang="en-US" sz="1200" dirty="0">
                <a:solidFill>
                  <a:srgbClr val="595959"/>
                </a:solidFill>
                <a:latin typeface="Times New Roman" pitchFamily="34" charset="0"/>
                <a:ea typeface="Times New Roman" pitchFamily="34" charset="-122"/>
                <a:cs typeface="Times New Roman" pitchFamily="34" charset="-120"/>
              </a:rPr>
              <a:t>Gyandeep Nath  ·  Programme of Optometry  ·  Faculty of Allied and Healthcare Sciences</a:t>
            </a:r>
            <a:endParaRPr lang="en-US" sz="1200" dirty="0"/>
          </a:p>
          <a:p>
            <a:pPr algn="ctr" indent="0" marL="0">
              <a:lnSpc>
                <a:spcPts val="2100"/>
              </a:lnSpc>
              <a:buNone/>
            </a:pPr>
            <a:r>
              <a:rPr lang="en-US" sz="1200" dirty="0">
                <a:solidFill>
                  <a:srgbClr val="595959"/>
                </a:solidFill>
                <a:latin typeface="Times New Roman" pitchFamily="34" charset="0"/>
                <a:ea typeface="Times New Roman" pitchFamily="34" charset="-122"/>
                <a:cs typeface="Times New Roman" pitchFamily="34" charset="-120"/>
              </a:rPr>
              <a:t>Assam down town University, Guwahati</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Effects of Display Polarity and Text Colour on Visual Fatigue</dc:title>
  <dc:subject>PptxGenJS Presentation</dc:subject>
  <dc:creator>Gyandeep Nath</dc:creator>
  <cp:lastModifiedBy>Gyandeep Nath</cp:lastModifiedBy>
  <cp:revision>1</cp:revision>
  <dcterms:created xsi:type="dcterms:W3CDTF">2026-09-10T21:56:10Z</dcterms:created>
  <dcterms:modified xsi:type="dcterms:W3CDTF">2026-09-10T21:56:10Z</dcterms:modified>
</cp:coreProperties>
</file>