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3716000" cy="8686800"/>
  <p:notesSz cx="8686800" cy="1371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synopsis proposes a within-subject experiment on how two freely changeable display settings — polarity and text colour — affect visual fatigue during prolonged tablet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I will spend most of the time on the design and on why the measurement had to be built rather than bought.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frame the problem: it affects roughly seven in ten screen users, and nothing we currently offer them is proven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routes run at once from the same settings. The left one produces the performance measures; the right one produces the primary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Buchner &amp; Baumgartner 2007; Piepenbrock et al. 2014. The mechanism is pupillary, which is exactly why room light cannot be left to vary.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right-hand table is the sample-size justification: 130 participants give 1,300 condition-runs, roughly four times the largest comparable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2 is the one that makes the design unusual — it is what lets us say whether colour matters, or only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H1c is the testable core: the two rival results look completely different on a graph, so the study cannot come back ambiguous on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Repeated measures: every participant sees all ten conditions, so each person is their own control. Order follows a Williams square, so each condition sits in each position equally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colour effects are really contrast effects, the lines cross over between polarities. If hue matters in its own right, the ordering is preserved. Two different-looking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Simulation over 2,000 synthetic participants puts the sitting at a median of 98 minutes. A pilot of ten confirms it before the main study; if it overruns, the ten conditions split across two shorter sittings.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methodological contribution. If it validates, the frame-by-frame annotation bottleneck that has kept this literature to fifty-participant studies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point at the bottom is the reason the work is worth doing: unlike every therapy that has been trialled, this one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reference list, with a verification record giving the PMID and DOI of every entry, accompanies the synopsis.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7306F"/>
        </a:solidFill>
      </p:bgPr>
    </p:bg>
    <p:spTree>
      <p:nvGrpSpPr>
        <p:cNvPr id="1" name=""/>
        <p:cNvGrpSpPr/>
        <p:nvPr/>
      </p:nvGrpSpPr>
      <p:grpSpPr>
        <a:xfrm>
          <a:off x="0" y="0"/>
          <a:ext cx="0" cy="0"/>
          <a:chOff x="0" y="0"/>
          <a:chExt cx="0" cy="0"/>
        </a:xfrm>
      </p:grpSpPr>
      <p:sp>
        <p:nvSpPr>
          <p:cNvPr id="2" name="Shape 0"/>
          <p:cNvSpPr/>
          <p:nvPr/>
        </p:nvSpPr>
        <p:spPr>
          <a:xfrm>
            <a:off x="3977640" y="475488"/>
            <a:ext cx="5760720" cy="1207008"/>
          </a:xfrm>
          <a:prstGeom prst="roundRect">
            <a:avLst>
              <a:gd name="adj" fmla="val 9091"/>
            </a:avLst>
          </a:prstGeom>
          <a:solidFill>
            <a:srgbClr val="FFFFFF"/>
          </a:solidFill>
          <a:ln w="12700">
            <a:solidFill>
              <a:srgbClr val="FFFFFF"/>
            </a:solidFill>
            <a:prstDash val="solid"/>
          </a:ln>
        </p:spPr>
      </p:sp>
      <p:pic>
        <p:nvPicPr>
          <p:cNvPr id="3" name="Image 0" descr="/home/user/PhD-PWA/synopsis/figures/adtu_logo.png">    </p:cNvPr>
          <p:cNvPicPr>
            <a:picLocks noChangeAspect="1"/>
          </p:cNvPicPr>
          <p:nvPr/>
        </p:nvPicPr>
        <p:blipFill>
          <a:blip r:embed="rId1"/>
          <a:stretch>
            <a:fillRect/>
          </a:stretch>
        </p:blipFill>
        <p:spPr>
          <a:xfrm>
            <a:off x="4224528" y="649224"/>
            <a:ext cx="5266944" cy="859536"/>
          </a:xfrm>
          <a:prstGeom prst="rect">
            <a:avLst/>
          </a:prstGeom>
        </p:spPr>
      </p:pic>
      <p:sp>
        <p:nvSpPr>
          <p:cNvPr id="4" name="Text 1"/>
          <p:cNvSpPr txBox="1"/>
          <p:nvPr/>
        </p:nvSpPr>
        <p:spPr>
          <a:xfrm>
            <a:off x="731520" y="1920240"/>
            <a:ext cx="12252960" cy="2606040"/>
          </a:xfrm>
          <a:prstGeom prst="rect">
            <a:avLst/>
          </a:prstGeom>
          <a:noFill/>
          <a:ln/>
        </p:spPr>
        <p:txBody>
          <a:bodyPr wrap="square" lIns="0" tIns="0" rIns="0" bIns="0" rtlCol="0" anchor="ctr"/>
          <a:lstStyle/>
          <a:p>
            <a:pPr algn="ctr" indent="0" marL="0">
              <a:lnSpc>
                <a:spcPts val="4300"/>
              </a:lnSpc>
              <a:buNone/>
            </a:pPr>
            <a:r>
              <a:rPr lang="en-US" sz="2900" b="1" dirty="0">
                <a:solidFill>
                  <a:srgbClr val="FFFFFF"/>
                </a:solidFill>
                <a:latin typeface="Cambria" pitchFamily="34" charset="0"/>
                <a:ea typeface="Cambria" pitchFamily="34" charset="-122"/>
                <a:cs typeface="Cambria" pitchFamily="34" charset="-120"/>
              </a:rPr>
              <a:t>Effects of Display Polarity and Text Colour</a:t>
            </a:r>
            <a:endParaRPr lang="en-US" sz="2900" dirty="0"/>
          </a:p>
          <a:p>
            <a:pPr algn="ctr" indent="0" marL="0">
              <a:lnSpc>
                <a:spcPts val="4300"/>
              </a:lnSpc>
              <a:buNone/>
            </a:pPr>
            <a:r>
              <a:rPr lang="en-US" sz="2900" b="1" dirty="0">
                <a:solidFill>
                  <a:srgbClr val="FFFFFF"/>
                </a:solidFill>
                <a:latin typeface="Cambria" pitchFamily="34" charset="0"/>
                <a:ea typeface="Cambria" pitchFamily="34" charset="-122"/>
                <a:cs typeface="Cambria" pitchFamily="34" charset="-120"/>
              </a:rPr>
              <a:t>on Visual Fatigue, Ocular Behaviour</a:t>
            </a:r>
            <a:endParaRPr lang="en-US" sz="2900" dirty="0"/>
          </a:p>
          <a:p>
            <a:pPr algn="ctr" indent="0" marL="0">
              <a:lnSpc>
                <a:spcPts val="4300"/>
              </a:lnSpc>
              <a:buNone/>
            </a:pPr>
            <a:r>
              <a:rPr lang="en-US" sz="2900" b="1" dirty="0">
                <a:solidFill>
                  <a:srgbClr val="FFFFFF"/>
                </a:solidFill>
                <a:latin typeface="Cambria" pitchFamily="34" charset="0"/>
                <a:ea typeface="Cambria" pitchFamily="34" charset="-122"/>
                <a:cs typeface="Cambria" pitchFamily="34" charset="-120"/>
              </a:rPr>
              <a:t>and Task Performance,</a:t>
            </a:r>
            <a:endParaRPr lang="en-US" sz="2900" dirty="0"/>
          </a:p>
          <a:p>
            <a:pPr algn="ctr" indent="0" marL="0">
              <a:lnSpc>
                <a:spcPts val="4300"/>
              </a:lnSpc>
              <a:buNone/>
            </a:pPr>
            <a:r>
              <a:rPr lang="en-US" sz="2900" b="1" dirty="0">
                <a:solidFill>
                  <a:srgbClr val="FFFFFF"/>
                </a:solidFill>
                <a:latin typeface="Cambria" pitchFamily="34" charset="0"/>
                <a:ea typeface="Cambria" pitchFamily="34" charset="-122"/>
                <a:cs typeface="Cambria" pitchFamily="34" charset="-120"/>
              </a:rPr>
              <a:t>Under Controlled Ambient Illumination</a:t>
            </a:r>
            <a:endParaRPr lang="en-US" sz="2900" dirty="0"/>
          </a:p>
        </p:txBody>
      </p:sp>
      <p:sp>
        <p:nvSpPr>
          <p:cNvPr id="5" name="Text 2"/>
          <p:cNvSpPr txBox="1"/>
          <p:nvPr/>
        </p:nvSpPr>
        <p:spPr>
          <a:xfrm>
            <a:off x="1463040" y="4617720"/>
            <a:ext cx="10789920" cy="777240"/>
          </a:xfrm>
          <a:prstGeom prst="rect">
            <a:avLst/>
          </a:prstGeom>
          <a:noFill/>
          <a:ln/>
        </p:spPr>
        <p:txBody>
          <a:bodyPr wrap="square" lIns="0" tIns="0" rIns="0" bIns="0" rtlCol="0" anchor="ctr"/>
          <a:lstStyle/>
          <a:p>
            <a:pPr algn="ctr" indent="0" marL="0">
              <a:lnSpc>
                <a:spcPts val="2400"/>
              </a:lnSpc>
              <a:buNone/>
            </a:pPr>
            <a:r>
              <a:rPr lang="en-US" sz="1600" dirty="0">
                <a:solidFill>
                  <a:srgbClr val="FCCB00"/>
                </a:solidFill>
                <a:latin typeface="Calibri" pitchFamily="34" charset="0"/>
                <a:ea typeface="Calibri" pitchFamily="34" charset="-122"/>
                <a:cs typeface="Calibri" pitchFamily="34" charset="-120"/>
              </a:rPr>
              <a:t>Synopsis presentation for partial fulfilment of the requirements for the award of</a:t>
            </a:r>
            <a:endParaRPr lang="en-US" sz="1600" dirty="0"/>
          </a:p>
          <a:p>
            <a:pPr algn="ctr" indent="0" marL="0">
              <a:lnSpc>
                <a:spcPts val="2400"/>
              </a:lnSpc>
              <a:buNone/>
            </a:pPr>
            <a:r>
              <a:rPr lang="en-US" sz="1600" dirty="0">
                <a:solidFill>
                  <a:srgbClr val="FCCB00"/>
                </a:solidFill>
                <a:latin typeface="Calibri" pitchFamily="34" charset="0"/>
                <a:ea typeface="Calibri" pitchFamily="34" charset="-122"/>
                <a:cs typeface="Calibri" pitchFamily="34" charset="-120"/>
              </a:rPr>
              <a:t>Doctor of Philosophy (PhD) in Optometry</a:t>
            </a:r>
            <a:endParaRPr lang="en-US" sz="1600" dirty="0"/>
          </a:p>
        </p:txBody>
      </p:sp>
      <p:sp>
        <p:nvSpPr>
          <p:cNvPr id="6" name="Shape 3"/>
          <p:cNvSpPr/>
          <p:nvPr/>
        </p:nvSpPr>
        <p:spPr>
          <a:xfrm>
            <a:off x="777240" y="5669280"/>
            <a:ext cx="5394960" cy="1691640"/>
          </a:xfrm>
          <a:prstGeom prst="roundRect">
            <a:avLst>
              <a:gd name="adj" fmla="val 5405"/>
            </a:avLst>
          </a:prstGeom>
          <a:solidFill>
            <a:srgbClr val="FFFFFF">
              <a:alpha val="10000"/>
            </a:srgbClr>
          </a:solidFill>
          <a:ln w="12700">
            <a:solidFill>
              <a:srgbClr val="FFFFFF">
                <a:alpha val="30000"/>
              </a:srgbClr>
            </a:solidFill>
            <a:prstDash val="solid"/>
          </a:ln>
        </p:spPr>
      </p:sp>
      <p:sp>
        <p:nvSpPr>
          <p:cNvPr id="7" name="Text 4"/>
          <p:cNvSpPr txBox="1"/>
          <p:nvPr/>
        </p:nvSpPr>
        <p:spPr>
          <a:xfrm>
            <a:off x="1143000" y="5870448"/>
            <a:ext cx="4663440" cy="274320"/>
          </a:xfrm>
          <a:prstGeom prst="rect">
            <a:avLst/>
          </a:prstGeom>
          <a:noFill/>
          <a:ln/>
        </p:spPr>
        <p:txBody>
          <a:bodyPr wrap="square" lIns="0" tIns="0" rIns="0" bIns="0" rtlCol="0" anchor="ctr"/>
          <a:lstStyle/>
          <a:p>
            <a:pPr indent="0" marL="0">
              <a:buNone/>
            </a:pPr>
            <a:r>
              <a:rPr lang="en-US" sz="1250" b="1" spc="160" kern="0" dirty="0">
                <a:solidFill>
                  <a:srgbClr val="FCCB00"/>
                </a:solidFill>
                <a:latin typeface="Calibri" pitchFamily="34" charset="0"/>
                <a:ea typeface="Calibri" pitchFamily="34" charset="-122"/>
                <a:cs typeface="Calibri" pitchFamily="34" charset="-120"/>
              </a:rPr>
              <a:t>SUBMITTED BY</a:t>
            </a:r>
            <a:endParaRPr lang="en-US" sz="1250" dirty="0"/>
          </a:p>
        </p:txBody>
      </p:sp>
      <p:sp>
        <p:nvSpPr>
          <p:cNvPr id="8" name="Text 5"/>
          <p:cNvSpPr txBox="1"/>
          <p:nvPr/>
        </p:nvSpPr>
        <p:spPr>
          <a:xfrm>
            <a:off x="1143000" y="6181344"/>
            <a:ext cx="4663440" cy="1005840"/>
          </a:xfrm>
          <a:prstGeom prst="rect">
            <a:avLst/>
          </a:prstGeom>
          <a:noFill/>
          <a:ln/>
        </p:spPr>
        <p:txBody>
          <a:bodyPr wrap="square" lIns="0" tIns="0" rIns="0" bIns="0" rtlCol="0" anchor="ctr"/>
          <a:lstStyle/>
          <a:p>
            <a:pPr indent="0" marL="0">
              <a:lnSpc>
                <a:spcPts val="2100"/>
              </a:lnSpc>
              <a:buNone/>
            </a:pPr>
            <a:r>
              <a:rPr lang="en-US" sz="1500" dirty="0">
                <a:solidFill>
                  <a:srgbClr val="FFFFFF"/>
                </a:solidFill>
                <a:latin typeface="Calibri" pitchFamily="34" charset="0"/>
                <a:ea typeface="Calibri" pitchFamily="34" charset="-122"/>
                <a:cs typeface="Calibri" pitchFamily="34" charset="-120"/>
              </a:rPr>
              <a:t>Mr. Gyandeep Nath</a:t>
            </a:r>
            <a:endParaRPr lang="en-US" sz="1500" dirty="0"/>
          </a:p>
          <a:p>
            <a:pPr indent="0" marL="0">
              <a:lnSpc>
                <a:spcPts val="2100"/>
              </a:lnSpc>
              <a:buNone/>
            </a:pPr>
            <a:r>
              <a:rPr lang="en-US" sz="1500" dirty="0">
                <a:solidFill>
                  <a:srgbClr val="FFFFFF"/>
                </a:solidFill>
                <a:latin typeface="Calibri" pitchFamily="34" charset="0"/>
                <a:ea typeface="Calibri" pitchFamily="34" charset="-122"/>
                <a:cs typeface="Calibri" pitchFamily="34" charset="-120"/>
              </a:rPr>
              <a:t>Programme of Optometry</a:t>
            </a:r>
            <a:endParaRPr lang="en-US" sz="1500" dirty="0"/>
          </a:p>
        </p:txBody>
      </p:sp>
      <p:sp>
        <p:nvSpPr>
          <p:cNvPr id="9" name="Shape 6"/>
          <p:cNvSpPr/>
          <p:nvPr/>
        </p:nvSpPr>
        <p:spPr>
          <a:xfrm>
            <a:off x="7543800" y="5669280"/>
            <a:ext cx="5394960" cy="1691640"/>
          </a:xfrm>
          <a:prstGeom prst="roundRect">
            <a:avLst>
              <a:gd name="adj" fmla="val 5405"/>
            </a:avLst>
          </a:prstGeom>
          <a:solidFill>
            <a:srgbClr val="FFFFFF">
              <a:alpha val="10000"/>
            </a:srgbClr>
          </a:solidFill>
          <a:ln w="12700">
            <a:solidFill>
              <a:srgbClr val="FFFFFF">
                <a:alpha val="30000"/>
              </a:srgbClr>
            </a:solidFill>
            <a:prstDash val="solid"/>
          </a:ln>
        </p:spPr>
      </p:sp>
      <p:sp>
        <p:nvSpPr>
          <p:cNvPr id="10" name="Text 7"/>
          <p:cNvSpPr txBox="1"/>
          <p:nvPr/>
        </p:nvSpPr>
        <p:spPr>
          <a:xfrm>
            <a:off x="7909560" y="5870448"/>
            <a:ext cx="4663440" cy="274320"/>
          </a:xfrm>
          <a:prstGeom prst="rect">
            <a:avLst/>
          </a:prstGeom>
          <a:noFill/>
          <a:ln/>
        </p:spPr>
        <p:txBody>
          <a:bodyPr wrap="square" lIns="0" tIns="0" rIns="0" bIns="0" rtlCol="0" anchor="ctr"/>
          <a:lstStyle/>
          <a:p>
            <a:pPr indent="0" marL="0">
              <a:buNone/>
            </a:pPr>
            <a:r>
              <a:rPr lang="en-US" sz="1250" b="1" spc="160" kern="0" dirty="0">
                <a:solidFill>
                  <a:srgbClr val="FCCB00"/>
                </a:solidFill>
                <a:latin typeface="Calibri" pitchFamily="34" charset="0"/>
                <a:ea typeface="Calibri" pitchFamily="34" charset="-122"/>
                <a:cs typeface="Calibri" pitchFamily="34" charset="-120"/>
              </a:rPr>
              <a:t>UNDER THE GUIDANCE OF</a:t>
            </a:r>
            <a:endParaRPr lang="en-US" sz="1250" dirty="0"/>
          </a:p>
        </p:txBody>
      </p:sp>
      <p:sp>
        <p:nvSpPr>
          <p:cNvPr id="11" name="Text 8"/>
          <p:cNvSpPr txBox="1"/>
          <p:nvPr/>
        </p:nvSpPr>
        <p:spPr>
          <a:xfrm>
            <a:off x="7909560" y="6181344"/>
            <a:ext cx="4663440" cy="1005840"/>
          </a:xfrm>
          <a:prstGeom prst="rect">
            <a:avLst/>
          </a:prstGeom>
          <a:noFill/>
          <a:ln/>
        </p:spPr>
        <p:txBody>
          <a:bodyPr wrap="square" lIns="0" tIns="0" rIns="0" bIns="0" rtlCol="0" anchor="ctr"/>
          <a:lstStyle/>
          <a:p>
            <a:pPr indent="0" marL="0">
              <a:lnSpc>
                <a:spcPts val="2100"/>
              </a:lnSpc>
              <a:buNone/>
            </a:pPr>
            <a:r>
              <a:rPr lang="en-US" sz="1500" dirty="0">
                <a:solidFill>
                  <a:srgbClr val="FFFFFF"/>
                </a:solidFill>
                <a:latin typeface="Calibri" pitchFamily="34" charset="0"/>
                <a:ea typeface="Calibri" pitchFamily="34" charset="-122"/>
                <a:cs typeface="Calibri" pitchFamily="34" charset="-120"/>
              </a:rPr>
              <a:t>Dr. Susmita Saha</a:t>
            </a:r>
            <a:endParaRPr lang="en-US" sz="1500" dirty="0"/>
          </a:p>
          <a:p>
            <a:pPr indent="0" marL="0">
              <a:lnSpc>
                <a:spcPts val="2100"/>
              </a:lnSpc>
              <a:buNone/>
            </a:pPr>
            <a:r>
              <a:rPr lang="en-US" sz="1500" dirty="0">
                <a:solidFill>
                  <a:srgbClr val="FFFFFF"/>
                </a:solidFill>
                <a:latin typeface="Calibri" pitchFamily="34" charset="0"/>
                <a:ea typeface="Calibri" pitchFamily="34" charset="-122"/>
                <a:cs typeface="Calibri" pitchFamily="34" charset="-120"/>
              </a:rPr>
              <a:t>Associate Dean, Faculty of Allied and Healthcare Sciences</a:t>
            </a:r>
            <a:endParaRPr lang="en-US" sz="1500" dirty="0"/>
          </a:p>
        </p:txBody>
      </p:sp>
      <p:sp>
        <p:nvSpPr>
          <p:cNvPr id="12" name="Text 9"/>
          <p:cNvSpPr txBox="1"/>
          <p:nvPr/>
        </p:nvSpPr>
        <p:spPr>
          <a:xfrm>
            <a:off x="640080" y="7680960"/>
            <a:ext cx="12435840" cy="310896"/>
          </a:xfrm>
          <a:prstGeom prst="rect">
            <a:avLst/>
          </a:prstGeom>
          <a:noFill/>
          <a:ln/>
        </p:spPr>
        <p:txBody>
          <a:bodyPr wrap="square" lIns="0" tIns="0" rIns="0" bIns="0" rtlCol="0" anchor="ctr"/>
          <a:lstStyle/>
          <a:p>
            <a:pPr algn="ctr" indent="0" marL="0">
              <a:buNone/>
            </a:pPr>
            <a:r>
              <a:rPr lang="en-US" sz="1250" dirty="0">
                <a:solidFill>
                  <a:srgbClr val="B9B5D6"/>
                </a:solidFill>
                <a:latin typeface="Calibri" pitchFamily="34" charset="0"/>
                <a:ea typeface="Calibri" pitchFamily="34" charset="-122"/>
                <a:cs typeface="Calibri" pitchFamily="34" charset="-120"/>
              </a:rPr>
              <a:t>Assam down town University · Shankar Madhab Path, Gandhinagar, Panikhaiti, Guwahati, Assam – 781026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CONTENTS</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Overview</a:t>
            </a:r>
            <a:endParaRPr lang="en-US" sz="3400" dirty="0"/>
          </a:p>
        </p:txBody>
      </p:sp>
      <p:sp>
        <p:nvSpPr>
          <p:cNvPr id="4" name="Shape 2"/>
          <p:cNvSpPr/>
          <p:nvPr/>
        </p:nvSpPr>
        <p:spPr>
          <a:xfrm>
            <a:off x="640080" y="2240280"/>
            <a:ext cx="6035040" cy="1481328"/>
          </a:xfrm>
          <a:prstGeom prst="roundRect">
            <a:avLst>
              <a:gd name="adj" fmla="val 5556"/>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5" name="Shape 3"/>
          <p:cNvSpPr/>
          <p:nvPr/>
        </p:nvSpPr>
        <p:spPr>
          <a:xfrm>
            <a:off x="1024128" y="2642616"/>
            <a:ext cx="566928" cy="566928"/>
          </a:xfrm>
          <a:prstGeom prst="ellipse">
            <a:avLst/>
          </a:prstGeom>
          <a:solidFill>
            <a:srgbClr val="FCCB00"/>
          </a:solidFill>
          <a:ln w="12700">
            <a:solidFill>
              <a:srgbClr val="FCCB00"/>
            </a:solidFill>
            <a:prstDash val="solid"/>
          </a:ln>
        </p:spPr>
      </p:sp>
      <p:sp>
        <p:nvSpPr>
          <p:cNvPr id="6" name="Text 4"/>
          <p:cNvSpPr txBox="1"/>
          <p:nvPr/>
        </p:nvSpPr>
        <p:spPr>
          <a:xfrm>
            <a:off x="1024128" y="2642616"/>
            <a:ext cx="566928" cy="566928"/>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1</a:t>
            </a:r>
            <a:endParaRPr lang="en-US" sz="1700" dirty="0"/>
          </a:p>
        </p:txBody>
      </p:sp>
      <p:sp>
        <p:nvSpPr>
          <p:cNvPr id="7" name="Text 5"/>
          <p:cNvSpPr txBox="1"/>
          <p:nvPr/>
        </p:nvSpPr>
        <p:spPr>
          <a:xfrm>
            <a:off x="1810512" y="2569464"/>
            <a:ext cx="4572000" cy="402336"/>
          </a:xfrm>
          <a:prstGeom prst="rect">
            <a:avLst/>
          </a:prstGeom>
          <a:noFill/>
          <a:ln/>
        </p:spPr>
        <p:txBody>
          <a:bodyPr wrap="square" lIns="0" tIns="0" rIns="0" bIns="0" rtlCol="0" anchor="ctr"/>
          <a:lstStyle/>
          <a:p>
            <a:pPr indent="0" marL="0">
              <a:buNone/>
            </a:pPr>
            <a:r>
              <a:rPr lang="en-US" sz="2200" b="1" dirty="0">
                <a:solidFill>
                  <a:srgbClr val="37306F"/>
                </a:solidFill>
                <a:latin typeface="Cambria" pitchFamily="34" charset="0"/>
                <a:ea typeface="Cambria" pitchFamily="34" charset="-122"/>
                <a:cs typeface="Cambria" pitchFamily="34" charset="-120"/>
              </a:rPr>
              <a:t>Introduction</a:t>
            </a:r>
            <a:endParaRPr lang="en-US" sz="2200" dirty="0"/>
          </a:p>
        </p:txBody>
      </p:sp>
      <p:sp>
        <p:nvSpPr>
          <p:cNvPr id="8" name="Text 6"/>
          <p:cNvSpPr txBox="1"/>
          <p:nvPr/>
        </p:nvSpPr>
        <p:spPr>
          <a:xfrm>
            <a:off x="1810512" y="3026664"/>
            <a:ext cx="4572000" cy="365760"/>
          </a:xfrm>
          <a:prstGeom prst="rect">
            <a:avLst/>
          </a:prstGeom>
          <a:noFill/>
          <a:ln/>
        </p:spPr>
        <p:txBody>
          <a:bodyPr wrap="square" lIns="0" tIns="0" rIns="0" bIns="0" rtlCol="0" anchor="ctr"/>
          <a:lstStyle/>
          <a:p>
            <a:pPr indent="0" marL="0">
              <a:buNone/>
            </a:pPr>
            <a:r>
              <a:rPr lang="en-US" sz="1500" dirty="0">
                <a:solidFill>
                  <a:srgbClr val="6E6B87"/>
                </a:solidFill>
                <a:latin typeface="Calibri" pitchFamily="34" charset="0"/>
                <a:ea typeface="Calibri" pitchFamily="34" charset="-122"/>
                <a:cs typeface="Calibri" pitchFamily="34" charset="-120"/>
              </a:rPr>
              <a:t>Why display settings are a health question</a:t>
            </a:r>
            <a:endParaRPr lang="en-US" sz="1500" dirty="0"/>
          </a:p>
        </p:txBody>
      </p:sp>
      <p:sp>
        <p:nvSpPr>
          <p:cNvPr id="9" name="Shape 7"/>
          <p:cNvSpPr/>
          <p:nvPr/>
        </p:nvSpPr>
        <p:spPr>
          <a:xfrm>
            <a:off x="7040880" y="2240280"/>
            <a:ext cx="6035040" cy="1481328"/>
          </a:xfrm>
          <a:prstGeom prst="roundRect">
            <a:avLst>
              <a:gd name="adj" fmla="val 5556"/>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0" name="Shape 8"/>
          <p:cNvSpPr/>
          <p:nvPr/>
        </p:nvSpPr>
        <p:spPr>
          <a:xfrm>
            <a:off x="7424928" y="2642616"/>
            <a:ext cx="566928" cy="566928"/>
          </a:xfrm>
          <a:prstGeom prst="ellipse">
            <a:avLst/>
          </a:prstGeom>
          <a:solidFill>
            <a:srgbClr val="FCCB00"/>
          </a:solidFill>
          <a:ln w="12700">
            <a:solidFill>
              <a:srgbClr val="FCCB00"/>
            </a:solidFill>
            <a:prstDash val="solid"/>
          </a:ln>
        </p:spPr>
      </p:sp>
      <p:sp>
        <p:nvSpPr>
          <p:cNvPr id="11" name="Text 9"/>
          <p:cNvSpPr txBox="1"/>
          <p:nvPr/>
        </p:nvSpPr>
        <p:spPr>
          <a:xfrm>
            <a:off x="7424928" y="2642616"/>
            <a:ext cx="566928" cy="566928"/>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2</a:t>
            </a:r>
            <a:endParaRPr lang="en-US" sz="1700" dirty="0"/>
          </a:p>
        </p:txBody>
      </p:sp>
      <p:sp>
        <p:nvSpPr>
          <p:cNvPr id="12" name="Text 10"/>
          <p:cNvSpPr txBox="1"/>
          <p:nvPr/>
        </p:nvSpPr>
        <p:spPr>
          <a:xfrm>
            <a:off x="8211312" y="2569464"/>
            <a:ext cx="4572000" cy="402336"/>
          </a:xfrm>
          <a:prstGeom prst="rect">
            <a:avLst/>
          </a:prstGeom>
          <a:noFill/>
          <a:ln/>
        </p:spPr>
        <p:txBody>
          <a:bodyPr wrap="square" lIns="0" tIns="0" rIns="0" bIns="0" rtlCol="0" anchor="ctr"/>
          <a:lstStyle/>
          <a:p>
            <a:pPr indent="0" marL="0">
              <a:buNone/>
            </a:pPr>
            <a:r>
              <a:rPr lang="en-US" sz="2200" b="1" dirty="0">
                <a:solidFill>
                  <a:srgbClr val="37306F"/>
                </a:solidFill>
                <a:latin typeface="Cambria" pitchFamily="34" charset="0"/>
                <a:ea typeface="Cambria" pitchFamily="34" charset="-122"/>
                <a:cs typeface="Cambria" pitchFamily="34" charset="-120"/>
              </a:rPr>
              <a:t>Review of Literature</a:t>
            </a:r>
            <a:endParaRPr lang="en-US" sz="2200" dirty="0"/>
          </a:p>
        </p:txBody>
      </p:sp>
      <p:sp>
        <p:nvSpPr>
          <p:cNvPr id="13" name="Text 11"/>
          <p:cNvSpPr txBox="1"/>
          <p:nvPr/>
        </p:nvSpPr>
        <p:spPr>
          <a:xfrm>
            <a:off x="8211312" y="3026664"/>
            <a:ext cx="4572000" cy="365760"/>
          </a:xfrm>
          <a:prstGeom prst="rect">
            <a:avLst/>
          </a:prstGeom>
          <a:noFill/>
          <a:ln/>
        </p:spPr>
        <p:txBody>
          <a:bodyPr wrap="square" lIns="0" tIns="0" rIns="0" bIns="0" rtlCol="0" anchor="ctr"/>
          <a:lstStyle/>
          <a:p>
            <a:pPr indent="0" marL="0">
              <a:buNone/>
            </a:pPr>
            <a:r>
              <a:rPr lang="en-US" sz="1500" dirty="0">
                <a:solidFill>
                  <a:srgbClr val="6E6B87"/>
                </a:solidFill>
                <a:latin typeface="Calibri" pitchFamily="34" charset="0"/>
                <a:ea typeface="Calibri" pitchFamily="34" charset="-122"/>
                <a:cs typeface="Calibri" pitchFamily="34" charset="-120"/>
              </a:rPr>
              <a:t>What is established, and what is not</a:t>
            </a:r>
            <a:endParaRPr lang="en-US" sz="1500" dirty="0"/>
          </a:p>
        </p:txBody>
      </p:sp>
      <p:sp>
        <p:nvSpPr>
          <p:cNvPr id="14" name="Shape 12"/>
          <p:cNvSpPr/>
          <p:nvPr/>
        </p:nvSpPr>
        <p:spPr>
          <a:xfrm>
            <a:off x="640080" y="4087368"/>
            <a:ext cx="6035040" cy="1481328"/>
          </a:xfrm>
          <a:prstGeom prst="roundRect">
            <a:avLst>
              <a:gd name="adj" fmla="val 5556"/>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5" name="Shape 13"/>
          <p:cNvSpPr/>
          <p:nvPr/>
        </p:nvSpPr>
        <p:spPr>
          <a:xfrm>
            <a:off x="1024128" y="4489704"/>
            <a:ext cx="566928" cy="566928"/>
          </a:xfrm>
          <a:prstGeom prst="ellipse">
            <a:avLst/>
          </a:prstGeom>
          <a:solidFill>
            <a:srgbClr val="FCCB00"/>
          </a:solidFill>
          <a:ln w="12700">
            <a:solidFill>
              <a:srgbClr val="FCCB00"/>
            </a:solidFill>
            <a:prstDash val="solid"/>
          </a:ln>
        </p:spPr>
      </p:sp>
      <p:sp>
        <p:nvSpPr>
          <p:cNvPr id="16" name="Text 14"/>
          <p:cNvSpPr txBox="1"/>
          <p:nvPr/>
        </p:nvSpPr>
        <p:spPr>
          <a:xfrm>
            <a:off x="1024128" y="4489704"/>
            <a:ext cx="566928" cy="566928"/>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3</a:t>
            </a:r>
            <a:endParaRPr lang="en-US" sz="1700" dirty="0"/>
          </a:p>
        </p:txBody>
      </p:sp>
      <p:sp>
        <p:nvSpPr>
          <p:cNvPr id="17" name="Text 15"/>
          <p:cNvSpPr txBox="1"/>
          <p:nvPr/>
        </p:nvSpPr>
        <p:spPr>
          <a:xfrm>
            <a:off x="1810512" y="4416552"/>
            <a:ext cx="4572000" cy="402336"/>
          </a:xfrm>
          <a:prstGeom prst="rect">
            <a:avLst/>
          </a:prstGeom>
          <a:noFill/>
          <a:ln/>
        </p:spPr>
        <p:txBody>
          <a:bodyPr wrap="square" lIns="0" tIns="0" rIns="0" bIns="0" rtlCol="0" anchor="ctr"/>
          <a:lstStyle/>
          <a:p>
            <a:pPr indent="0" marL="0">
              <a:buNone/>
            </a:pPr>
            <a:r>
              <a:rPr lang="en-US" sz="2200" b="1" dirty="0">
                <a:solidFill>
                  <a:srgbClr val="37306F"/>
                </a:solidFill>
                <a:latin typeface="Cambria" pitchFamily="34" charset="0"/>
                <a:ea typeface="Cambria" pitchFamily="34" charset="-122"/>
                <a:cs typeface="Cambria" pitchFamily="34" charset="-120"/>
              </a:rPr>
              <a:t>Aim &amp; Objectives</a:t>
            </a:r>
            <a:endParaRPr lang="en-US" sz="2200" dirty="0"/>
          </a:p>
        </p:txBody>
      </p:sp>
      <p:sp>
        <p:nvSpPr>
          <p:cNvPr id="18" name="Text 16"/>
          <p:cNvSpPr txBox="1"/>
          <p:nvPr/>
        </p:nvSpPr>
        <p:spPr>
          <a:xfrm>
            <a:off x="1810512" y="4873752"/>
            <a:ext cx="4572000" cy="365760"/>
          </a:xfrm>
          <a:prstGeom prst="rect">
            <a:avLst/>
          </a:prstGeom>
          <a:noFill/>
          <a:ln/>
        </p:spPr>
        <p:txBody>
          <a:bodyPr wrap="square" lIns="0" tIns="0" rIns="0" bIns="0" rtlCol="0" anchor="ctr"/>
          <a:lstStyle/>
          <a:p>
            <a:pPr indent="0" marL="0">
              <a:buNone/>
            </a:pPr>
            <a:r>
              <a:rPr lang="en-US" sz="1500" dirty="0">
                <a:solidFill>
                  <a:srgbClr val="6E6B87"/>
                </a:solidFill>
                <a:latin typeface="Calibri" pitchFamily="34" charset="0"/>
                <a:ea typeface="Calibri" pitchFamily="34" charset="-122"/>
                <a:cs typeface="Calibri" pitchFamily="34" charset="-120"/>
              </a:rPr>
              <a:t>The four questions this study answers</a:t>
            </a:r>
            <a:endParaRPr lang="en-US" sz="1500" dirty="0"/>
          </a:p>
        </p:txBody>
      </p:sp>
      <p:sp>
        <p:nvSpPr>
          <p:cNvPr id="19" name="Shape 17"/>
          <p:cNvSpPr/>
          <p:nvPr/>
        </p:nvSpPr>
        <p:spPr>
          <a:xfrm>
            <a:off x="7040880" y="4087368"/>
            <a:ext cx="6035040" cy="1481328"/>
          </a:xfrm>
          <a:prstGeom prst="roundRect">
            <a:avLst>
              <a:gd name="adj" fmla="val 5556"/>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20" name="Shape 18"/>
          <p:cNvSpPr/>
          <p:nvPr/>
        </p:nvSpPr>
        <p:spPr>
          <a:xfrm>
            <a:off x="7424928" y="4489704"/>
            <a:ext cx="566928" cy="566928"/>
          </a:xfrm>
          <a:prstGeom prst="ellipse">
            <a:avLst/>
          </a:prstGeom>
          <a:solidFill>
            <a:srgbClr val="FCCB00"/>
          </a:solidFill>
          <a:ln w="12700">
            <a:solidFill>
              <a:srgbClr val="FCCB00"/>
            </a:solidFill>
            <a:prstDash val="solid"/>
          </a:ln>
        </p:spPr>
      </p:sp>
      <p:sp>
        <p:nvSpPr>
          <p:cNvPr id="21" name="Text 19"/>
          <p:cNvSpPr txBox="1"/>
          <p:nvPr/>
        </p:nvSpPr>
        <p:spPr>
          <a:xfrm>
            <a:off x="7424928" y="4489704"/>
            <a:ext cx="566928" cy="566928"/>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4</a:t>
            </a:r>
            <a:endParaRPr lang="en-US" sz="1700" dirty="0"/>
          </a:p>
        </p:txBody>
      </p:sp>
      <p:sp>
        <p:nvSpPr>
          <p:cNvPr id="22" name="Text 20"/>
          <p:cNvSpPr txBox="1"/>
          <p:nvPr/>
        </p:nvSpPr>
        <p:spPr>
          <a:xfrm>
            <a:off x="8211312" y="4416552"/>
            <a:ext cx="4572000" cy="402336"/>
          </a:xfrm>
          <a:prstGeom prst="rect">
            <a:avLst/>
          </a:prstGeom>
          <a:noFill/>
          <a:ln/>
        </p:spPr>
        <p:txBody>
          <a:bodyPr wrap="square" lIns="0" tIns="0" rIns="0" bIns="0" rtlCol="0" anchor="ctr"/>
          <a:lstStyle/>
          <a:p>
            <a:pPr indent="0" marL="0">
              <a:buNone/>
            </a:pPr>
            <a:r>
              <a:rPr lang="en-US" sz="2200" b="1" dirty="0">
                <a:solidFill>
                  <a:srgbClr val="37306F"/>
                </a:solidFill>
                <a:latin typeface="Cambria" pitchFamily="34" charset="0"/>
                <a:ea typeface="Cambria" pitchFamily="34" charset="-122"/>
                <a:cs typeface="Cambria" pitchFamily="34" charset="-120"/>
              </a:rPr>
              <a:t>Methods &amp; Methodology</a:t>
            </a:r>
            <a:endParaRPr lang="en-US" sz="2200" dirty="0"/>
          </a:p>
        </p:txBody>
      </p:sp>
      <p:sp>
        <p:nvSpPr>
          <p:cNvPr id="23" name="Text 21"/>
          <p:cNvSpPr txBox="1"/>
          <p:nvPr/>
        </p:nvSpPr>
        <p:spPr>
          <a:xfrm>
            <a:off x="8211312" y="4873752"/>
            <a:ext cx="4572000" cy="365760"/>
          </a:xfrm>
          <a:prstGeom prst="rect">
            <a:avLst/>
          </a:prstGeom>
          <a:noFill/>
          <a:ln/>
        </p:spPr>
        <p:txBody>
          <a:bodyPr wrap="square" lIns="0" tIns="0" rIns="0" bIns="0" rtlCol="0" anchor="ctr"/>
          <a:lstStyle/>
          <a:p>
            <a:pPr indent="0" marL="0">
              <a:buNone/>
            </a:pPr>
            <a:r>
              <a:rPr lang="en-US" sz="1500" dirty="0">
                <a:solidFill>
                  <a:srgbClr val="6E6B87"/>
                </a:solidFill>
                <a:latin typeface="Calibri" pitchFamily="34" charset="0"/>
                <a:ea typeface="Calibri" pitchFamily="34" charset="-122"/>
                <a:cs typeface="Calibri" pitchFamily="34" charset="-120"/>
              </a:rPr>
              <a:t>Design, participants, measures</a:t>
            </a:r>
            <a:endParaRPr lang="en-US" sz="1500" dirty="0"/>
          </a:p>
        </p:txBody>
      </p:sp>
      <p:sp>
        <p:nvSpPr>
          <p:cNvPr id="24" name="Shape 22"/>
          <p:cNvSpPr/>
          <p:nvPr/>
        </p:nvSpPr>
        <p:spPr>
          <a:xfrm>
            <a:off x="640080" y="5934456"/>
            <a:ext cx="6035040" cy="1481328"/>
          </a:xfrm>
          <a:prstGeom prst="roundRect">
            <a:avLst>
              <a:gd name="adj" fmla="val 5556"/>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25" name="Shape 23"/>
          <p:cNvSpPr/>
          <p:nvPr/>
        </p:nvSpPr>
        <p:spPr>
          <a:xfrm>
            <a:off x="1024128" y="6336792"/>
            <a:ext cx="566928" cy="566928"/>
          </a:xfrm>
          <a:prstGeom prst="ellipse">
            <a:avLst/>
          </a:prstGeom>
          <a:solidFill>
            <a:srgbClr val="FCCB00"/>
          </a:solidFill>
          <a:ln w="12700">
            <a:solidFill>
              <a:srgbClr val="FCCB00"/>
            </a:solidFill>
            <a:prstDash val="solid"/>
          </a:ln>
        </p:spPr>
      </p:sp>
      <p:sp>
        <p:nvSpPr>
          <p:cNvPr id="26" name="Text 24"/>
          <p:cNvSpPr txBox="1"/>
          <p:nvPr/>
        </p:nvSpPr>
        <p:spPr>
          <a:xfrm>
            <a:off x="1024128" y="6336792"/>
            <a:ext cx="566928" cy="566928"/>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5</a:t>
            </a:r>
            <a:endParaRPr lang="en-US" sz="1700" dirty="0"/>
          </a:p>
        </p:txBody>
      </p:sp>
      <p:sp>
        <p:nvSpPr>
          <p:cNvPr id="27" name="Text 25"/>
          <p:cNvSpPr txBox="1"/>
          <p:nvPr/>
        </p:nvSpPr>
        <p:spPr>
          <a:xfrm>
            <a:off x="1810512" y="6263640"/>
            <a:ext cx="4572000" cy="402336"/>
          </a:xfrm>
          <a:prstGeom prst="rect">
            <a:avLst/>
          </a:prstGeom>
          <a:noFill/>
          <a:ln/>
        </p:spPr>
        <p:txBody>
          <a:bodyPr wrap="square" lIns="0" tIns="0" rIns="0" bIns="0" rtlCol="0" anchor="ctr"/>
          <a:lstStyle/>
          <a:p>
            <a:pPr indent="0" marL="0">
              <a:buNone/>
            </a:pPr>
            <a:r>
              <a:rPr lang="en-US" sz="2200" b="1" dirty="0">
                <a:solidFill>
                  <a:srgbClr val="37306F"/>
                </a:solidFill>
                <a:latin typeface="Cambria" pitchFamily="34" charset="0"/>
                <a:ea typeface="Cambria" pitchFamily="34" charset="-122"/>
                <a:cs typeface="Cambria" pitchFamily="34" charset="-120"/>
              </a:rPr>
              <a:t>Expected Outcome</a:t>
            </a:r>
            <a:endParaRPr lang="en-US" sz="2200" dirty="0"/>
          </a:p>
        </p:txBody>
      </p:sp>
      <p:sp>
        <p:nvSpPr>
          <p:cNvPr id="28" name="Text 26"/>
          <p:cNvSpPr txBox="1"/>
          <p:nvPr/>
        </p:nvSpPr>
        <p:spPr>
          <a:xfrm>
            <a:off x="1810512" y="6720840"/>
            <a:ext cx="4572000" cy="365760"/>
          </a:xfrm>
          <a:prstGeom prst="rect">
            <a:avLst/>
          </a:prstGeom>
          <a:noFill/>
          <a:ln/>
        </p:spPr>
        <p:txBody>
          <a:bodyPr wrap="square" lIns="0" tIns="0" rIns="0" bIns="0" rtlCol="0" anchor="ctr"/>
          <a:lstStyle/>
          <a:p>
            <a:pPr indent="0" marL="0">
              <a:buNone/>
            </a:pPr>
            <a:r>
              <a:rPr lang="en-US" sz="1500" dirty="0">
                <a:solidFill>
                  <a:srgbClr val="6E6B87"/>
                </a:solidFill>
                <a:latin typeface="Calibri" pitchFamily="34" charset="0"/>
                <a:ea typeface="Calibri" pitchFamily="34" charset="-122"/>
                <a:cs typeface="Calibri" pitchFamily="34" charset="-120"/>
              </a:rPr>
              <a:t>What the results will let us say</a:t>
            </a:r>
            <a:endParaRPr lang="en-US" sz="1500" dirty="0"/>
          </a:p>
        </p:txBody>
      </p:sp>
      <p:sp>
        <p:nvSpPr>
          <p:cNvPr id="29" name="Shape 27"/>
          <p:cNvSpPr/>
          <p:nvPr/>
        </p:nvSpPr>
        <p:spPr>
          <a:xfrm>
            <a:off x="7040880" y="5934456"/>
            <a:ext cx="6035040" cy="1481328"/>
          </a:xfrm>
          <a:prstGeom prst="roundRect">
            <a:avLst>
              <a:gd name="adj" fmla="val 5556"/>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30" name="Shape 28"/>
          <p:cNvSpPr/>
          <p:nvPr/>
        </p:nvSpPr>
        <p:spPr>
          <a:xfrm>
            <a:off x="7424928" y="6336792"/>
            <a:ext cx="566928" cy="566928"/>
          </a:xfrm>
          <a:prstGeom prst="ellipse">
            <a:avLst/>
          </a:prstGeom>
          <a:solidFill>
            <a:srgbClr val="FCCB00"/>
          </a:solidFill>
          <a:ln w="12700">
            <a:solidFill>
              <a:srgbClr val="FCCB00"/>
            </a:solidFill>
            <a:prstDash val="solid"/>
          </a:ln>
        </p:spPr>
      </p:sp>
      <p:sp>
        <p:nvSpPr>
          <p:cNvPr id="31" name="Text 29"/>
          <p:cNvSpPr txBox="1"/>
          <p:nvPr/>
        </p:nvSpPr>
        <p:spPr>
          <a:xfrm>
            <a:off x="7424928" y="6336792"/>
            <a:ext cx="566928" cy="566928"/>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6</a:t>
            </a:r>
            <a:endParaRPr lang="en-US" sz="1700" dirty="0"/>
          </a:p>
        </p:txBody>
      </p:sp>
      <p:sp>
        <p:nvSpPr>
          <p:cNvPr id="32" name="Text 30"/>
          <p:cNvSpPr txBox="1"/>
          <p:nvPr/>
        </p:nvSpPr>
        <p:spPr>
          <a:xfrm>
            <a:off x="8211312" y="6263640"/>
            <a:ext cx="4572000" cy="402336"/>
          </a:xfrm>
          <a:prstGeom prst="rect">
            <a:avLst/>
          </a:prstGeom>
          <a:noFill/>
          <a:ln/>
        </p:spPr>
        <p:txBody>
          <a:bodyPr wrap="square" lIns="0" tIns="0" rIns="0" bIns="0" rtlCol="0" anchor="ctr"/>
          <a:lstStyle/>
          <a:p>
            <a:pPr indent="0" marL="0">
              <a:buNone/>
            </a:pPr>
            <a:r>
              <a:rPr lang="en-US" sz="2200" b="1" dirty="0">
                <a:solidFill>
                  <a:srgbClr val="37306F"/>
                </a:solidFill>
                <a:latin typeface="Cambria" pitchFamily="34" charset="0"/>
                <a:ea typeface="Cambria" pitchFamily="34" charset="-122"/>
                <a:cs typeface="Cambria" pitchFamily="34" charset="-120"/>
              </a:rPr>
              <a:t>References</a:t>
            </a:r>
            <a:endParaRPr lang="en-US" sz="2200" dirty="0"/>
          </a:p>
        </p:txBody>
      </p:sp>
      <p:sp>
        <p:nvSpPr>
          <p:cNvPr id="33" name="Text 31"/>
          <p:cNvSpPr txBox="1"/>
          <p:nvPr/>
        </p:nvSpPr>
        <p:spPr>
          <a:xfrm>
            <a:off x="8211312" y="6720840"/>
            <a:ext cx="4572000" cy="365760"/>
          </a:xfrm>
          <a:prstGeom prst="rect">
            <a:avLst/>
          </a:prstGeom>
          <a:noFill/>
          <a:ln/>
        </p:spPr>
        <p:txBody>
          <a:bodyPr wrap="square" lIns="0" tIns="0" rIns="0" bIns="0" rtlCol="0" anchor="ctr"/>
          <a:lstStyle/>
          <a:p>
            <a:pPr indent="0" marL="0">
              <a:buNone/>
            </a:pPr>
            <a:r>
              <a:rPr lang="en-US" sz="1500" dirty="0">
                <a:solidFill>
                  <a:srgbClr val="6E6B87"/>
                </a:solidFill>
                <a:latin typeface="Calibri" pitchFamily="34" charset="0"/>
                <a:ea typeface="Calibri" pitchFamily="34" charset="-122"/>
                <a:cs typeface="Calibri" pitchFamily="34" charset="-120"/>
              </a:rPr>
              <a:t>Key sources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01 · INTRODUCTION</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A very common complaint, with no treatment that works</a:t>
            </a:r>
            <a:endParaRPr lang="en-US" sz="3400" dirty="0"/>
          </a:p>
        </p:txBody>
      </p:sp>
      <p:sp>
        <p:nvSpPr>
          <p:cNvPr id="4" name="Shape 2"/>
          <p:cNvSpPr/>
          <p:nvPr/>
        </p:nvSpPr>
        <p:spPr>
          <a:xfrm>
            <a:off x="640080" y="2103120"/>
            <a:ext cx="7040880" cy="5760720"/>
          </a:xfrm>
          <a:prstGeom prst="roundRect">
            <a:avLst>
              <a:gd name="adj" fmla="val 1429"/>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5" name="Text 3"/>
          <p:cNvSpPr txBox="1"/>
          <p:nvPr/>
        </p:nvSpPr>
        <p:spPr>
          <a:xfrm>
            <a:off x="1051560" y="2487168"/>
            <a:ext cx="6217920" cy="5029200"/>
          </a:xfrm>
          <a:prstGeom prst="rect">
            <a:avLst/>
          </a:prstGeom>
          <a:noFill/>
          <a:ln/>
        </p:spPr>
        <p:txBody>
          <a:bodyPr wrap="square" lIns="0" tIns="0" rIns="0" bIns="0" rtlCol="0" anchor="t"/>
          <a:lstStyle/>
          <a:p>
            <a:pPr indent="0" marL="0">
              <a:lnSpc>
                <a:spcPts val="2600"/>
              </a:lnSpc>
              <a:buNone/>
            </a:pPr>
            <a:r>
              <a:rPr lang="en-US" sz="1700" b="1" dirty="0">
                <a:solidFill>
                  <a:srgbClr val="1E1B36"/>
                </a:solidFill>
                <a:latin typeface="Calibri" pitchFamily="34" charset="0"/>
                <a:ea typeface="Calibri" pitchFamily="34" charset="-122"/>
                <a:cs typeface="Calibri" pitchFamily="34" charset="-120"/>
              </a:rPr>
              <a:t>Reading has moved onto screens. </a:t>
            </a:r>
            <a:pPr indent="0" marL="0">
              <a:lnSpc>
                <a:spcPts val="2600"/>
              </a:lnSpc>
              <a:buNone/>
            </a:pPr>
            <a:r>
              <a:rPr lang="en-US" sz="1700" dirty="0">
                <a:solidFill>
                  <a:srgbClr val="1E1B36"/>
                </a:solidFill>
                <a:latin typeface="Calibri" pitchFamily="34" charset="0"/>
                <a:ea typeface="Calibri" pitchFamily="34" charset="-122"/>
                <a:cs typeface="Calibri" pitchFamily="34" charset="-120"/>
              </a:rPr>
              <a:t>A printed page reflects light and is fixed once printed. A screen emits its own light, and almost every property of what it shows can be changed in software — for free, by anyone.
</a:t>
            </a:r>
            <a:pPr indent="0" marL="0">
              <a:lnSpc>
                <a:spcPts val="2600"/>
              </a:lnSpc>
              <a:buNone/>
            </a:pPr>
            <a:r>
              <a:rPr lang="en-US" sz="1700" dirty="0">
                <a:solidFill>
                  <a:srgbClr val="1E1B36"/>
                </a:solidFill>
                <a:latin typeface="Calibri" pitchFamily="34" charset="0"/>
                <a:ea typeface="Calibri" pitchFamily="34" charset="-122"/>
                <a:cs typeface="Calibri" pitchFamily="34" charset="-120"/>
              </a:rPr>
              <a:t>Prolonged screen reading causes a recognised cluster of symptoms: </a:t>
            </a:r>
            <a:pPr indent="0" marL="0">
              <a:lnSpc>
                <a:spcPts val="2600"/>
              </a:lnSpc>
              <a:buNone/>
            </a:pPr>
            <a:r>
              <a:rPr lang="en-US" sz="1700" i="1" dirty="0">
                <a:solidFill>
                  <a:srgbClr val="1E1B36"/>
                </a:solidFill>
                <a:latin typeface="Calibri" pitchFamily="34" charset="0"/>
                <a:ea typeface="Calibri" pitchFamily="34" charset="-122"/>
                <a:cs typeface="Calibri" pitchFamily="34" charset="-120"/>
              </a:rPr>
              <a:t>dry or gritty eyes, blurred vision, slow refocusing, headache and neck ache. </a:t>
            </a:r>
            <a:pPr indent="0" marL="0">
              <a:lnSpc>
                <a:spcPts val="2600"/>
              </a:lnSpc>
              <a:buNone/>
            </a:pPr>
            <a:r>
              <a:rPr lang="en-US" sz="1700" dirty="0">
                <a:solidFill>
                  <a:srgbClr val="1E1B36"/>
                </a:solidFill>
                <a:latin typeface="Calibri" pitchFamily="34" charset="0"/>
                <a:ea typeface="Calibri" pitchFamily="34" charset="-122"/>
                <a:cs typeface="Calibri" pitchFamily="34" charset="-120"/>
              </a:rPr>
              <a:t>Together these are called digital eye strain, or computer vision syndrome.
</a:t>
            </a:r>
            <a:pPr indent="0" marL="0">
              <a:lnSpc>
                <a:spcPts val="2600"/>
              </a:lnSpc>
              <a:buNone/>
            </a:pPr>
            <a:r>
              <a:rPr lang="en-US" sz="1700" dirty="0">
                <a:solidFill>
                  <a:srgbClr val="1E1B36"/>
                </a:solidFill>
                <a:latin typeface="Calibri" pitchFamily="34" charset="0"/>
                <a:ea typeface="Calibri" pitchFamily="34" charset="-122"/>
                <a:cs typeface="Calibri" pitchFamily="34" charset="-120"/>
              </a:rPr>
              <a:t>The remedies that are promoted most — blue-blocking lenses above all — have no high-certainty trial evidence behind them.
</a:t>
            </a:r>
            <a:pPr indent="0" marL="0">
              <a:lnSpc>
                <a:spcPts val="2600"/>
              </a:lnSpc>
              <a:buNone/>
            </a:pPr>
            <a:r>
              <a:rPr lang="en-US" sz="1700" b="1" dirty="0">
                <a:solidFill>
                  <a:srgbClr val="37306F"/>
                </a:solidFill>
                <a:latin typeface="Calibri" pitchFamily="34" charset="0"/>
                <a:ea typeface="Calibri" pitchFamily="34" charset="-122"/>
                <a:cs typeface="Calibri" pitchFamily="34" charset="-120"/>
              </a:rPr>
              <a:t>Meanwhile the stimulus itself — how light or dark the screen is, and what colour the letters are — is upstream of the whole visual load, and is the least investigated thing in the field.</a:t>
            </a:r>
            <a:endParaRPr lang="en-US" sz="1700" dirty="0"/>
          </a:p>
        </p:txBody>
      </p:sp>
      <p:sp>
        <p:nvSpPr>
          <p:cNvPr id="6" name="Shape 4"/>
          <p:cNvSpPr/>
          <p:nvPr/>
        </p:nvSpPr>
        <p:spPr>
          <a:xfrm>
            <a:off x="8092440" y="2103120"/>
            <a:ext cx="4983480" cy="2697480"/>
          </a:xfrm>
          <a:prstGeom prst="roundRect">
            <a:avLst>
              <a:gd name="adj" fmla="val 3051"/>
            </a:avLst>
          </a:prstGeom>
          <a:solidFill>
            <a:srgbClr val="FFFFFF"/>
          </a:solidFill>
          <a:ln w="12700">
            <a:solidFill>
              <a:srgbClr val="FFFFFF"/>
            </a:solidFill>
            <a:prstDash val="solid"/>
          </a:ln>
          <a:effectLst>
            <a:outerShdw sx="100000" sy="100000" kx="0" ky="0" algn="bl" rotWithShape="0" blurRad="127000" dist="25400" dir="5400000">
              <a:srgbClr val="9C99B5">
                <a:alpha val="22000"/>
              </a:srgbClr>
            </a:outerShdw>
          </a:effectLst>
        </p:spPr>
      </p:sp>
      <p:sp>
        <p:nvSpPr>
          <p:cNvPr id="7" name="Shape 5"/>
          <p:cNvSpPr/>
          <p:nvPr/>
        </p:nvSpPr>
        <p:spPr>
          <a:xfrm>
            <a:off x="8092440" y="2103120"/>
            <a:ext cx="4983480" cy="2697480"/>
          </a:xfrm>
          <a:prstGeom prst="roundRect">
            <a:avLst>
              <a:gd name="adj" fmla="val 3051"/>
            </a:avLst>
          </a:prstGeom>
          <a:solidFill>
            <a:srgbClr val="FFFFFF"/>
          </a:solidFill>
          <a:ln w="15240">
            <a:solidFill>
              <a:srgbClr val="DCDAE8"/>
            </a:solidFill>
            <a:prstDash val="solid"/>
          </a:ln>
          <a:effectLst>
            <a:outerShdw sx="100000" sy="100000" kx="0" ky="0" algn="bl" rotWithShape="0" blurRad="127000" dist="25400" dir="5400000">
              <a:srgbClr val="9C99B5">
                <a:alpha val="22000"/>
              </a:srgbClr>
            </a:outerShdw>
          </a:effectLst>
        </p:spPr>
      </p:sp>
      <p:sp>
        <p:nvSpPr>
          <p:cNvPr id="8" name="Text 6"/>
          <p:cNvSpPr txBox="1"/>
          <p:nvPr/>
        </p:nvSpPr>
        <p:spPr>
          <a:xfrm>
            <a:off x="8458200" y="2359152"/>
            <a:ext cx="4297680" cy="1143000"/>
          </a:xfrm>
          <a:prstGeom prst="rect">
            <a:avLst/>
          </a:prstGeom>
          <a:noFill/>
          <a:ln/>
        </p:spPr>
        <p:txBody>
          <a:bodyPr wrap="square" lIns="0" tIns="0" rIns="0" bIns="0" rtlCol="0" anchor="ctr"/>
          <a:lstStyle/>
          <a:p>
            <a:pPr indent="0" marL="0">
              <a:buNone/>
            </a:pPr>
            <a:r>
              <a:rPr lang="en-US" sz="6600" b="1" dirty="0">
                <a:solidFill>
                  <a:srgbClr val="37306F"/>
                </a:solidFill>
                <a:latin typeface="Cambria" pitchFamily="34" charset="0"/>
                <a:ea typeface="Cambria" pitchFamily="34" charset="-122"/>
                <a:cs typeface="Cambria" pitchFamily="34" charset="-120"/>
              </a:rPr>
              <a:t>69%</a:t>
            </a:r>
            <a:endParaRPr lang="en-US" sz="6600" dirty="0"/>
          </a:p>
        </p:txBody>
      </p:sp>
      <p:sp>
        <p:nvSpPr>
          <p:cNvPr id="9" name="Text 7"/>
          <p:cNvSpPr txBox="1"/>
          <p:nvPr/>
        </p:nvSpPr>
        <p:spPr>
          <a:xfrm>
            <a:off x="8458200" y="3520440"/>
            <a:ext cx="4297680" cy="384048"/>
          </a:xfrm>
          <a:prstGeom prst="rect">
            <a:avLst/>
          </a:prstGeom>
          <a:noFill/>
          <a:ln/>
        </p:spPr>
        <p:txBody>
          <a:bodyPr wrap="square" lIns="0" tIns="0" rIns="0" bIns="0" rtlCol="0" anchor="ctr"/>
          <a:lstStyle/>
          <a:p>
            <a:pPr indent="0" marL="0">
              <a:buNone/>
            </a:pPr>
            <a:r>
              <a:rPr lang="en-US" sz="1900" b="1" dirty="0">
                <a:solidFill>
                  <a:srgbClr val="37306F"/>
                </a:solidFill>
                <a:latin typeface="Cambria" pitchFamily="34" charset="0"/>
                <a:ea typeface="Cambria" pitchFamily="34" charset="-122"/>
                <a:cs typeface="Cambria" pitchFamily="34" charset="-120"/>
              </a:rPr>
              <a:t>of screen users affected</a:t>
            </a:r>
            <a:endParaRPr lang="en-US" sz="1900" dirty="0"/>
          </a:p>
        </p:txBody>
      </p:sp>
      <p:sp>
        <p:nvSpPr>
          <p:cNvPr id="10" name="Text 8"/>
          <p:cNvSpPr txBox="1"/>
          <p:nvPr/>
        </p:nvSpPr>
        <p:spPr>
          <a:xfrm>
            <a:off x="8458200" y="3931920"/>
            <a:ext cx="4297680" cy="685800"/>
          </a:xfrm>
          <a:prstGeom prst="rect">
            <a:avLst/>
          </a:prstGeom>
          <a:noFill/>
          <a:ln/>
        </p:spPr>
        <p:txBody>
          <a:bodyPr wrap="square" lIns="0" tIns="0" rIns="0" bIns="0" rtlCol="0" anchor="ctr"/>
          <a:lstStyle/>
          <a:p>
            <a:pPr indent="0" marL="0">
              <a:lnSpc>
                <a:spcPts val="1900"/>
              </a:lnSpc>
              <a:buNone/>
            </a:pPr>
            <a:r>
              <a:rPr lang="en-US" sz="1400" dirty="0">
                <a:solidFill>
                  <a:srgbClr val="6E6B87"/>
                </a:solidFill>
                <a:latin typeface="Calibri" pitchFamily="34" charset="0"/>
                <a:ea typeface="Calibri" pitchFamily="34" charset="-122"/>
                <a:cs typeface="Calibri" pitchFamily="34" charset="-120"/>
              </a:rPr>
              <a:t>Pooled across 103 studies and 66,577 people; 76% among university students (Ccami-Bernal </a:t>
            </a:r>
            <a:pPr indent="0" marL="0">
              <a:lnSpc>
                <a:spcPts val="1900"/>
              </a:lnSpc>
              <a:buNone/>
            </a:pPr>
            <a:r>
              <a:rPr lang="en-US" sz="1400" i="1" dirty="0">
                <a:solidFill>
                  <a:srgbClr val="6E6B87"/>
                </a:solidFill>
                <a:latin typeface="Calibri" pitchFamily="34" charset="0"/>
                <a:ea typeface="Calibri" pitchFamily="34" charset="-122"/>
                <a:cs typeface="Calibri" pitchFamily="34" charset="-120"/>
              </a:rPr>
              <a:t>et al.</a:t>
            </a:r>
            <a:pPr indent="0" marL="0">
              <a:lnSpc>
                <a:spcPts val="1900"/>
              </a:lnSpc>
              <a:buNone/>
            </a:pPr>
            <a:r>
              <a:rPr lang="en-US" sz="1400" dirty="0">
                <a:solidFill>
                  <a:srgbClr val="6E6B87"/>
                </a:solidFill>
                <a:latin typeface="Calibri" pitchFamily="34" charset="0"/>
                <a:ea typeface="Calibri" pitchFamily="34" charset="-122"/>
                <a:cs typeface="Calibri" pitchFamily="34" charset="-120"/>
              </a:rPr>
              <a:t>, 2024)</a:t>
            </a:r>
            <a:endParaRPr lang="en-US" sz="1400" dirty="0"/>
          </a:p>
        </p:txBody>
      </p:sp>
      <p:sp>
        <p:nvSpPr>
          <p:cNvPr id="11" name="Shape 9"/>
          <p:cNvSpPr/>
          <p:nvPr/>
        </p:nvSpPr>
        <p:spPr>
          <a:xfrm>
            <a:off x="8092440" y="5166360"/>
            <a:ext cx="4983480" cy="2697480"/>
          </a:xfrm>
          <a:prstGeom prst="roundRect">
            <a:avLst>
              <a:gd name="adj" fmla="val 3051"/>
            </a:avLst>
          </a:prstGeom>
          <a:solidFill>
            <a:srgbClr val="FFFFFF"/>
          </a:solidFill>
          <a:ln w="12700">
            <a:solidFill>
              <a:srgbClr val="FFFFFF"/>
            </a:solidFill>
            <a:prstDash val="solid"/>
          </a:ln>
          <a:effectLst>
            <a:outerShdw sx="100000" sy="100000" kx="0" ky="0" algn="bl" rotWithShape="0" blurRad="127000" dist="25400" dir="5400000">
              <a:srgbClr val="9C99B5">
                <a:alpha val="22000"/>
              </a:srgbClr>
            </a:outerShdw>
          </a:effectLst>
        </p:spPr>
      </p:sp>
      <p:sp>
        <p:nvSpPr>
          <p:cNvPr id="12" name="Shape 10"/>
          <p:cNvSpPr/>
          <p:nvPr/>
        </p:nvSpPr>
        <p:spPr>
          <a:xfrm>
            <a:off x="8092440" y="5166360"/>
            <a:ext cx="4983480" cy="2697480"/>
          </a:xfrm>
          <a:prstGeom prst="roundRect">
            <a:avLst>
              <a:gd name="adj" fmla="val 3051"/>
            </a:avLst>
          </a:prstGeom>
          <a:solidFill>
            <a:srgbClr val="FFFFFF"/>
          </a:solidFill>
          <a:ln w="15240">
            <a:solidFill>
              <a:srgbClr val="DCDAE8"/>
            </a:solidFill>
            <a:prstDash val="solid"/>
          </a:ln>
          <a:effectLst>
            <a:outerShdw sx="100000" sy="100000" kx="0" ky="0" algn="bl" rotWithShape="0" blurRad="127000" dist="25400" dir="5400000">
              <a:srgbClr val="9C99B5">
                <a:alpha val="22000"/>
              </a:srgbClr>
            </a:outerShdw>
          </a:effectLst>
        </p:spPr>
      </p:sp>
      <p:sp>
        <p:nvSpPr>
          <p:cNvPr id="13" name="Text 11"/>
          <p:cNvSpPr txBox="1"/>
          <p:nvPr/>
        </p:nvSpPr>
        <p:spPr>
          <a:xfrm>
            <a:off x="8458200" y="5422392"/>
            <a:ext cx="4297680" cy="1143000"/>
          </a:xfrm>
          <a:prstGeom prst="rect">
            <a:avLst/>
          </a:prstGeom>
          <a:noFill/>
          <a:ln/>
        </p:spPr>
        <p:txBody>
          <a:bodyPr wrap="square" lIns="0" tIns="0" rIns="0" bIns="0" rtlCol="0" anchor="ctr"/>
          <a:lstStyle/>
          <a:p>
            <a:pPr indent="0" marL="0">
              <a:buNone/>
            </a:pPr>
            <a:r>
              <a:rPr lang="en-US" sz="6600" b="1" dirty="0">
                <a:solidFill>
                  <a:srgbClr val="8E2F24"/>
                </a:solidFill>
                <a:latin typeface="Cambria" pitchFamily="34" charset="0"/>
                <a:ea typeface="Cambria" pitchFamily="34" charset="-122"/>
                <a:cs typeface="Cambria" pitchFamily="34" charset="-120"/>
              </a:rPr>
              <a:t>0 of 45</a:t>
            </a:r>
            <a:endParaRPr lang="en-US" sz="6600" dirty="0"/>
          </a:p>
        </p:txBody>
      </p:sp>
      <p:sp>
        <p:nvSpPr>
          <p:cNvPr id="14" name="Text 12"/>
          <p:cNvSpPr txBox="1"/>
          <p:nvPr/>
        </p:nvSpPr>
        <p:spPr>
          <a:xfrm>
            <a:off x="8458200" y="6583680"/>
            <a:ext cx="4297680" cy="384048"/>
          </a:xfrm>
          <a:prstGeom prst="rect">
            <a:avLst/>
          </a:prstGeom>
          <a:noFill/>
          <a:ln/>
        </p:spPr>
        <p:txBody>
          <a:bodyPr wrap="square" lIns="0" tIns="0" rIns="0" bIns="0" rtlCol="0" anchor="ctr"/>
          <a:lstStyle/>
          <a:p>
            <a:pPr indent="0" marL="0">
              <a:buNone/>
            </a:pPr>
            <a:r>
              <a:rPr lang="en-US" sz="1900" b="1" dirty="0">
                <a:solidFill>
                  <a:srgbClr val="37306F"/>
                </a:solidFill>
                <a:latin typeface="Cambria" pitchFamily="34" charset="0"/>
                <a:ea typeface="Cambria" pitchFamily="34" charset="-122"/>
                <a:cs typeface="Cambria" pitchFamily="34" charset="-120"/>
              </a:rPr>
              <a:t>trials show clear benefit</a:t>
            </a:r>
            <a:endParaRPr lang="en-US" sz="1900" dirty="0"/>
          </a:p>
        </p:txBody>
      </p:sp>
      <p:sp>
        <p:nvSpPr>
          <p:cNvPr id="15" name="Text 13"/>
          <p:cNvSpPr txBox="1"/>
          <p:nvPr/>
        </p:nvSpPr>
        <p:spPr>
          <a:xfrm>
            <a:off x="8458200" y="6995160"/>
            <a:ext cx="4297680" cy="685800"/>
          </a:xfrm>
          <a:prstGeom prst="rect">
            <a:avLst/>
          </a:prstGeom>
          <a:noFill/>
          <a:ln/>
        </p:spPr>
        <p:txBody>
          <a:bodyPr wrap="square" lIns="0" tIns="0" rIns="0" bIns="0" rtlCol="0" anchor="ctr"/>
          <a:lstStyle/>
          <a:p>
            <a:pPr indent="0" marL="0">
              <a:lnSpc>
                <a:spcPts val="1900"/>
              </a:lnSpc>
              <a:buNone/>
            </a:pPr>
            <a:r>
              <a:rPr lang="en-US" sz="1400" dirty="0">
                <a:solidFill>
                  <a:srgbClr val="6E6B87"/>
                </a:solidFill>
                <a:latin typeface="Calibri" pitchFamily="34" charset="0"/>
                <a:ea typeface="Calibri" pitchFamily="34" charset="-122"/>
                <a:cs typeface="Calibri" pitchFamily="34" charset="-120"/>
              </a:rPr>
              <a:t>No therapy examined across 45 randomised trials and 4,497 people reached high-certainty evidence (Singh </a:t>
            </a:r>
            <a:pPr indent="0" marL="0">
              <a:lnSpc>
                <a:spcPts val="1900"/>
              </a:lnSpc>
              <a:buNone/>
            </a:pPr>
            <a:r>
              <a:rPr lang="en-US" sz="1400" i="1" dirty="0">
                <a:solidFill>
                  <a:srgbClr val="6E6B87"/>
                </a:solidFill>
                <a:latin typeface="Calibri" pitchFamily="34" charset="0"/>
                <a:ea typeface="Calibri" pitchFamily="34" charset="-122"/>
                <a:cs typeface="Calibri" pitchFamily="34" charset="-120"/>
              </a:rPr>
              <a:t>et al.</a:t>
            </a:r>
            <a:pPr indent="0" marL="0">
              <a:lnSpc>
                <a:spcPts val="1900"/>
              </a:lnSpc>
              <a:buNone/>
            </a:pPr>
            <a:r>
              <a:rPr lang="en-US" sz="1400" dirty="0">
                <a:solidFill>
                  <a:srgbClr val="6E6B87"/>
                </a:solidFill>
                <a:latin typeface="Calibri" pitchFamily="34" charset="0"/>
                <a:ea typeface="Calibri" pitchFamily="34" charset="-122"/>
                <a:cs typeface="Calibri" pitchFamily="34" charset="-120"/>
              </a:rPr>
              <a:t>, 2022)</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01 · INTRODUCTION</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How a screen tires the eyes — two separate routes</a:t>
            </a:r>
            <a:endParaRPr lang="en-US" sz="3400" dirty="0"/>
          </a:p>
        </p:txBody>
      </p:sp>
      <p:sp>
        <p:nvSpPr>
          <p:cNvPr id="4" name="Shape 2"/>
          <p:cNvSpPr/>
          <p:nvPr/>
        </p:nvSpPr>
        <p:spPr>
          <a:xfrm>
            <a:off x="640080" y="2103120"/>
            <a:ext cx="3246120" cy="1691640"/>
          </a:xfrm>
          <a:prstGeom prst="roundRect">
            <a:avLst>
              <a:gd name="adj" fmla="val 4865"/>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5" name="Text 3"/>
          <p:cNvSpPr txBox="1"/>
          <p:nvPr/>
        </p:nvSpPr>
        <p:spPr>
          <a:xfrm>
            <a:off x="914400" y="2304288"/>
            <a:ext cx="2743200" cy="329184"/>
          </a:xfrm>
          <a:prstGeom prst="rect">
            <a:avLst/>
          </a:prstGeom>
          <a:noFill/>
          <a:ln/>
        </p:spPr>
        <p:txBody>
          <a:bodyPr wrap="square" lIns="0" tIns="0" rIns="0" bIns="0" rtlCol="0" anchor="ctr"/>
          <a:lstStyle/>
          <a:p>
            <a:pPr indent="0" marL="0">
              <a:buNone/>
            </a:pPr>
            <a:r>
              <a:rPr lang="en-US" sz="1650" b="1" dirty="0">
                <a:solidFill>
                  <a:srgbClr val="37306F"/>
                </a:solidFill>
                <a:latin typeface="Cambria" pitchFamily="34" charset="0"/>
                <a:ea typeface="Cambria" pitchFamily="34" charset="-122"/>
                <a:cs typeface="Cambria" pitchFamily="34" charset="-120"/>
              </a:rPr>
              <a:t>Optical route</a:t>
            </a:r>
            <a:endParaRPr lang="en-US" sz="1650" dirty="0"/>
          </a:p>
        </p:txBody>
      </p:sp>
      <p:sp>
        <p:nvSpPr>
          <p:cNvPr id="6" name="Text 4"/>
          <p:cNvSpPr txBox="1"/>
          <p:nvPr/>
        </p:nvSpPr>
        <p:spPr>
          <a:xfrm>
            <a:off x="914400" y="2670048"/>
            <a:ext cx="2743200" cy="1005840"/>
          </a:xfrm>
          <a:prstGeom prst="rect">
            <a:avLst/>
          </a:prstGeom>
          <a:noFill/>
          <a:ln/>
        </p:spPr>
        <p:txBody>
          <a:bodyPr wrap="square" lIns="0" tIns="0" rIns="0" bIns="0" rtlCol="0" anchor="ctr"/>
          <a:lstStyle/>
          <a:p>
            <a:pPr indent="0" marL="0">
              <a:lnSpc>
                <a:spcPts val="1800"/>
              </a:lnSpc>
              <a:buNone/>
            </a:pPr>
            <a:r>
              <a:rPr lang="en-US" sz="1350" dirty="0">
                <a:solidFill>
                  <a:srgbClr val="6E6B87"/>
                </a:solidFill>
                <a:latin typeface="Calibri" pitchFamily="34" charset="0"/>
                <a:ea typeface="Calibri" pitchFamily="34" charset="-122"/>
                <a:cs typeface="Calibri" pitchFamily="34" charset="-120"/>
              </a:rPr>
              <a:t>Screen brightness sets pupil size, which sets how sharp the retinal image is. This drives reading speed and comfort.</a:t>
            </a:r>
            <a:endParaRPr lang="en-US" sz="1350" dirty="0"/>
          </a:p>
        </p:txBody>
      </p:sp>
      <p:sp>
        <p:nvSpPr>
          <p:cNvPr id="7" name="Shape 5"/>
          <p:cNvSpPr/>
          <p:nvPr/>
        </p:nvSpPr>
        <p:spPr>
          <a:xfrm>
            <a:off x="640080" y="4069080"/>
            <a:ext cx="3246120" cy="1691640"/>
          </a:xfrm>
          <a:prstGeom prst="roundRect">
            <a:avLst>
              <a:gd name="adj" fmla="val 4865"/>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8" name="Text 6"/>
          <p:cNvSpPr txBox="1"/>
          <p:nvPr/>
        </p:nvSpPr>
        <p:spPr>
          <a:xfrm>
            <a:off x="914400" y="4270248"/>
            <a:ext cx="2743200" cy="329184"/>
          </a:xfrm>
          <a:prstGeom prst="rect">
            <a:avLst/>
          </a:prstGeom>
          <a:noFill/>
          <a:ln/>
        </p:spPr>
        <p:txBody>
          <a:bodyPr wrap="square" lIns="0" tIns="0" rIns="0" bIns="0" rtlCol="0" anchor="ctr"/>
          <a:lstStyle/>
          <a:p>
            <a:pPr indent="0" marL="0">
              <a:buNone/>
            </a:pPr>
            <a:r>
              <a:rPr lang="en-US" sz="1650" b="1" dirty="0">
                <a:solidFill>
                  <a:srgbClr val="37306F"/>
                </a:solidFill>
                <a:latin typeface="Cambria" pitchFamily="34" charset="0"/>
                <a:ea typeface="Cambria" pitchFamily="34" charset="-122"/>
                <a:cs typeface="Cambria" pitchFamily="34" charset="-120"/>
              </a:rPr>
              <a:t>Ocular-surface route</a:t>
            </a:r>
            <a:endParaRPr lang="en-US" sz="1650" dirty="0"/>
          </a:p>
        </p:txBody>
      </p:sp>
      <p:sp>
        <p:nvSpPr>
          <p:cNvPr id="9" name="Text 7"/>
          <p:cNvSpPr txBox="1"/>
          <p:nvPr/>
        </p:nvSpPr>
        <p:spPr>
          <a:xfrm>
            <a:off x="914400" y="4636008"/>
            <a:ext cx="2743200" cy="1005840"/>
          </a:xfrm>
          <a:prstGeom prst="rect">
            <a:avLst/>
          </a:prstGeom>
          <a:noFill/>
          <a:ln/>
        </p:spPr>
        <p:txBody>
          <a:bodyPr wrap="square" lIns="0" tIns="0" rIns="0" bIns="0" rtlCol="0" anchor="ctr"/>
          <a:lstStyle/>
          <a:p>
            <a:pPr indent="0" marL="0">
              <a:lnSpc>
                <a:spcPts val="1800"/>
              </a:lnSpc>
              <a:buNone/>
            </a:pPr>
            <a:r>
              <a:rPr lang="en-US" sz="1350" dirty="0">
                <a:solidFill>
                  <a:srgbClr val="6E6B87"/>
                </a:solidFill>
                <a:latin typeface="Calibri" pitchFamily="34" charset="0"/>
                <a:ea typeface="Calibri" pitchFamily="34" charset="-122"/>
                <a:cs typeface="Calibri" pitchFamily="34" charset="-120"/>
              </a:rPr>
              <a:t>A blink must close fully to re-spread the tear film. Screen work makes blinks less frequent and less complete.</a:t>
            </a:r>
            <a:endParaRPr lang="en-US" sz="1350" dirty="0"/>
          </a:p>
        </p:txBody>
      </p:sp>
      <p:sp>
        <p:nvSpPr>
          <p:cNvPr id="10" name="Shape 8"/>
          <p:cNvSpPr/>
          <p:nvPr/>
        </p:nvSpPr>
        <p:spPr>
          <a:xfrm>
            <a:off x="640080" y="6035040"/>
            <a:ext cx="3246120" cy="1691640"/>
          </a:xfrm>
          <a:prstGeom prst="roundRect">
            <a:avLst>
              <a:gd name="adj" fmla="val 4865"/>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1" name="Text 9"/>
          <p:cNvSpPr txBox="1"/>
          <p:nvPr/>
        </p:nvSpPr>
        <p:spPr>
          <a:xfrm>
            <a:off x="914400" y="6236208"/>
            <a:ext cx="2743200" cy="329184"/>
          </a:xfrm>
          <a:prstGeom prst="rect">
            <a:avLst/>
          </a:prstGeom>
          <a:noFill/>
          <a:ln/>
        </p:spPr>
        <p:txBody>
          <a:bodyPr wrap="square" lIns="0" tIns="0" rIns="0" bIns="0" rtlCol="0" anchor="ctr"/>
          <a:lstStyle/>
          <a:p>
            <a:pPr indent="0" marL="0">
              <a:buNone/>
            </a:pPr>
            <a:r>
              <a:rPr lang="en-US" sz="1650" b="1" dirty="0">
                <a:solidFill>
                  <a:srgbClr val="8E2F24"/>
                </a:solidFill>
                <a:latin typeface="Cambria" pitchFamily="34" charset="0"/>
                <a:ea typeface="Cambria" pitchFamily="34" charset="-122"/>
                <a:cs typeface="Cambria" pitchFamily="34" charset="-120"/>
              </a:rPr>
              <a:t>Measured here</a:t>
            </a:r>
            <a:endParaRPr lang="en-US" sz="1650" dirty="0"/>
          </a:p>
        </p:txBody>
      </p:sp>
      <p:sp>
        <p:nvSpPr>
          <p:cNvPr id="12" name="Text 10"/>
          <p:cNvSpPr txBox="1"/>
          <p:nvPr/>
        </p:nvSpPr>
        <p:spPr>
          <a:xfrm>
            <a:off x="914400" y="6601968"/>
            <a:ext cx="2743200" cy="1005840"/>
          </a:xfrm>
          <a:prstGeom prst="rect">
            <a:avLst/>
          </a:prstGeom>
          <a:noFill/>
          <a:ln/>
        </p:spPr>
        <p:txBody>
          <a:bodyPr wrap="square" lIns="0" tIns="0" rIns="0" bIns="0" rtlCol="0" anchor="ctr"/>
          <a:lstStyle/>
          <a:p>
            <a:pPr indent="0" marL="0">
              <a:lnSpc>
                <a:spcPts val="1800"/>
              </a:lnSpc>
              <a:buNone/>
            </a:pPr>
            <a:r>
              <a:rPr lang="en-US" sz="1350" dirty="0">
                <a:solidFill>
                  <a:srgbClr val="6E6B87"/>
                </a:solidFill>
                <a:latin typeface="Calibri" pitchFamily="34" charset="0"/>
                <a:ea typeface="Calibri" pitchFamily="34" charset="-122"/>
                <a:cs typeface="Calibri" pitchFamily="34" charset="-120"/>
              </a:rPr>
              <a:t>The second route, directly — the proportion of blinks that fail to close. That proportion is the study’s primary outcome.</a:t>
            </a:r>
            <a:endParaRPr lang="en-US" sz="1350" dirty="0"/>
          </a:p>
        </p:txBody>
      </p:sp>
      <p:pic>
        <p:nvPicPr>
          <p:cNvPr id="13" name="Image 0" descr="/home/user/PhD-PWA/synopsis/figures/fig_pathways.png">    </p:cNvPr>
          <p:cNvPicPr>
            <a:picLocks noChangeAspect="1"/>
          </p:cNvPicPr>
          <p:nvPr/>
        </p:nvPicPr>
        <p:blipFill>
          <a:blip r:embed="rId1"/>
          <a:stretch>
            <a:fillRect/>
          </a:stretch>
        </p:blipFill>
        <p:spPr>
          <a:xfrm>
            <a:off x="4343400" y="2057400"/>
            <a:ext cx="7863840" cy="55229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02 · REVIEW OF LITERATURE</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Polarity: the best-replicated finding in the field</a:t>
            </a:r>
            <a:endParaRPr lang="en-US" sz="3400" dirty="0"/>
          </a:p>
        </p:txBody>
      </p:sp>
      <p:sp>
        <p:nvSpPr>
          <p:cNvPr id="4" name="Text 2"/>
          <p:cNvSpPr txBox="1"/>
          <p:nvPr/>
        </p:nvSpPr>
        <p:spPr>
          <a:xfrm>
            <a:off x="640080" y="1389888"/>
            <a:ext cx="12435840" cy="384048"/>
          </a:xfrm>
          <a:prstGeom prst="rect">
            <a:avLst/>
          </a:prstGeom>
          <a:noFill/>
          <a:ln/>
        </p:spPr>
        <p:txBody>
          <a:bodyPr wrap="square" lIns="0" tIns="0" rIns="0" bIns="0" rtlCol="0" anchor="t"/>
          <a:lstStyle/>
          <a:p>
            <a:pPr indent="0" marL="0">
              <a:buNone/>
            </a:pPr>
            <a:r>
              <a:rPr lang="en-US" sz="1700" dirty="0">
                <a:solidFill>
                  <a:srgbClr val="6E6B87"/>
                </a:solidFill>
                <a:latin typeface="Calibri" pitchFamily="34" charset="0"/>
                <a:ea typeface="Calibri" pitchFamily="34" charset="-122"/>
                <a:cs typeface="Calibri" pitchFamily="34" charset="-120"/>
              </a:rPr>
              <a:t>Dark text on a light screen reads better than light text on a dark one — the “positive polarity advantage”. The accepted explanation is about light, not taste.</a:t>
            </a:r>
            <a:endParaRPr lang="en-US" sz="1700" dirty="0"/>
          </a:p>
        </p:txBody>
      </p:sp>
      <p:pic>
        <p:nvPicPr>
          <p:cNvPr id="5" name="Image 0" descr="/home/user/PhD-PWA/synopsis/figures/fig_pupil.png">    </p:cNvPr>
          <p:cNvPicPr>
            <a:picLocks noChangeAspect="1"/>
          </p:cNvPicPr>
          <p:nvPr/>
        </p:nvPicPr>
        <p:blipFill>
          <a:blip r:embed="rId1"/>
          <a:stretch>
            <a:fillRect/>
          </a:stretch>
        </p:blipFill>
        <p:spPr>
          <a:xfrm>
            <a:off x="640080" y="2148840"/>
            <a:ext cx="12435840" cy="4773168"/>
          </a:xfrm>
          <a:prstGeom prst="rect">
            <a:avLst/>
          </a:prstGeom>
        </p:spPr>
      </p:pic>
      <p:sp>
        <p:nvSpPr>
          <p:cNvPr id="6" name="Shape 3"/>
          <p:cNvSpPr/>
          <p:nvPr/>
        </p:nvSpPr>
        <p:spPr>
          <a:xfrm>
            <a:off x="640080" y="7178040"/>
            <a:ext cx="12435840" cy="914400"/>
          </a:xfrm>
          <a:prstGeom prst="roundRect">
            <a:avLst>
              <a:gd name="adj" fmla="val 9000"/>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7" name="Text 4"/>
          <p:cNvSpPr txBox="1"/>
          <p:nvPr/>
        </p:nvSpPr>
        <p:spPr>
          <a:xfrm>
            <a:off x="1005840" y="7360920"/>
            <a:ext cx="11704320" cy="548640"/>
          </a:xfrm>
          <a:prstGeom prst="rect">
            <a:avLst/>
          </a:prstGeom>
          <a:noFill/>
          <a:ln/>
        </p:spPr>
        <p:txBody>
          <a:bodyPr wrap="square" lIns="0" tIns="0" rIns="0" bIns="0" rtlCol="0" anchor="ctr"/>
          <a:lstStyle/>
          <a:p>
            <a:pPr indent="0" marL="0">
              <a:buNone/>
            </a:pPr>
            <a:r>
              <a:rPr lang="en-US" sz="1600" b="1" dirty="0">
                <a:solidFill>
                  <a:srgbClr val="37306F"/>
                </a:solidFill>
                <a:latin typeface="Calibri" pitchFamily="34" charset="0"/>
                <a:ea typeface="Calibri" pitchFamily="34" charset="-122"/>
                <a:cs typeface="Calibri" pitchFamily="34" charset="-120"/>
              </a:rPr>
              <a:t>Why it matters here:  </a:t>
            </a:r>
            <a:pPr indent="0" marL="0">
              <a:buNone/>
            </a:pPr>
            <a:r>
              <a:rPr lang="en-US" sz="1600" dirty="0">
                <a:solidFill>
                  <a:srgbClr val="1E1B36"/>
                </a:solidFill>
                <a:latin typeface="Calibri" pitchFamily="34" charset="0"/>
                <a:ea typeface="Calibri" pitchFamily="34" charset="-122"/>
                <a:cs typeface="Calibri" pitchFamily="34" charset="-120"/>
              </a:rPr>
              <a:t>nothing in that chain mentions colour. Ambient light drives pupil size the same way, so it must be held constant — otherwise a room-light effect would masquerade as a polarity effect.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02 · REVIEW OF LITERATURE</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What has not been done</a:t>
            </a:r>
            <a:endParaRPr lang="en-US" sz="3400" dirty="0"/>
          </a:p>
        </p:txBody>
      </p:sp>
      <p:sp>
        <p:nvSpPr>
          <p:cNvPr id="4" name="Shape 2"/>
          <p:cNvSpPr/>
          <p:nvPr/>
        </p:nvSpPr>
        <p:spPr>
          <a:xfrm>
            <a:off x="640080" y="2148840"/>
            <a:ext cx="5943600" cy="1298448"/>
          </a:xfrm>
          <a:prstGeom prst="roundRect">
            <a:avLst>
              <a:gd name="adj" fmla="val 6338"/>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5" name="Shape 3"/>
          <p:cNvSpPr/>
          <p:nvPr/>
        </p:nvSpPr>
        <p:spPr>
          <a:xfrm>
            <a:off x="914400" y="2404872"/>
            <a:ext cx="457200" cy="457200"/>
          </a:xfrm>
          <a:prstGeom prst="ellipse">
            <a:avLst/>
          </a:prstGeom>
          <a:solidFill>
            <a:srgbClr val="FCCB00"/>
          </a:solidFill>
          <a:ln w="12700">
            <a:solidFill>
              <a:srgbClr val="FCCB00"/>
            </a:solidFill>
            <a:prstDash val="solid"/>
          </a:ln>
        </p:spPr>
      </p:sp>
      <p:sp>
        <p:nvSpPr>
          <p:cNvPr id="6" name="Text 4"/>
          <p:cNvSpPr txBox="1"/>
          <p:nvPr/>
        </p:nvSpPr>
        <p:spPr>
          <a:xfrm>
            <a:off x="914400" y="2404872"/>
            <a:ext cx="457200" cy="457200"/>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1</a:t>
            </a:r>
            <a:endParaRPr lang="en-US" sz="1700" dirty="0"/>
          </a:p>
        </p:txBody>
      </p:sp>
      <p:sp>
        <p:nvSpPr>
          <p:cNvPr id="7" name="Text 5"/>
          <p:cNvSpPr txBox="1"/>
          <p:nvPr/>
        </p:nvSpPr>
        <p:spPr>
          <a:xfrm>
            <a:off x="1554480" y="2350008"/>
            <a:ext cx="4846320" cy="96012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Polarity is established only for brief, black-and-white legibility tasks — not for prolonged reading, and never with tear-film outcomes.</a:t>
            </a:r>
            <a:endParaRPr lang="en-US" sz="1400" dirty="0"/>
          </a:p>
        </p:txBody>
      </p:sp>
      <p:sp>
        <p:nvSpPr>
          <p:cNvPr id="8" name="Shape 6"/>
          <p:cNvSpPr/>
          <p:nvPr/>
        </p:nvSpPr>
        <p:spPr>
          <a:xfrm>
            <a:off x="640080" y="3630168"/>
            <a:ext cx="5943600" cy="1298448"/>
          </a:xfrm>
          <a:prstGeom prst="roundRect">
            <a:avLst>
              <a:gd name="adj" fmla="val 6338"/>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9" name="Shape 7"/>
          <p:cNvSpPr/>
          <p:nvPr/>
        </p:nvSpPr>
        <p:spPr>
          <a:xfrm>
            <a:off x="914400" y="3886200"/>
            <a:ext cx="457200" cy="457200"/>
          </a:xfrm>
          <a:prstGeom prst="ellipse">
            <a:avLst/>
          </a:prstGeom>
          <a:solidFill>
            <a:srgbClr val="FCCB00"/>
          </a:solidFill>
          <a:ln w="12700">
            <a:solidFill>
              <a:srgbClr val="FCCB00"/>
            </a:solidFill>
            <a:prstDash val="solid"/>
          </a:ln>
        </p:spPr>
      </p:sp>
      <p:sp>
        <p:nvSpPr>
          <p:cNvPr id="10" name="Text 8"/>
          <p:cNvSpPr txBox="1"/>
          <p:nvPr/>
        </p:nvSpPr>
        <p:spPr>
          <a:xfrm>
            <a:off x="914400" y="3886200"/>
            <a:ext cx="457200" cy="457200"/>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2</a:t>
            </a:r>
            <a:endParaRPr lang="en-US" sz="1700" dirty="0"/>
          </a:p>
        </p:txBody>
      </p:sp>
      <p:sp>
        <p:nvSpPr>
          <p:cNvPr id="11" name="Text 9"/>
          <p:cNvSpPr txBox="1"/>
          <p:nvPr/>
        </p:nvSpPr>
        <p:spPr>
          <a:xfrm>
            <a:off x="1554480" y="3831336"/>
            <a:ext cx="4846320" cy="96012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No located study has crossed polarity with text colour, so their interaction has never been estimated.</a:t>
            </a:r>
            <a:endParaRPr lang="en-US" sz="1400" dirty="0"/>
          </a:p>
        </p:txBody>
      </p:sp>
      <p:sp>
        <p:nvSpPr>
          <p:cNvPr id="12" name="Shape 10"/>
          <p:cNvSpPr/>
          <p:nvPr/>
        </p:nvSpPr>
        <p:spPr>
          <a:xfrm>
            <a:off x="640080" y="5111496"/>
            <a:ext cx="5943600" cy="1298448"/>
          </a:xfrm>
          <a:prstGeom prst="roundRect">
            <a:avLst>
              <a:gd name="adj" fmla="val 6338"/>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3" name="Shape 11"/>
          <p:cNvSpPr/>
          <p:nvPr/>
        </p:nvSpPr>
        <p:spPr>
          <a:xfrm>
            <a:off x="914400" y="5367528"/>
            <a:ext cx="457200" cy="457200"/>
          </a:xfrm>
          <a:prstGeom prst="ellipse">
            <a:avLst/>
          </a:prstGeom>
          <a:solidFill>
            <a:srgbClr val="FCCB00"/>
          </a:solidFill>
          <a:ln w="12700">
            <a:solidFill>
              <a:srgbClr val="FCCB00"/>
            </a:solidFill>
            <a:prstDash val="solid"/>
          </a:ln>
        </p:spPr>
      </p:sp>
      <p:sp>
        <p:nvSpPr>
          <p:cNvPr id="14" name="Text 12"/>
          <p:cNvSpPr txBox="1"/>
          <p:nvPr/>
        </p:nvSpPr>
        <p:spPr>
          <a:xfrm>
            <a:off x="914400" y="5367528"/>
            <a:ext cx="457200" cy="457200"/>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3</a:t>
            </a:r>
            <a:endParaRPr lang="en-US" sz="1700" dirty="0"/>
          </a:p>
        </p:txBody>
      </p:sp>
      <p:sp>
        <p:nvSpPr>
          <p:cNvPr id="15" name="Text 13"/>
          <p:cNvSpPr txBox="1"/>
          <p:nvPr/>
        </p:nvSpPr>
        <p:spPr>
          <a:xfrm>
            <a:off x="1554480" y="5312664"/>
            <a:ext cx="4846320" cy="96012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Colour and luminance contrast have not been separated: an apparent colour effect may simply be a contrast effect.</a:t>
            </a:r>
            <a:endParaRPr lang="en-US" sz="1400" dirty="0"/>
          </a:p>
        </p:txBody>
      </p:sp>
      <p:sp>
        <p:nvSpPr>
          <p:cNvPr id="16" name="Shape 14"/>
          <p:cNvSpPr/>
          <p:nvPr/>
        </p:nvSpPr>
        <p:spPr>
          <a:xfrm>
            <a:off x="640080" y="6592824"/>
            <a:ext cx="5943600" cy="1298448"/>
          </a:xfrm>
          <a:prstGeom prst="roundRect">
            <a:avLst>
              <a:gd name="adj" fmla="val 6338"/>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7" name="Shape 15"/>
          <p:cNvSpPr/>
          <p:nvPr/>
        </p:nvSpPr>
        <p:spPr>
          <a:xfrm>
            <a:off x="914400" y="6848856"/>
            <a:ext cx="457200" cy="457200"/>
          </a:xfrm>
          <a:prstGeom prst="ellipse">
            <a:avLst/>
          </a:prstGeom>
          <a:solidFill>
            <a:srgbClr val="FCCB00"/>
          </a:solidFill>
          <a:ln w="12700">
            <a:solidFill>
              <a:srgbClr val="FCCB00"/>
            </a:solidFill>
            <a:prstDash val="solid"/>
          </a:ln>
        </p:spPr>
      </p:sp>
      <p:sp>
        <p:nvSpPr>
          <p:cNvPr id="18" name="Text 16"/>
          <p:cNvSpPr txBox="1"/>
          <p:nvPr/>
        </p:nvSpPr>
        <p:spPr>
          <a:xfrm>
            <a:off x="914400" y="6848856"/>
            <a:ext cx="457200" cy="457200"/>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4</a:t>
            </a:r>
            <a:endParaRPr lang="en-US" sz="1700" dirty="0"/>
          </a:p>
        </p:txBody>
      </p:sp>
      <p:sp>
        <p:nvSpPr>
          <p:cNvPr id="19" name="Text 17"/>
          <p:cNvSpPr txBox="1"/>
          <p:nvPr/>
        </p:nvSpPr>
        <p:spPr>
          <a:xfrm>
            <a:off x="1554480" y="6793992"/>
            <a:ext cx="4846320" cy="96012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Blink completeness has been counted by hand, frame by frame — which is why every such study has 11 to 50 participants.</a:t>
            </a:r>
            <a:endParaRPr lang="en-US" sz="1400" dirty="0"/>
          </a:p>
        </p:txBody>
      </p:sp>
      <p:sp>
        <p:nvSpPr>
          <p:cNvPr id="20" name="Text 18"/>
          <p:cNvSpPr txBox="1"/>
          <p:nvPr/>
        </p:nvSpPr>
        <p:spPr>
          <a:xfrm>
            <a:off x="7086600" y="2148840"/>
            <a:ext cx="5989320" cy="310896"/>
          </a:xfrm>
          <a:prstGeom prst="rect">
            <a:avLst/>
          </a:prstGeom>
          <a:noFill/>
          <a:ln/>
        </p:spPr>
        <p:txBody>
          <a:bodyPr wrap="square" lIns="0" tIns="0" rIns="0" bIns="0" rtlCol="0" anchor="ctr"/>
          <a:lstStyle/>
          <a:p>
            <a:pPr indent="0" marL="0">
              <a:buNone/>
            </a:pPr>
            <a:r>
              <a:rPr lang="en-US" sz="1650" b="1" dirty="0">
                <a:solidFill>
                  <a:srgbClr val="37306F"/>
                </a:solidFill>
                <a:latin typeface="Cambria" pitchFamily="34" charset="0"/>
                <a:ea typeface="Cambria" pitchFamily="34" charset="-122"/>
                <a:cs typeface="Cambria" pitchFamily="34" charset="-120"/>
              </a:rPr>
              <a:t>Every study this design borrows a measure from, and what it produced</a:t>
            </a:r>
            <a:endParaRPr lang="en-US" sz="16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086600" y="2542032"/>
          <a:ext cx="5989320" cy="914400"/>
        </p:xfrm>
        <a:graphic>
          <a:graphicData uri="http://schemas.openxmlformats.org/drawingml/2006/table">
            <a:tbl>
              <a:tblPr/>
              <a:tblGrid>
                <a:gridCol w="2057400"/>
                <a:gridCol w="640080"/>
                <a:gridCol w="1234440"/>
                <a:gridCol w="2057400"/>
              </a:tblGrid>
              <a:tr h="402336">
                <a:tc>
                  <a:txBody>
                    <a:bodyPr/>
                    <a:lstStyle/>
                    <a:p>
                      <a:pPr algn="l" indent="0" marL="0">
                        <a:buNone/>
                      </a:pPr>
                      <a:r>
                        <a:rPr lang="en-US" sz="1250" b="1" dirty="0">
                          <a:solidFill>
                            <a:srgbClr val="37306F"/>
                          </a:solidFill>
                          <a:latin typeface="Calibri" pitchFamily="34" charset="0"/>
                          <a:ea typeface="Calibri" pitchFamily="34" charset="-122"/>
                          <a:cs typeface="Calibri" pitchFamily="34" charset="-120"/>
                        </a:rPr>
                        <a:t>Study</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3F2F8"/>
                    </a:solidFill>
                  </a:tcPr>
                </a:tc>
                <a:tc>
                  <a:txBody>
                    <a:bodyPr/>
                    <a:lstStyle/>
                    <a:p>
                      <a:pPr algn="ctr" indent="0" marL="0">
                        <a:buNone/>
                      </a:pPr>
                      <a:r>
                        <a:rPr lang="en-US" sz="1250" b="1" dirty="0">
                          <a:solidFill>
                            <a:srgbClr val="37306F"/>
                          </a:solidFill>
                          <a:latin typeface="Calibri" pitchFamily="34" charset="0"/>
                          <a:ea typeface="Calibri" pitchFamily="34" charset="-122"/>
                          <a:cs typeface="Calibri" pitchFamily="34" charset="-120"/>
                        </a:rPr>
                        <a:t>N</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3F2F8"/>
                    </a:solidFill>
                  </a:tcPr>
                </a:tc>
                <a:tc>
                  <a:txBody>
                    <a:bodyPr/>
                    <a:lstStyle/>
                    <a:p>
                      <a:pPr algn="ctr" indent="0" marL="0">
                        <a:buNone/>
                      </a:pPr>
                      <a:r>
                        <a:rPr lang="en-US" sz="1250" b="1" dirty="0">
                          <a:solidFill>
                            <a:srgbClr val="37306F"/>
                          </a:solidFill>
                          <a:latin typeface="Calibri" pitchFamily="34" charset="0"/>
                          <a:ea typeface="Calibri" pitchFamily="34" charset="-122"/>
                          <a:cs typeface="Calibri" pitchFamily="34" charset="-120"/>
                        </a:rPr>
                        <a:t>Condition-runs</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3F2F8"/>
                    </a:solidFill>
                  </a:tcPr>
                </a:tc>
                <a:tc>
                  <a:txBody>
                    <a:bodyPr/>
                    <a:lstStyle/>
                    <a:p>
                      <a:pPr algn="l" indent="0" marL="0">
                        <a:buNone/>
                      </a:pPr>
                      <a:r>
                        <a:rPr lang="en-US" sz="1250" b="1" dirty="0">
                          <a:solidFill>
                            <a:srgbClr val="37306F"/>
                          </a:solidFill>
                          <a:latin typeface="Calibri" pitchFamily="34" charset="0"/>
                          <a:ea typeface="Calibri" pitchFamily="34" charset="-122"/>
                          <a:cs typeface="Calibri" pitchFamily="34" charset="-120"/>
                        </a:rPr>
                        <a:t>Display parameter varied</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3F2F8"/>
                    </a:solidFill>
                  </a:tcPr>
                </a:tc>
              </a:tr>
              <a:tr h="402336">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Hirota </a:t>
                      </a:r>
                      <a:pPr algn="l" indent="0" marL="0">
                        <a:buNone/>
                      </a:pPr>
                      <a:r>
                        <a:rPr lang="en-US" sz="1250" i="1" dirty="0">
                          <a:solidFill>
                            <a:srgbClr val="1E1B36"/>
                          </a:solidFill>
                          <a:latin typeface="Calibri" pitchFamily="34" charset="0"/>
                          <a:ea typeface="Calibri" pitchFamily="34" charset="-122"/>
                          <a:cs typeface="Calibri" pitchFamily="34" charset="-120"/>
                        </a:rPr>
                        <a:t>et al.</a:t>
                      </a:r>
                      <a:pPr algn="l" indent="0" marL="0">
                        <a:buNone/>
                      </a:pPr>
                      <a:r>
                        <a:rPr lang="en-US" sz="1250" dirty="0">
                          <a:solidFill>
                            <a:srgbClr val="1E1B36"/>
                          </a:solidFill>
                          <a:latin typeface="Calibri" pitchFamily="34" charset="0"/>
                          <a:ea typeface="Calibri" pitchFamily="34" charset="-122"/>
                          <a:cs typeface="Calibri" pitchFamily="34" charset="-120"/>
                        </a:rPr>
                        <a:t> (2013)</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11</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11</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Jackson </a:t>
                      </a:r>
                      <a:pPr algn="l" indent="0" marL="0">
                        <a:buNone/>
                      </a:pPr>
                      <a:r>
                        <a:rPr lang="en-US" sz="1250" i="1" dirty="0">
                          <a:solidFill>
                            <a:srgbClr val="1E1B36"/>
                          </a:solidFill>
                          <a:latin typeface="Calibri" pitchFamily="34" charset="0"/>
                          <a:ea typeface="Calibri" pitchFamily="34" charset="-122"/>
                          <a:cs typeface="Calibri" pitchFamily="34" charset="-120"/>
                        </a:rPr>
                        <a:t>et al.</a:t>
                      </a:r>
                      <a:pPr algn="l" indent="0" marL="0">
                        <a:buNone/>
                      </a:pPr>
                      <a:r>
                        <a:rPr lang="en-US" sz="1250" dirty="0">
                          <a:solidFill>
                            <a:srgbClr val="1E1B36"/>
                          </a:solidFill>
                          <a:latin typeface="Calibri" pitchFamily="34" charset="0"/>
                          <a:ea typeface="Calibri" pitchFamily="34" charset="-122"/>
                          <a:cs typeface="Calibri" pitchFamily="34" charset="-120"/>
                        </a:rPr>
                        <a:t> (2016)</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24</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Jiménez </a:t>
                      </a:r>
                      <a:pPr algn="l" indent="0" marL="0">
                        <a:buNone/>
                      </a:pPr>
                      <a:r>
                        <a:rPr lang="en-US" sz="1250" i="1" dirty="0">
                          <a:solidFill>
                            <a:srgbClr val="1E1B36"/>
                          </a:solidFill>
                          <a:latin typeface="Calibri" pitchFamily="34" charset="0"/>
                          <a:ea typeface="Calibri" pitchFamily="34" charset="-122"/>
                          <a:cs typeface="Calibri" pitchFamily="34" charset="-120"/>
                        </a:rPr>
                        <a:t>et al.</a:t>
                      </a:r>
                      <a:pPr algn="l" indent="0" marL="0">
                        <a:buNone/>
                      </a:pPr>
                      <a:r>
                        <a:rPr lang="en-US" sz="1250" dirty="0">
                          <a:solidFill>
                            <a:srgbClr val="1E1B36"/>
                          </a:solidFill>
                          <a:latin typeface="Calibri" pitchFamily="34" charset="0"/>
                          <a:ea typeface="Calibri" pitchFamily="34" charset="-122"/>
                          <a:cs typeface="Calibri" pitchFamily="34" charset="-120"/>
                        </a:rPr>
                        <a:t> (2020)</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280</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Text–background colour</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Portello </a:t>
                      </a:r>
                      <a:pPr algn="l" indent="0" marL="0">
                        <a:buNone/>
                      </a:pPr>
                      <a:r>
                        <a:rPr lang="en-US" sz="1250" i="1" dirty="0">
                          <a:solidFill>
                            <a:srgbClr val="1E1B36"/>
                          </a:solidFill>
                          <a:latin typeface="Calibri" pitchFamily="34" charset="0"/>
                          <a:ea typeface="Calibri" pitchFamily="34" charset="-122"/>
                          <a:cs typeface="Calibri" pitchFamily="34" charset="-120"/>
                        </a:rPr>
                        <a:t>et al.</a:t>
                      </a:r>
                      <a:pPr algn="l" indent="0" marL="0">
                        <a:buNone/>
                      </a:pPr>
                      <a:r>
                        <a:rPr lang="en-US" sz="1250" dirty="0">
                          <a:solidFill>
                            <a:srgbClr val="1E1B36"/>
                          </a:solidFill>
                          <a:latin typeface="Calibri" pitchFamily="34" charset="0"/>
                          <a:ea typeface="Calibri" pitchFamily="34" charset="-122"/>
                          <a:cs typeface="Calibri" pitchFamily="34" charset="-120"/>
                        </a:rPr>
                        <a:t> (2013)</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42</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Cardona </a:t>
                      </a:r>
                      <a:pPr algn="l" indent="0" marL="0">
                        <a:buNone/>
                      </a:pPr>
                      <a:r>
                        <a:rPr lang="en-US" sz="1250" i="1" dirty="0">
                          <a:solidFill>
                            <a:srgbClr val="1E1B36"/>
                          </a:solidFill>
                          <a:latin typeface="Calibri" pitchFamily="34" charset="0"/>
                          <a:ea typeface="Calibri" pitchFamily="34" charset="-122"/>
                          <a:cs typeface="Calibri" pitchFamily="34" charset="-120"/>
                        </a:rPr>
                        <a:t>et al.</a:t>
                      </a:r>
                      <a:pPr algn="l" indent="0" marL="0">
                        <a:buNone/>
                      </a:pPr>
                      <a:r>
                        <a:rPr lang="en-US" sz="1250" dirty="0">
                          <a:solidFill>
                            <a:srgbClr val="1E1B36"/>
                          </a:solidFill>
                          <a:latin typeface="Calibri" pitchFamily="34" charset="0"/>
                          <a:ea typeface="Calibri" pitchFamily="34" charset="-122"/>
                          <a:cs typeface="Calibri" pitchFamily="34" charset="-120"/>
                        </a:rPr>
                        <a:t> (2011)</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75</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Task dynamism</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Lin, M., </a:t>
                      </a:r>
                      <a:pPr algn="l" indent="0" marL="0">
                        <a:buNone/>
                      </a:pPr>
                      <a:r>
                        <a:rPr lang="en-US" sz="1250" i="1" dirty="0">
                          <a:solidFill>
                            <a:srgbClr val="1E1B36"/>
                          </a:solidFill>
                          <a:latin typeface="Calibri" pitchFamily="34" charset="0"/>
                          <a:ea typeface="Calibri" pitchFamily="34" charset="-122"/>
                          <a:cs typeface="Calibri" pitchFamily="34" charset="-120"/>
                        </a:rPr>
                        <a:t>et al.</a:t>
                      </a:r>
                      <a:pPr algn="l" indent="0" marL="0">
                        <a:buNone/>
                      </a:pPr>
                      <a:r>
                        <a:rPr lang="en-US" sz="1250" dirty="0">
                          <a:solidFill>
                            <a:srgbClr val="1E1B36"/>
                          </a:solidFill>
                          <a:latin typeface="Calibri" pitchFamily="34" charset="0"/>
                          <a:ea typeface="Calibri" pitchFamily="34" charset="-122"/>
                          <a:cs typeface="Calibri" pitchFamily="34" charset="-120"/>
                        </a:rPr>
                        <a:t> (2025)</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Ambient light × brightness</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Argilés </a:t>
                      </a:r>
                      <a:pPr algn="l" indent="0" marL="0">
                        <a:buNone/>
                      </a:pPr>
                      <a:r>
                        <a:rPr lang="en-US" sz="1250" i="1" dirty="0">
                          <a:solidFill>
                            <a:srgbClr val="1E1B36"/>
                          </a:solidFill>
                          <a:latin typeface="Calibri" pitchFamily="34" charset="0"/>
                          <a:ea typeface="Calibri" pitchFamily="34" charset="-122"/>
                          <a:cs typeface="Calibri" pitchFamily="34" charset="-120"/>
                        </a:rPr>
                        <a:t>et al.</a:t>
                      </a:r>
                      <a:pPr algn="l" indent="0" marL="0">
                        <a:buNone/>
                      </a:pPr>
                      <a:r>
                        <a:rPr lang="en-US" sz="1250" dirty="0">
                          <a:solidFill>
                            <a:srgbClr val="1E1B36"/>
                          </a:solidFill>
                          <a:latin typeface="Calibri" pitchFamily="34" charset="0"/>
                          <a:ea typeface="Calibri" pitchFamily="34" charset="-122"/>
                          <a:cs typeface="Calibri" pitchFamily="34" charset="-120"/>
                        </a:rPr>
                        <a:t> (2015)</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1B36"/>
                          </a:solidFill>
                          <a:latin typeface="Calibri" pitchFamily="34" charset="0"/>
                          <a:ea typeface="Calibri" pitchFamily="34" charset="-122"/>
                          <a:cs typeface="Calibri" pitchFamily="34" charset="-120"/>
                        </a:rPr>
                        <a:t>300</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1B36"/>
                          </a:solidFill>
                          <a:latin typeface="Calibri" pitchFamily="34" charset="0"/>
                          <a:ea typeface="Calibri" pitchFamily="34" charset="-122"/>
                          <a:cs typeface="Calibri" pitchFamily="34" charset="-120"/>
                        </a:rPr>
                        <a:t>Reading medium</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402336">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Proposed study</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37306F"/>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130</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37306F"/>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1,300</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37306F"/>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Polarity × text colour</a:t>
                      </a:r>
                      <a:endParaRPr lang="en-US" sz="125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37306F"/>
                    </a:solidFill>
                  </a:tcPr>
                </a:tc>
              </a:tr>
            </a:tbl>
          </a:graphicData>
        </a:graphic>
      </p:graphicFrame>
      <p:sp>
        <p:nvSpPr>
          <p:cNvPr id="22" name="Text 19"/>
          <p:cNvSpPr txBox="1"/>
          <p:nvPr/>
        </p:nvSpPr>
        <p:spPr>
          <a:xfrm>
            <a:off x="7086600" y="6858000"/>
            <a:ext cx="5989320" cy="548640"/>
          </a:xfrm>
          <a:prstGeom prst="rect">
            <a:avLst/>
          </a:prstGeom>
          <a:noFill/>
          <a:ln/>
        </p:spPr>
        <p:txBody>
          <a:bodyPr wrap="square" lIns="0" tIns="0" rIns="0" bIns="0" rtlCol="0" anchor="ctr"/>
          <a:lstStyle/>
          <a:p>
            <a:pPr indent="0" marL="0">
              <a:lnSpc>
                <a:spcPts val="1800"/>
              </a:lnSpc>
              <a:buNone/>
            </a:pPr>
            <a:r>
              <a:rPr lang="en-US" sz="1350" i="1" dirty="0">
                <a:solidFill>
                  <a:srgbClr val="6E6B87"/>
                </a:solidFill>
                <a:latin typeface="Calibri" pitchFamily="34" charset="0"/>
                <a:ea typeface="Calibri" pitchFamily="34" charset="-122"/>
                <a:cs typeface="Calibri" pitchFamily="34" charset="-120"/>
              </a:rPr>
              <a:t>Precision on the primary outcome follows the number of condition-runs, not participants.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03 · AIM &amp; OBJECTIVES</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Aim &amp; Objectives</a:t>
            </a:r>
            <a:endParaRPr lang="en-US" sz="3400" dirty="0"/>
          </a:p>
        </p:txBody>
      </p:sp>
      <p:sp>
        <p:nvSpPr>
          <p:cNvPr id="4" name="Shape 2"/>
          <p:cNvSpPr/>
          <p:nvPr/>
        </p:nvSpPr>
        <p:spPr>
          <a:xfrm>
            <a:off x="640080" y="2057400"/>
            <a:ext cx="12435840" cy="1572768"/>
          </a:xfrm>
          <a:prstGeom prst="roundRect">
            <a:avLst>
              <a:gd name="adj" fmla="val 5814"/>
            </a:avLst>
          </a:prstGeom>
          <a:solidFill>
            <a:srgbClr val="37306F"/>
          </a:solidFill>
          <a:ln w="12700">
            <a:solidFill>
              <a:srgbClr val="37306F"/>
            </a:solidFill>
            <a:prstDash val="solid"/>
          </a:ln>
          <a:effectLst>
            <a:outerShdw sx="100000" sy="100000" kx="0" ky="0" algn="bl" rotWithShape="0" blurRad="127000" dist="25400" dir="5400000">
              <a:srgbClr val="9C99B5">
                <a:alpha val="22000"/>
              </a:srgbClr>
            </a:outerShdw>
          </a:effectLst>
        </p:spPr>
      </p:sp>
      <p:sp>
        <p:nvSpPr>
          <p:cNvPr id="5" name="Text 3"/>
          <p:cNvSpPr txBox="1"/>
          <p:nvPr/>
        </p:nvSpPr>
        <p:spPr>
          <a:xfrm>
            <a:off x="1051560" y="2249424"/>
            <a:ext cx="1828800" cy="292608"/>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AIM</a:t>
            </a:r>
            <a:endParaRPr lang="en-US" sz="1300" dirty="0"/>
          </a:p>
        </p:txBody>
      </p:sp>
      <p:sp>
        <p:nvSpPr>
          <p:cNvPr id="6" name="Text 4"/>
          <p:cNvSpPr txBox="1"/>
          <p:nvPr/>
        </p:nvSpPr>
        <p:spPr>
          <a:xfrm>
            <a:off x="1051560" y="2578608"/>
            <a:ext cx="11612880" cy="914400"/>
          </a:xfrm>
          <a:prstGeom prst="rect">
            <a:avLst/>
          </a:prstGeom>
          <a:noFill/>
          <a:ln/>
        </p:spPr>
        <p:txBody>
          <a:bodyPr wrap="square" lIns="0" tIns="0" rIns="0" bIns="0" rtlCol="0" anchor="ctr"/>
          <a:lstStyle/>
          <a:p>
            <a:pPr indent="0" marL="0">
              <a:lnSpc>
                <a:spcPts val="2500"/>
              </a:lnSpc>
              <a:buNone/>
            </a:pPr>
            <a:r>
              <a:rPr lang="en-US" sz="1750" dirty="0">
                <a:solidFill>
                  <a:srgbClr val="FFFFFF"/>
                </a:solidFill>
                <a:latin typeface="Calibri" pitchFamily="34" charset="0"/>
                <a:ea typeface="Calibri" pitchFamily="34" charset="-122"/>
                <a:cs typeface="Calibri" pitchFamily="34" charset="-120"/>
              </a:rPr>
              <a:t>To determine the effects and interaction of display polarity and text colour on visual fatigue, ocular behaviour and visual task performance during prolonged tablet reading at a controlled level of room light — and to test whether a tablet’s own camera can measure blinking well enough to do it.</a:t>
            </a:r>
            <a:endParaRPr lang="en-US" sz="1750" dirty="0"/>
          </a:p>
        </p:txBody>
      </p:sp>
      <p:sp>
        <p:nvSpPr>
          <p:cNvPr id="7" name="Shape 5"/>
          <p:cNvSpPr/>
          <p:nvPr/>
        </p:nvSpPr>
        <p:spPr>
          <a:xfrm>
            <a:off x="640080" y="3931920"/>
            <a:ext cx="6035040" cy="1783080"/>
          </a:xfrm>
          <a:prstGeom prst="roundRect">
            <a:avLst>
              <a:gd name="adj" fmla="val 4615"/>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8" name="Shape 6"/>
          <p:cNvSpPr/>
          <p:nvPr/>
        </p:nvSpPr>
        <p:spPr>
          <a:xfrm>
            <a:off x="1005840" y="4242816"/>
            <a:ext cx="530352" cy="530352"/>
          </a:xfrm>
          <a:prstGeom prst="ellipse">
            <a:avLst/>
          </a:prstGeom>
          <a:solidFill>
            <a:srgbClr val="FCCB00"/>
          </a:solidFill>
          <a:ln w="12700">
            <a:solidFill>
              <a:srgbClr val="FCCB00"/>
            </a:solidFill>
            <a:prstDash val="solid"/>
          </a:ln>
        </p:spPr>
      </p:sp>
      <p:sp>
        <p:nvSpPr>
          <p:cNvPr id="9" name="Text 7"/>
          <p:cNvSpPr txBox="1"/>
          <p:nvPr/>
        </p:nvSpPr>
        <p:spPr>
          <a:xfrm>
            <a:off x="1005840" y="4242816"/>
            <a:ext cx="530352" cy="530352"/>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1</a:t>
            </a:r>
            <a:endParaRPr lang="en-US" sz="1700" dirty="0"/>
          </a:p>
        </p:txBody>
      </p:sp>
      <p:sp>
        <p:nvSpPr>
          <p:cNvPr id="10" name="Text 8"/>
          <p:cNvSpPr txBox="1"/>
          <p:nvPr/>
        </p:nvSpPr>
        <p:spPr>
          <a:xfrm>
            <a:off x="1755648" y="4206240"/>
            <a:ext cx="4572000" cy="365760"/>
          </a:xfrm>
          <a:prstGeom prst="rect">
            <a:avLst/>
          </a:prstGeom>
          <a:noFill/>
          <a:ln/>
        </p:spPr>
        <p:txBody>
          <a:bodyPr wrap="square" lIns="0" tIns="0" rIns="0" bIns="0" rtlCol="0" anchor="ctr"/>
          <a:lstStyle/>
          <a:p>
            <a:pPr indent="0" marL="0">
              <a:buNone/>
            </a:pPr>
            <a:r>
              <a:rPr lang="en-US" sz="1900" b="1" dirty="0">
                <a:solidFill>
                  <a:srgbClr val="37306F"/>
                </a:solidFill>
                <a:latin typeface="Cambria" pitchFamily="34" charset="0"/>
                <a:ea typeface="Cambria" pitchFamily="34" charset="-122"/>
                <a:cs typeface="Cambria" pitchFamily="34" charset="-120"/>
              </a:rPr>
              <a:t>Effects and interaction</a:t>
            </a:r>
            <a:endParaRPr lang="en-US" sz="1900" dirty="0"/>
          </a:p>
        </p:txBody>
      </p:sp>
      <p:sp>
        <p:nvSpPr>
          <p:cNvPr id="11" name="Text 9"/>
          <p:cNvSpPr txBox="1"/>
          <p:nvPr/>
        </p:nvSpPr>
        <p:spPr>
          <a:xfrm>
            <a:off x="1755648" y="4626864"/>
            <a:ext cx="4617720" cy="96012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Measure how polarity and text colour — separately and together — change visual fatigue, blinking, workload and task performance.</a:t>
            </a:r>
            <a:endParaRPr lang="en-US" sz="1400" dirty="0"/>
          </a:p>
        </p:txBody>
      </p:sp>
      <p:sp>
        <p:nvSpPr>
          <p:cNvPr id="12" name="Shape 10"/>
          <p:cNvSpPr/>
          <p:nvPr/>
        </p:nvSpPr>
        <p:spPr>
          <a:xfrm>
            <a:off x="7040880" y="3931920"/>
            <a:ext cx="6035040" cy="1783080"/>
          </a:xfrm>
          <a:prstGeom prst="roundRect">
            <a:avLst>
              <a:gd name="adj" fmla="val 4615"/>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3" name="Shape 11"/>
          <p:cNvSpPr/>
          <p:nvPr/>
        </p:nvSpPr>
        <p:spPr>
          <a:xfrm>
            <a:off x="7406640" y="4242816"/>
            <a:ext cx="530352" cy="530352"/>
          </a:xfrm>
          <a:prstGeom prst="ellipse">
            <a:avLst/>
          </a:prstGeom>
          <a:solidFill>
            <a:srgbClr val="FCCB00"/>
          </a:solidFill>
          <a:ln w="12700">
            <a:solidFill>
              <a:srgbClr val="FCCB00"/>
            </a:solidFill>
            <a:prstDash val="solid"/>
          </a:ln>
        </p:spPr>
      </p:sp>
      <p:sp>
        <p:nvSpPr>
          <p:cNvPr id="14" name="Text 12"/>
          <p:cNvSpPr txBox="1"/>
          <p:nvPr/>
        </p:nvSpPr>
        <p:spPr>
          <a:xfrm>
            <a:off x="7406640" y="4242816"/>
            <a:ext cx="530352" cy="530352"/>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2</a:t>
            </a:r>
            <a:endParaRPr lang="en-US" sz="1700" dirty="0"/>
          </a:p>
        </p:txBody>
      </p:sp>
      <p:sp>
        <p:nvSpPr>
          <p:cNvPr id="15" name="Text 13"/>
          <p:cNvSpPr txBox="1"/>
          <p:nvPr/>
        </p:nvSpPr>
        <p:spPr>
          <a:xfrm>
            <a:off x="8156448" y="4206240"/>
            <a:ext cx="4572000" cy="365760"/>
          </a:xfrm>
          <a:prstGeom prst="rect">
            <a:avLst/>
          </a:prstGeom>
          <a:noFill/>
          <a:ln/>
        </p:spPr>
        <p:txBody>
          <a:bodyPr wrap="square" lIns="0" tIns="0" rIns="0" bIns="0" rtlCol="0" anchor="ctr"/>
          <a:lstStyle/>
          <a:p>
            <a:pPr indent="0" marL="0">
              <a:buNone/>
            </a:pPr>
            <a:r>
              <a:rPr lang="en-US" sz="1900" b="1" dirty="0">
                <a:solidFill>
                  <a:srgbClr val="37306F"/>
                </a:solidFill>
                <a:latin typeface="Cambria" pitchFamily="34" charset="0"/>
                <a:ea typeface="Cambria" pitchFamily="34" charset="-122"/>
                <a:cs typeface="Cambria" pitchFamily="34" charset="-120"/>
              </a:rPr>
              <a:t>Contrast or hue?</a:t>
            </a:r>
            <a:endParaRPr lang="en-US" sz="1900" dirty="0"/>
          </a:p>
        </p:txBody>
      </p:sp>
      <p:sp>
        <p:nvSpPr>
          <p:cNvPr id="16" name="Text 14"/>
          <p:cNvSpPr txBox="1"/>
          <p:nvPr/>
        </p:nvSpPr>
        <p:spPr>
          <a:xfrm>
            <a:off x="8156448" y="4626864"/>
            <a:ext cx="4617720" cy="96012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Separate the part of any colour effect that is really luminance contrast from any effect of hue itself, by computing contrast for every condition.</a:t>
            </a:r>
            <a:endParaRPr lang="en-US" sz="1400" dirty="0"/>
          </a:p>
        </p:txBody>
      </p:sp>
      <p:sp>
        <p:nvSpPr>
          <p:cNvPr id="17" name="Shape 15"/>
          <p:cNvSpPr/>
          <p:nvPr/>
        </p:nvSpPr>
        <p:spPr>
          <a:xfrm>
            <a:off x="640080" y="5989320"/>
            <a:ext cx="6035040" cy="1783080"/>
          </a:xfrm>
          <a:prstGeom prst="roundRect">
            <a:avLst>
              <a:gd name="adj" fmla="val 4615"/>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8" name="Shape 16"/>
          <p:cNvSpPr/>
          <p:nvPr/>
        </p:nvSpPr>
        <p:spPr>
          <a:xfrm>
            <a:off x="1005840" y="6300216"/>
            <a:ext cx="530352" cy="530352"/>
          </a:xfrm>
          <a:prstGeom prst="ellipse">
            <a:avLst/>
          </a:prstGeom>
          <a:solidFill>
            <a:srgbClr val="FCCB00"/>
          </a:solidFill>
          <a:ln w="12700">
            <a:solidFill>
              <a:srgbClr val="FCCB00"/>
            </a:solidFill>
            <a:prstDash val="solid"/>
          </a:ln>
        </p:spPr>
      </p:sp>
      <p:sp>
        <p:nvSpPr>
          <p:cNvPr id="19" name="Text 17"/>
          <p:cNvSpPr txBox="1"/>
          <p:nvPr/>
        </p:nvSpPr>
        <p:spPr>
          <a:xfrm>
            <a:off x="1005840" y="6300216"/>
            <a:ext cx="530352" cy="530352"/>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3</a:t>
            </a:r>
            <a:endParaRPr lang="en-US" sz="1700" dirty="0"/>
          </a:p>
        </p:txBody>
      </p:sp>
      <p:sp>
        <p:nvSpPr>
          <p:cNvPr id="20" name="Text 18"/>
          <p:cNvSpPr txBox="1"/>
          <p:nvPr/>
        </p:nvSpPr>
        <p:spPr>
          <a:xfrm>
            <a:off x="1755648" y="6263640"/>
            <a:ext cx="4572000" cy="365760"/>
          </a:xfrm>
          <a:prstGeom prst="rect">
            <a:avLst/>
          </a:prstGeom>
          <a:noFill/>
          <a:ln/>
        </p:spPr>
        <p:txBody>
          <a:bodyPr wrap="square" lIns="0" tIns="0" rIns="0" bIns="0" rtlCol="0" anchor="ctr"/>
          <a:lstStyle/>
          <a:p>
            <a:pPr indent="0" marL="0">
              <a:buNone/>
            </a:pPr>
            <a:r>
              <a:rPr lang="en-US" sz="1900" b="1" dirty="0">
                <a:solidFill>
                  <a:srgbClr val="37306F"/>
                </a:solidFill>
                <a:latin typeface="Cambria" pitchFamily="34" charset="0"/>
                <a:ea typeface="Cambria" pitchFamily="34" charset="-122"/>
                <a:cs typeface="Cambria" pitchFamily="34" charset="-120"/>
              </a:rPr>
              <a:t>Best and worst settings</a:t>
            </a:r>
            <a:endParaRPr lang="en-US" sz="1900" dirty="0"/>
          </a:p>
        </p:txBody>
      </p:sp>
      <p:sp>
        <p:nvSpPr>
          <p:cNvPr id="21" name="Text 19"/>
          <p:cNvSpPr txBox="1"/>
          <p:nvPr/>
        </p:nvSpPr>
        <p:spPr>
          <a:xfrm>
            <a:off x="1755648" y="6684264"/>
            <a:ext cx="4617720" cy="96012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Identify which polarity-and-colour combination minimises fatigue and maximises performance, and for whom.</a:t>
            </a:r>
            <a:endParaRPr lang="en-US" sz="1400" dirty="0"/>
          </a:p>
        </p:txBody>
      </p:sp>
      <p:sp>
        <p:nvSpPr>
          <p:cNvPr id="22" name="Shape 20"/>
          <p:cNvSpPr/>
          <p:nvPr/>
        </p:nvSpPr>
        <p:spPr>
          <a:xfrm>
            <a:off x="7040880" y="5989320"/>
            <a:ext cx="6035040" cy="1783080"/>
          </a:xfrm>
          <a:prstGeom prst="roundRect">
            <a:avLst>
              <a:gd name="adj" fmla="val 4615"/>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23" name="Shape 21"/>
          <p:cNvSpPr/>
          <p:nvPr/>
        </p:nvSpPr>
        <p:spPr>
          <a:xfrm>
            <a:off x="7406640" y="6300216"/>
            <a:ext cx="530352" cy="530352"/>
          </a:xfrm>
          <a:prstGeom prst="ellipse">
            <a:avLst/>
          </a:prstGeom>
          <a:solidFill>
            <a:srgbClr val="FCCB00"/>
          </a:solidFill>
          <a:ln w="12700">
            <a:solidFill>
              <a:srgbClr val="FCCB00"/>
            </a:solidFill>
            <a:prstDash val="solid"/>
          </a:ln>
        </p:spPr>
      </p:sp>
      <p:sp>
        <p:nvSpPr>
          <p:cNvPr id="24" name="Text 22"/>
          <p:cNvSpPr txBox="1"/>
          <p:nvPr/>
        </p:nvSpPr>
        <p:spPr>
          <a:xfrm>
            <a:off x="7406640" y="6300216"/>
            <a:ext cx="530352" cy="530352"/>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4</a:t>
            </a:r>
            <a:endParaRPr lang="en-US" sz="1700" dirty="0"/>
          </a:p>
        </p:txBody>
      </p:sp>
      <p:sp>
        <p:nvSpPr>
          <p:cNvPr id="25" name="Text 23"/>
          <p:cNvSpPr txBox="1"/>
          <p:nvPr/>
        </p:nvSpPr>
        <p:spPr>
          <a:xfrm>
            <a:off x="8156448" y="6263640"/>
            <a:ext cx="4572000" cy="365760"/>
          </a:xfrm>
          <a:prstGeom prst="rect">
            <a:avLst/>
          </a:prstGeom>
          <a:noFill/>
          <a:ln/>
        </p:spPr>
        <p:txBody>
          <a:bodyPr wrap="square" lIns="0" tIns="0" rIns="0" bIns="0" rtlCol="0" anchor="ctr"/>
          <a:lstStyle/>
          <a:p>
            <a:pPr indent="0" marL="0">
              <a:buNone/>
            </a:pPr>
            <a:r>
              <a:rPr lang="en-US" sz="1900" b="1" dirty="0">
                <a:solidFill>
                  <a:srgbClr val="8E2F24"/>
                </a:solidFill>
                <a:latin typeface="Cambria" pitchFamily="34" charset="0"/>
                <a:ea typeface="Cambria" pitchFamily="34" charset="-122"/>
                <a:cs typeface="Cambria" pitchFamily="34" charset="-120"/>
              </a:rPr>
              <a:t>A measurement that scales</a:t>
            </a:r>
            <a:endParaRPr lang="en-US" sz="1900" dirty="0"/>
          </a:p>
        </p:txBody>
      </p:sp>
      <p:sp>
        <p:nvSpPr>
          <p:cNvPr id="26" name="Text 24"/>
          <p:cNvSpPr txBox="1"/>
          <p:nvPr/>
        </p:nvSpPr>
        <p:spPr>
          <a:xfrm>
            <a:off x="8156448" y="6684264"/>
            <a:ext cx="4617720" cy="96012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Establish whether tablet-camera blink classification agrees with manual annotation well enough to replace it.</a:t>
            </a:r>
            <a:endParaRPr lang="en-US" sz="1400" dirty="0"/>
          </a:p>
        </p:txBody>
      </p:sp>
      <p:sp>
        <p:nvSpPr>
          <p:cNvPr id="27" name="Text 25"/>
          <p:cNvSpPr txBox="1"/>
          <p:nvPr/>
        </p:nvSpPr>
        <p:spPr>
          <a:xfrm>
            <a:off x="640080" y="8092440"/>
            <a:ext cx="12435840" cy="274320"/>
          </a:xfrm>
          <a:prstGeom prst="rect">
            <a:avLst/>
          </a:prstGeom>
          <a:noFill/>
          <a:ln/>
        </p:spPr>
        <p:txBody>
          <a:bodyPr wrap="square" lIns="0" tIns="0" rIns="0" bIns="0" rtlCol="0" anchor="ctr"/>
          <a:lstStyle/>
          <a:p>
            <a:pPr indent="0" marL="0">
              <a:buNone/>
            </a:pPr>
            <a:r>
              <a:rPr lang="en-US" sz="1300" i="1" dirty="0">
                <a:solidFill>
                  <a:srgbClr val="6E6B87"/>
                </a:solidFill>
                <a:latin typeface="Calibri" pitchFamily="34" charset="0"/>
                <a:ea typeface="Calibri" pitchFamily="34" charset="-122"/>
                <a:cs typeface="Calibri" pitchFamily="34" charset="-120"/>
              </a:rPr>
              <a:t>Objectives 1–3 are primary; objective 4 is methodological.</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03 · AIM &amp; OBJECTIVES</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Hypotheses</a:t>
            </a:r>
            <a:endParaRPr lang="en-US" sz="3400" dirty="0"/>
          </a:p>
        </p:txBody>
      </p:sp>
      <p:sp>
        <p:nvSpPr>
          <p:cNvPr id="4" name="Shape 2"/>
          <p:cNvSpPr/>
          <p:nvPr/>
        </p:nvSpPr>
        <p:spPr>
          <a:xfrm>
            <a:off x="640080" y="2103120"/>
            <a:ext cx="6035040" cy="16002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25400" dir="5400000">
              <a:srgbClr val="9C99B5">
                <a:alpha val="22000"/>
              </a:srgbClr>
            </a:outerShdw>
          </a:effectLst>
        </p:spPr>
      </p:sp>
      <p:sp>
        <p:nvSpPr>
          <p:cNvPr id="5" name="Shape 3"/>
          <p:cNvSpPr/>
          <p:nvPr/>
        </p:nvSpPr>
        <p:spPr>
          <a:xfrm>
            <a:off x="640080" y="2103120"/>
            <a:ext cx="6035040" cy="1600200"/>
          </a:xfrm>
          <a:prstGeom prst="roundRect">
            <a:avLst>
              <a:gd name="adj" fmla="val 5143"/>
            </a:avLst>
          </a:prstGeom>
          <a:solidFill>
            <a:srgbClr val="FFFFFF"/>
          </a:solidFill>
          <a:ln w="19050">
            <a:solidFill>
              <a:srgbClr val="6E6B87"/>
            </a:solidFill>
            <a:prstDash val="solid"/>
          </a:ln>
          <a:effectLst>
            <a:outerShdw sx="100000" sy="100000" kx="0" ky="0" algn="bl" rotWithShape="0" blurRad="127000" dist="25400" dir="5400000">
              <a:srgbClr val="9C99B5">
                <a:alpha val="22000"/>
              </a:srgbClr>
            </a:outerShdw>
          </a:effectLst>
        </p:spPr>
      </p:sp>
      <p:sp>
        <p:nvSpPr>
          <p:cNvPr id="6" name="Text 4"/>
          <p:cNvSpPr txBox="1"/>
          <p:nvPr/>
        </p:nvSpPr>
        <p:spPr>
          <a:xfrm>
            <a:off x="1005840" y="2286000"/>
            <a:ext cx="5303520" cy="329184"/>
          </a:xfrm>
          <a:prstGeom prst="rect">
            <a:avLst/>
          </a:prstGeom>
          <a:noFill/>
          <a:ln/>
        </p:spPr>
        <p:txBody>
          <a:bodyPr wrap="square" lIns="0" tIns="0" rIns="0" bIns="0" rtlCol="0" anchor="ctr"/>
          <a:lstStyle/>
          <a:p>
            <a:pPr indent="0" marL="0">
              <a:buNone/>
            </a:pPr>
            <a:r>
              <a:rPr lang="en-US" sz="1900" b="1" dirty="0">
                <a:solidFill>
                  <a:srgbClr val="6E6B87"/>
                </a:solidFill>
                <a:latin typeface="Cambria" pitchFamily="34" charset="0"/>
                <a:ea typeface="Cambria" pitchFamily="34" charset="-122"/>
                <a:cs typeface="Cambria" pitchFamily="34" charset="-120"/>
              </a:rPr>
              <a:t>Null hypothesis (H₀)</a:t>
            </a:r>
            <a:endParaRPr lang="en-US" sz="1900" dirty="0"/>
          </a:p>
        </p:txBody>
      </p:sp>
      <p:sp>
        <p:nvSpPr>
          <p:cNvPr id="7" name="Text 5"/>
          <p:cNvSpPr txBox="1"/>
          <p:nvPr/>
        </p:nvSpPr>
        <p:spPr>
          <a:xfrm>
            <a:off x="1005840" y="2651760"/>
            <a:ext cx="5303520" cy="914400"/>
          </a:xfrm>
          <a:prstGeom prst="rect">
            <a:avLst/>
          </a:prstGeom>
          <a:noFill/>
          <a:ln/>
        </p:spPr>
        <p:txBody>
          <a:bodyPr wrap="square" lIns="0" tIns="0" rIns="0" bIns="0" rtlCol="0" anchor="ctr"/>
          <a:lstStyle/>
          <a:p>
            <a:pPr indent="0" marL="0">
              <a:lnSpc>
                <a:spcPts val="2000"/>
              </a:lnSpc>
              <a:buNone/>
            </a:pPr>
            <a:r>
              <a:rPr lang="en-US" sz="1450" dirty="0">
                <a:solidFill>
                  <a:srgbClr val="1E1B36"/>
                </a:solidFill>
                <a:latin typeface="Calibri" pitchFamily="34" charset="0"/>
                <a:ea typeface="Calibri" pitchFamily="34" charset="-122"/>
                <a:cs typeface="Calibri" pitchFamily="34" charset="-120"/>
              </a:rPr>
              <a:t>Polarity and text colour, alone or together, have no significant effect on visual fatigue, ocular behaviour or task performance at 300 lux.</a:t>
            </a:r>
            <a:endParaRPr lang="en-US" sz="1450" dirty="0"/>
          </a:p>
        </p:txBody>
      </p:sp>
      <p:sp>
        <p:nvSpPr>
          <p:cNvPr id="8" name="Shape 6"/>
          <p:cNvSpPr/>
          <p:nvPr/>
        </p:nvSpPr>
        <p:spPr>
          <a:xfrm>
            <a:off x="7040880" y="2103120"/>
            <a:ext cx="6035040" cy="1600200"/>
          </a:xfrm>
          <a:prstGeom prst="roundRect">
            <a:avLst>
              <a:gd name="adj" fmla="val 5143"/>
            </a:avLst>
          </a:prstGeom>
          <a:solidFill>
            <a:srgbClr val="FFFFFF"/>
          </a:solidFill>
          <a:ln w="12700">
            <a:solidFill>
              <a:srgbClr val="FFFFFF"/>
            </a:solidFill>
            <a:prstDash val="solid"/>
          </a:ln>
          <a:effectLst>
            <a:outerShdw sx="100000" sy="100000" kx="0" ky="0" algn="bl" rotWithShape="0" blurRad="127000" dist="25400" dir="5400000">
              <a:srgbClr val="9C99B5">
                <a:alpha val="22000"/>
              </a:srgbClr>
            </a:outerShdw>
          </a:effectLst>
        </p:spPr>
      </p:sp>
      <p:sp>
        <p:nvSpPr>
          <p:cNvPr id="9" name="Shape 7"/>
          <p:cNvSpPr/>
          <p:nvPr/>
        </p:nvSpPr>
        <p:spPr>
          <a:xfrm>
            <a:off x="7040880" y="2103120"/>
            <a:ext cx="6035040" cy="1600200"/>
          </a:xfrm>
          <a:prstGeom prst="roundRect">
            <a:avLst>
              <a:gd name="adj" fmla="val 5143"/>
            </a:avLst>
          </a:prstGeom>
          <a:solidFill>
            <a:srgbClr val="FFFFFF"/>
          </a:solidFill>
          <a:ln w="19050">
            <a:solidFill>
              <a:srgbClr val="37306F"/>
            </a:solidFill>
            <a:prstDash val="solid"/>
          </a:ln>
          <a:effectLst>
            <a:outerShdw sx="100000" sy="100000" kx="0" ky="0" algn="bl" rotWithShape="0" blurRad="127000" dist="25400" dir="5400000">
              <a:srgbClr val="9C99B5">
                <a:alpha val="22000"/>
              </a:srgbClr>
            </a:outerShdw>
          </a:effectLst>
        </p:spPr>
      </p:sp>
      <p:sp>
        <p:nvSpPr>
          <p:cNvPr id="10" name="Text 8"/>
          <p:cNvSpPr txBox="1"/>
          <p:nvPr/>
        </p:nvSpPr>
        <p:spPr>
          <a:xfrm>
            <a:off x="7406640" y="2286000"/>
            <a:ext cx="5303520" cy="329184"/>
          </a:xfrm>
          <a:prstGeom prst="rect">
            <a:avLst/>
          </a:prstGeom>
          <a:noFill/>
          <a:ln/>
        </p:spPr>
        <p:txBody>
          <a:bodyPr wrap="square" lIns="0" tIns="0" rIns="0" bIns="0" rtlCol="0" anchor="ctr"/>
          <a:lstStyle/>
          <a:p>
            <a:pPr indent="0" marL="0">
              <a:buNone/>
            </a:pPr>
            <a:r>
              <a:rPr lang="en-US" sz="1900" b="1" dirty="0">
                <a:solidFill>
                  <a:srgbClr val="37306F"/>
                </a:solidFill>
                <a:latin typeface="Cambria" pitchFamily="34" charset="0"/>
                <a:ea typeface="Cambria" pitchFamily="34" charset="-122"/>
                <a:cs typeface="Cambria" pitchFamily="34" charset="-120"/>
              </a:rPr>
              <a:t>Alternative hypothesis (H₁)</a:t>
            </a:r>
            <a:endParaRPr lang="en-US" sz="1900" dirty="0"/>
          </a:p>
        </p:txBody>
      </p:sp>
      <p:sp>
        <p:nvSpPr>
          <p:cNvPr id="11" name="Text 9"/>
          <p:cNvSpPr txBox="1"/>
          <p:nvPr/>
        </p:nvSpPr>
        <p:spPr>
          <a:xfrm>
            <a:off x="7406640" y="2651760"/>
            <a:ext cx="5303520" cy="914400"/>
          </a:xfrm>
          <a:prstGeom prst="rect">
            <a:avLst/>
          </a:prstGeom>
          <a:noFill/>
          <a:ln/>
        </p:spPr>
        <p:txBody>
          <a:bodyPr wrap="square" lIns="0" tIns="0" rIns="0" bIns="0" rtlCol="0" anchor="ctr"/>
          <a:lstStyle/>
          <a:p>
            <a:pPr indent="0" marL="0">
              <a:lnSpc>
                <a:spcPts val="2000"/>
              </a:lnSpc>
              <a:buNone/>
            </a:pPr>
            <a:r>
              <a:rPr lang="en-US" sz="1450" dirty="0">
                <a:solidFill>
                  <a:srgbClr val="1E1B36"/>
                </a:solidFill>
                <a:latin typeface="Calibri" pitchFamily="34" charset="0"/>
                <a:ea typeface="Calibri" pitchFamily="34" charset="-122"/>
                <a:cs typeface="Calibri" pitchFamily="34" charset="-120"/>
              </a:rPr>
              <a:t>At least one of them does.</a:t>
            </a:r>
            <a:endParaRPr lang="en-US" sz="1450" dirty="0"/>
          </a:p>
        </p:txBody>
      </p:sp>
      <p:sp>
        <p:nvSpPr>
          <p:cNvPr id="12" name="Shape 10"/>
          <p:cNvSpPr/>
          <p:nvPr/>
        </p:nvSpPr>
        <p:spPr>
          <a:xfrm>
            <a:off x="640080" y="3977640"/>
            <a:ext cx="6035040" cy="1783080"/>
          </a:xfrm>
          <a:prstGeom prst="roundRect">
            <a:avLst>
              <a:gd name="adj" fmla="val 4615"/>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3" name="Text 11"/>
          <p:cNvSpPr txBox="1"/>
          <p:nvPr/>
        </p:nvSpPr>
        <p:spPr>
          <a:xfrm>
            <a:off x="1005840" y="4197096"/>
            <a:ext cx="5303520" cy="365760"/>
          </a:xfrm>
          <a:prstGeom prst="rect">
            <a:avLst/>
          </a:prstGeom>
          <a:noFill/>
          <a:ln/>
        </p:spPr>
        <p:txBody>
          <a:bodyPr wrap="square" lIns="0" tIns="0" rIns="0" bIns="0" rtlCol="0" anchor="ctr"/>
          <a:lstStyle/>
          <a:p>
            <a:pPr indent="0" marL="0">
              <a:buNone/>
            </a:pPr>
            <a:r>
              <a:rPr lang="en-US" sz="1800" b="1" dirty="0">
                <a:solidFill>
                  <a:srgbClr val="37306F"/>
                </a:solidFill>
                <a:latin typeface="Cambria" pitchFamily="34" charset="0"/>
                <a:ea typeface="Cambria" pitchFamily="34" charset="-122"/>
                <a:cs typeface="Cambria" pitchFamily="34" charset="-120"/>
              </a:rPr>
              <a:t>H₁ₐ  Main effects</a:t>
            </a:r>
            <a:endParaRPr lang="en-US" sz="1800" dirty="0"/>
          </a:p>
        </p:txBody>
      </p:sp>
      <p:sp>
        <p:nvSpPr>
          <p:cNvPr id="14" name="Text 12"/>
          <p:cNvSpPr txBox="1"/>
          <p:nvPr/>
        </p:nvSpPr>
        <p:spPr>
          <a:xfrm>
            <a:off x="1005840" y="4617720"/>
            <a:ext cx="5303520" cy="100584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Positive polarity and higher luminance contrast each give a lower incomplete-blink ratio, less fatigue and better performance.</a:t>
            </a:r>
            <a:endParaRPr lang="en-US" sz="1400" dirty="0"/>
          </a:p>
        </p:txBody>
      </p:sp>
      <p:sp>
        <p:nvSpPr>
          <p:cNvPr id="15" name="Shape 13"/>
          <p:cNvSpPr/>
          <p:nvPr/>
        </p:nvSpPr>
        <p:spPr>
          <a:xfrm>
            <a:off x="7040880" y="3977640"/>
            <a:ext cx="6035040" cy="1783080"/>
          </a:xfrm>
          <a:prstGeom prst="roundRect">
            <a:avLst>
              <a:gd name="adj" fmla="val 4615"/>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6" name="Text 14"/>
          <p:cNvSpPr txBox="1"/>
          <p:nvPr/>
        </p:nvSpPr>
        <p:spPr>
          <a:xfrm>
            <a:off x="7406640" y="4197096"/>
            <a:ext cx="5303520" cy="365760"/>
          </a:xfrm>
          <a:prstGeom prst="rect">
            <a:avLst/>
          </a:prstGeom>
          <a:noFill/>
          <a:ln/>
        </p:spPr>
        <p:txBody>
          <a:bodyPr wrap="square" lIns="0" tIns="0" rIns="0" bIns="0" rtlCol="0" anchor="ctr"/>
          <a:lstStyle/>
          <a:p>
            <a:pPr indent="0" marL="0">
              <a:buNone/>
            </a:pPr>
            <a:r>
              <a:rPr lang="en-US" sz="1800" b="1" dirty="0">
                <a:solidFill>
                  <a:srgbClr val="37306F"/>
                </a:solidFill>
                <a:latin typeface="Cambria" pitchFamily="34" charset="0"/>
                <a:ea typeface="Cambria" pitchFamily="34" charset="-122"/>
                <a:cs typeface="Cambria" pitchFamily="34" charset="-120"/>
              </a:rPr>
              <a:t>H₁ᵦ  Interaction</a:t>
            </a:r>
            <a:endParaRPr lang="en-US" sz="1800" dirty="0"/>
          </a:p>
        </p:txBody>
      </p:sp>
      <p:sp>
        <p:nvSpPr>
          <p:cNvPr id="17" name="Text 15"/>
          <p:cNvSpPr txBox="1"/>
          <p:nvPr/>
        </p:nvSpPr>
        <p:spPr>
          <a:xfrm>
            <a:off x="7406640" y="4617720"/>
            <a:ext cx="5303520" cy="100584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The effect of text colour depends on polarity.</a:t>
            </a:r>
            <a:endParaRPr lang="en-US" sz="1400" dirty="0"/>
          </a:p>
        </p:txBody>
      </p:sp>
      <p:sp>
        <p:nvSpPr>
          <p:cNvPr id="18" name="Shape 16"/>
          <p:cNvSpPr/>
          <p:nvPr/>
        </p:nvSpPr>
        <p:spPr>
          <a:xfrm>
            <a:off x="640080" y="6035040"/>
            <a:ext cx="6035040" cy="1783080"/>
          </a:xfrm>
          <a:prstGeom prst="roundRect">
            <a:avLst>
              <a:gd name="adj" fmla="val 4615"/>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9" name="Text 17"/>
          <p:cNvSpPr txBox="1"/>
          <p:nvPr/>
        </p:nvSpPr>
        <p:spPr>
          <a:xfrm>
            <a:off x="1005840" y="6254496"/>
            <a:ext cx="5303520" cy="365760"/>
          </a:xfrm>
          <a:prstGeom prst="rect">
            <a:avLst/>
          </a:prstGeom>
          <a:noFill/>
          <a:ln/>
        </p:spPr>
        <p:txBody>
          <a:bodyPr wrap="square" lIns="0" tIns="0" rIns="0" bIns="0" rtlCol="0" anchor="ctr"/>
          <a:lstStyle/>
          <a:p>
            <a:pPr indent="0" marL="0">
              <a:buNone/>
            </a:pPr>
            <a:r>
              <a:rPr lang="en-US" sz="1800" b="1" dirty="0">
                <a:solidFill>
                  <a:srgbClr val="37306F"/>
                </a:solidFill>
                <a:latin typeface="Cambria" pitchFamily="34" charset="0"/>
                <a:ea typeface="Cambria" pitchFamily="34" charset="-122"/>
                <a:cs typeface="Cambria" pitchFamily="34" charset="-120"/>
              </a:rPr>
              <a:t>H₁ᵪ  Contrast mediation</a:t>
            </a:r>
            <a:endParaRPr lang="en-US" sz="1800" dirty="0"/>
          </a:p>
        </p:txBody>
      </p:sp>
      <p:sp>
        <p:nvSpPr>
          <p:cNvPr id="20" name="Text 18"/>
          <p:cNvSpPr txBox="1"/>
          <p:nvPr/>
        </p:nvSpPr>
        <p:spPr>
          <a:xfrm>
            <a:off x="1005840" y="6675120"/>
            <a:ext cx="5303520" cy="100584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Most colour-related variance is luminance contrast. Because the contrast ordering reverses between polarities, contrast mediation predicts the colour ordering reverses too; a real hue effect predicts it does not.</a:t>
            </a:r>
            <a:endParaRPr lang="en-US" sz="1400" dirty="0"/>
          </a:p>
        </p:txBody>
      </p:sp>
      <p:sp>
        <p:nvSpPr>
          <p:cNvPr id="21" name="Shape 19"/>
          <p:cNvSpPr/>
          <p:nvPr/>
        </p:nvSpPr>
        <p:spPr>
          <a:xfrm>
            <a:off x="7040880" y="6035040"/>
            <a:ext cx="6035040" cy="1783080"/>
          </a:xfrm>
          <a:prstGeom prst="roundRect">
            <a:avLst>
              <a:gd name="adj" fmla="val 4615"/>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22" name="Text 20"/>
          <p:cNvSpPr txBox="1"/>
          <p:nvPr/>
        </p:nvSpPr>
        <p:spPr>
          <a:xfrm>
            <a:off x="7406640" y="6254496"/>
            <a:ext cx="5303520" cy="365760"/>
          </a:xfrm>
          <a:prstGeom prst="rect">
            <a:avLst/>
          </a:prstGeom>
          <a:noFill/>
          <a:ln/>
        </p:spPr>
        <p:txBody>
          <a:bodyPr wrap="square" lIns="0" tIns="0" rIns="0" bIns="0" rtlCol="0" anchor="ctr"/>
          <a:lstStyle/>
          <a:p>
            <a:pPr indent="0" marL="0">
              <a:buNone/>
            </a:pPr>
            <a:r>
              <a:rPr lang="en-US" sz="1800" b="1" dirty="0">
                <a:solidFill>
                  <a:srgbClr val="37306F"/>
                </a:solidFill>
                <a:latin typeface="Cambria" pitchFamily="34" charset="0"/>
                <a:ea typeface="Cambria" pitchFamily="34" charset="-122"/>
                <a:cs typeface="Cambria" pitchFamily="34" charset="-120"/>
              </a:rPr>
              <a:t>H₁ᵨ  Moderation</a:t>
            </a:r>
            <a:endParaRPr lang="en-US" sz="1800" dirty="0"/>
          </a:p>
        </p:txBody>
      </p:sp>
      <p:sp>
        <p:nvSpPr>
          <p:cNvPr id="23" name="Text 21"/>
          <p:cNvSpPr txBox="1"/>
          <p:nvPr/>
        </p:nvSpPr>
        <p:spPr>
          <a:xfrm>
            <a:off x="7406640" y="6675120"/>
            <a:ext cx="5303520" cy="100584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Habitual dark-mode preference, daily screen exposure, usual lighting environment and digital literacy change the size of these effects.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04 · METHODS &amp; METHODOLOGY</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The design in one picture</a:t>
            </a:r>
            <a:endParaRPr lang="en-US" sz="3400" dirty="0"/>
          </a:p>
        </p:txBody>
      </p:sp>
      <p:sp>
        <p:nvSpPr>
          <p:cNvPr id="4" name="Shape 2"/>
          <p:cNvSpPr/>
          <p:nvPr/>
        </p:nvSpPr>
        <p:spPr>
          <a:xfrm>
            <a:off x="640080" y="2057400"/>
            <a:ext cx="2962656" cy="1170432"/>
          </a:xfrm>
          <a:prstGeom prst="roundRect">
            <a:avLst>
              <a:gd name="adj" fmla="val 7031"/>
            </a:avLst>
          </a:prstGeom>
          <a:solidFill>
            <a:srgbClr val="FFFFFF"/>
          </a:solidFill>
          <a:ln w="12700">
            <a:solidFill>
              <a:srgbClr val="FFFFFF"/>
            </a:solidFill>
            <a:prstDash val="solid"/>
          </a:ln>
          <a:effectLst>
            <a:outerShdw sx="100000" sy="100000" kx="0" ky="0" algn="bl" rotWithShape="0" blurRad="127000" dist="25400" dir="5400000">
              <a:srgbClr val="9C99B5">
                <a:alpha val="22000"/>
              </a:srgbClr>
            </a:outerShdw>
          </a:effectLst>
        </p:spPr>
      </p:sp>
      <p:sp>
        <p:nvSpPr>
          <p:cNvPr id="5" name="Shape 3"/>
          <p:cNvSpPr/>
          <p:nvPr/>
        </p:nvSpPr>
        <p:spPr>
          <a:xfrm>
            <a:off x="640080" y="2057400"/>
            <a:ext cx="2962656" cy="1170432"/>
          </a:xfrm>
          <a:prstGeom prst="roundRect">
            <a:avLst>
              <a:gd name="adj" fmla="val 7031"/>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6" name="Text 4"/>
          <p:cNvSpPr txBox="1"/>
          <p:nvPr/>
        </p:nvSpPr>
        <p:spPr>
          <a:xfrm>
            <a:off x="822960" y="2194560"/>
            <a:ext cx="2596896" cy="530352"/>
          </a:xfrm>
          <a:prstGeom prst="rect">
            <a:avLst/>
          </a:prstGeom>
          <a:noFill/>
          <a:ln/>
        </p:spPr>
        <p:txBody>
          <a:bodyPr wrap="square" lIns="0" tIns="0" rIns="0" bIns="0" rtlCol="0" anchor="ctr"/>
          <a:lstStyle/>
          <a:p>
            <a:pPr algn="ctr" indent="0" marL="0">
              <a:buNone/>
            </a:pPr>
            <a:r>
              <a:rPr lang="en-US" sz="2800" b="1" dirty="0">
                <a:solidFill>
                  <a:srgbClr val="37306F"/>
                </a:solidFill>
                <a:latin typeface="Cambria" pitchFamily="34" charset="0"/>
                <a:ea typeface="Cambria" pitchFamily="34" charset="-122"/>
                <a:cs typeface="Cambria" pitchFamily="34" charset="-120"/>
              </a:rPr>
              <a:t>2 × 5</a:t>
            </a:r>
            <a:endParaRPr lang="en-US" sz="2800" dirty="0"/>
          </a:p>
        </p:txBody>
      </p:sp>
      <p:sp>
        <p:nvSpPr>
          <p:cNvPr id="7" name="Text 5"/>
          <p:cNvSpPr txBox="1"/>
          <p:nvPr/>
        </p:nvSpPr>
        <p:spPr>
          <a:xfrm>
            <a:off x="822960" y="2743200"/>
            <a:ext cx="2596896" cy="347472"/>
          </a:xfrm>
          <a:prstGeom prst="rect">
            <a:avLst/>
          </a:prstGeom>
          <a:noFill/>
          <a:ln/>
        </p:spPr>
        <p:txBody>
          <a:bodyPr wrap="square" lIns="0" tIns="0" rIns="0" bIns="0" rtlCol="0" anchor="ctr"/>
          <a:lstStyle/>
          <a:p>
            <a:pPr algn="ctr" indent="0" marL="0">
              <a:buNone/>
            </a:pPr>
            <a:r>
              <a:rPr lang="en-US" sz="1350" dirty="0">
                <a:solidFill>
                  <a:srgbClr val="6E6B87"/>
                </a:solidFill>
                <a:latin typeface="Calibri" pitchFamily="34" charset="0"/>
                <a:ea typeface="Calibri" pitchFamily="34" charset="-122"/>
                <a:cs typeface="Calibri" pitchFamily="34" charset="-120"/>
              </a:rPr>
              <a:t>10 display conditions</a:t>
            </a:r>
            <a:endParaRPr lang="en-US" sz="1350" dirty="0"/>
          </a:p>
        </p:txBody>
      </p:sp>
      <p:sp>
        <p:nvSpPr>
          <p:cNvPr id="8" name="Shape 6"/>
          <p:cNvSpPr/>
          <p:nvPr/>
        </p:nvSpPr>
        <p:spPr>
          <a:xfrm>
            <a:off x="3785616" y="2057400"/>
            <a:ext cx="2962656" cy="1170432"/>
          </a:xfrm>
          <a:prstGeom prst="roundRect">
            <a:avLst>
              <a:gd name="adj" fmla="val 7031"/>
            </a:avLst>
          </a:prstGeom>
          <a:solidFill>
            <a:srgbClr val="FFFFFF"/>
          </a:solidFill>
          <a:ln w="12700">
            <a:solidFill>
              <a:srgbClr val="FFFFFF"/>
            </a:solidFill>
            <a:prstDash val="solid"/>
          </a:ln>
          <a:effectLst>
            <a:outerShdw sx="100000" sy="100000" kx="0" ky="0" algn="bl" rotWithShape="0" blurRad="127000" dist="25400" dir="5400000">
              <a:srgbClr val="9C99B5">
                <a:alpha val="22000"/>
              </a:srgbClr>
            </a:outerShdw>
          </a:effectLst>
        </p:spPr>
      </p:sp>
      <p:sp>
        <p:nvSpPr>
          <p:cNvPr id="9" name="Shape 7"/>
          <p:cNvSpPr/>
          <p:nvPr/>
        </p:nvSpPr>
        <p:spPr>
          <a:xfrm>
            <a:off x="3785616" y="2057400"/>
            <a:ext cx="2962656" cy="1170432"/>
          </a:xfrm>
          <a:prstGeom prst="roundRect">
            <a:avLst>
              <a:gd name="adj" fmla="val 7031"/>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0" name="Text 8"/>
          <p:cNvSpPr txBox="1"/>
          <p:nvPr/>
        </p:nvSpPr>
        <p:spPr>
          <a:xfrm>
            <a:off x="3968496" y="2194560"/>
            <a:ext cx="2596896" cy="530352"/>
          </a:xfrm>
          <a:prstGeom prst="rect">
            <a:avLst/>
          </a:prstGeom>
          <a:noFill/>
          <a:ln/>
        </p:spPr>
        <p:txBody>
          <a:bodyPr wrap="square" lIns="0" tIns="0" rIns="0" bIns="0" rtlCol="0" anchor="ctr"/>
          <a:lstStyle/>
          <a:p>
            <a:pPr algn="ctr" indent="0" marL="0">
              <a:buNone/>
            </a:pPr>
            <a:r>
              <a:rPr lang="en-US" sz="2800" b="1" dirty="0">
                <a:solidFill>
                  <a:srgbClr val="37306F"/>
                </a:solidFill>
                <a:latin typeface="Cambria" pitchFamily="34" charset="0"/>
                <a:ea typeface="Cambria" pitchFamily="34" charset="-122"/>
                <a:cs typeface="Cambria" pitchFamily="34" charset="-120"/>
              </a:rPr>
              <a:t>1 sitting</a:t>
            </a:r>
            <a:endParaRPr lang="en-US" sz="2800" dirty="0"/>
          </a:p>
        </p:txBody>
      </p:sp>
      <p:sp>
        <p:nvSpPr>
          <p:cNvPr id="11" name="Text 9"/>
          <p:cNvSpPr txBox="1"/>
          <p:nvPr/>
        </p:nvSpPr>
        <p:spPr>
          <a:xfrm>
            <a:off x="3968496" y="2743200"/>
            <a:ext cx="2596896" cy="347472"/>
          </a:xfrm>
          <a:prstGeom prst="rect">
            <a:avLst/>
          </a:prstGeom>
          <a:noFill/>
          <a:ln/>
        </p:spPr>
        <p:txBody>
          <a:bodyPr wrap="square" lIns="0" tIns="0" rIns="0" bIns="0" rtlCol="0" anchor="ctr"/>
          <a:lstStyle/>
          <a:p>
            <a:pPr algn="ctr" indent="0" marL="0">
              <a:buNone/>
            </a:pPr>
            <a:r>
              <a:rPr lang="en-US" sz="1350" dirty="0">
                <a:solidFill>
                  <a:srgbClr val="6E6B87"/>
                </a:solidFill>
                <a:latin typeface="Calibri" pitchFamily="34" charset="0"/>
                <a:ea typeface="Calibri" pitchFamily="34" charset="-122"/>
                <a:cs typeface="Calibri" pitchFamily="34" charset="-120"/>
              </a:rPr>
              <a:t>≈ 98 min, one visit</a:t>
            </a:r>
            <a:endParaRPr lang="en-US" sz="1350" dirty="0"/>
          </a:p>
        </p:txBody>
      </p:sp>
      <p:sp>
        <p:nvSpPr>
          <p:cNvPr id="12" name="Shape 10"/>
          <p:cNvSpPr/>
          <p:nvPr/>
        </p:nvSpPr>
        <p:spPr>
          <a:xfrm>
            <a:off x="6931152" y="2057400"/>
            <a:ext cx="2962656" cy="1170432"/>
          </a:xfrm>
          <a:prstGeom prst="roundRect">
            <a:avLst>
              <a:gd name="adj" fmla="val 7031"/>
            </a:avLst>
          </a:prstGeom>
          <a:solidFill>
            <a:srgbClr val="FFFFFF"/>
          </a:solidFill>
          <a:ln w="12700">
            <a:solidFill>
              <a:srgbClr val="FFFFFF"/>
            </a:solidFill>
            <a:prstDash val="solid"/>
          </a:ln>
          <a:effectLst>
            <a:outerShdw sx="100000" sy="100000" kx="0" ky="0" algn="bl" rotWithShape="0" blurRad="127000" dist="25400" dir="5400000">
              <a:srgbClr val="9C99B5">
                <a:alpha val="22000"/>
              </a:srgbClr>
            </a:outerShdw>
          </a:effectLst>
        </p:spPr>
      </p:sp>
      <p:sp>
        <p:nvSpPr>
          <p:cNvPr id="13" name="Shape 11"/>
          <p:cNvSpPr/>
          <p:nvPr/>
        </p:nvSpPr>
        <p:spPr>
          <a:xfrm>
            <a:off x="6931152" y="2057400"/>
            <a:ext cx="2962656" cy="1170432"/>
          </a:xfrm>
          <a:prstGeom prst="roundRect">
            <a:avLst>
              <a:gd name="adj" fmla="val 7031"/>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4" name="Text 12"/>
          <p:cNvSpPr txBox="1"/>
          <p:nvPr/>
        </p:nvSpPr>
        <p:spPr>
          <a:xfrm>
            <a:off x="7114032" y="2194560"/>
            <a:ext cx="2596896" cy="530352"/>
          </a:xfrm>
          <a:prstGeom prst="rect">
            <a:avLst/>
          </a:prstGeom>
          <a:noFill/>
          <a:ln/>
        </p:spPr>
        <p:txBody>
          <a:bodyPr wrap="square" lIns="0" tIns="0" rIns="0" bIns="0" rtlCol="0" anchor="ctr"/>
          <a:lstStyle/>
          <a:p>
            <a:pPr algn="ctr" indent="0" marL="0">
              <a:buNone/>
            </a:pPr>
            <a:r>
              <a:rPr lang="en-US" sz="2800" b="1" dirty="0">
                <a:solidFill>
                  <a:srgbClr val="37306F"/>
                </a:solidFill>
                <a:latin typeface="Cambria" pitchFamily="34" charset="0"/>
                <a:ea typeface="Cambria" pitchFamily="34" charset="-122"/>
                <a:cs typeface="Cambria" pitchFamily="34" charset="-120"/>
              </a:rPr>
              <a:t>300 lux</a:t>
            </a:r>
            <a:endParaRPr lang="en-US" sz="2800" dirty="0"/>
          </a:p>
        </p:txBody>
      </p:sp>
      <p:sp>
        <p:nvSpPr>
          <p:cNvPr id="15" name="Text 13"/>
          <p:cNvSpPr txBox="1"/>
          <p:nvPr/>
        </p:nvSpPr>
        <p:spPr>
          <a:xfrm>
            <a:off x="7114032" y="2743200"/>
            <a:ext cx="2596896" cy="347472"/>
          </a:xfrm>
          <a:prstGeom prst="rect">
            <a:avLst/>
          </a:prstGeom>
          <a:noFill/>
          <a:ln/>
        </p:spPr>
        <p:txBody>
          <a:bodyPr wrap="square" lIns="0" tIns="0" rIns="0" bIns="0" rtlCol="0" anchor="ctr"/>
          <a:lstStyle/>
          <a:p>
            <a:pPr algn="ctr" indent="0" marL="0">
              <a:buNone/>
            </a:pPr>
            <a:r>
              <a:rPr lang="en-US" sz="1350" dirty="0">
                <a:solidFill>
                  <a:srgbClr val="6E6B87"/>
                </a:solidFill>
                <a:latin typeface="Calibri" pitchFamily="34" charset="0"/>
                <a:ea typeface="Calibri" pitchFamily="34" charset="-122"/>
                <a:cs typeface="Calibri" pitchFamily="34" charset="-120"/>
              </a:rPr>
              <a:t>room light held constant</a:t>
            </a:r>
            <a:endParaRPr lang="en-US" sz="1350" dirty="0"/>
          </a:p>
        </p:txBody>
      </p:sp>
      <p:sp>
        <p:nvSpPr>
          <p:cNvPr id="16" name="Shape 14"/>
          <p:cNvSpPr/>
          <p:nvPr/>
        </p:nvSpPr>
        <p:spPr>
          <a:xfrm>
            <a:off x="10076688" y="2057400"/>
            <a:ext cx="2962656" cy="1170432"/>
          </a:xfrm>
          <a:prstGeom prst="roundRect">
            <a:avLst>
              <a:gd name="adj" fmla="val 7031"/>
            </a:avLst>
          </a:prstGeom>
          <a:solidFill>
            <a:srgbClr val="FFFFFF"/>
          </a:solidFill>
          <a:ln w="12700">
            <a:solidFill>
              <a:srgbClr val="FFFFFF"/>
            </a:solidFill>
            <a:prstDash val="solid"/>
          </a:ln>
          <a:effectLst>
            <a:outerShdw sx="100000" sy="100000" kx="0" ky="0" algn="bl" rotWithShape="0" blurRad="127000" dist="25400" dir="5400000">
              <a:srgbClr val="9C99B5">
                <a:alpha val="22000"/>
              </a:srgbClr>
            </a:outerShdw>
          </a:effectLst>
        </p:spPr>
      </p:sp>
      <p:sp>
        <p:nvSpPr>
          <p:cNvPr id="17" name="Shape 15"/>
          <p:cNvSpPr/>
          <p:nvPr/>
        </p:nvSpPr>
        <p:spPr>
          <a:xfrm>
            <a:off x="10076688" y="2057400"/>
            <a:ext cx="2962656" cy="1170432"/>
          </a:xfrm>
          <a:prstGeom prst="roundRect">
            <a:avLst>
              <a:gd name="adj" fmla="val 7031"/>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8" name="Text 16"/>
          <p:cNvSpPr txBox="1"/>
          <p:nvPr/>
        </p:nvSpPr>
        <p:spPr>
          <a:xfrm>
            <a:off x="10259568" y="2194560"/>
            <a:ext cx="2596896" cy="530352"/>
          </a:xfrm>
          <a:prstGeom prst="rect">
            <a:avLst/>
          </a:prstGeom>
          <a:noFill/>
          <a:ln/>
        </p:spPr>
        <p:txBody>
          <a:bodyPr wrap="square" lIns="0" tIns="0" rIns="0" bIns="0" rtlCol="0" anchor="ctr"/>
          <a:lstStyle/>
          <a:p>
            <a:pPr algn="ctr" indent="0" marL="0">
              <a:buNone/>
            </a:pPr>
            <a:r>
              <a:rPr lang="en-US" sz="2800" b="1" dirty="0">
                <a:solidFill>
                  <a:srgbClr val="37306F"/>
                </a:solidFill>
                <a:latin typeface="Cambria" pitchFamily="34" charset="0"/>
                <a:ea typeface="Cambria" pitchFamily="34" charset="-122"/>
                <a:cs typeface="Cambria" pitchFamily="34" charset="-120"/>
              </a:rPr>
              <a:t>1,300</a:t>
            </a:r>
            <a:endParaRPr lang="en-US" sz="2800" dirty="0"/>
          </a:p>
        </p:txBody>
      </p:sp>
      <p:sp>
        <p:nvSpPr>
          <p:cNvPr id="19" name="Text 17"/>
          <p:cNvSpPr txBox="1"/>
          <p:nvPr/>
        </p:nvSpPr>
        <p:spPr>
          <a:xfrm>
            <a:off x="10259568" y="2743200"/>
            <a:ext cx="2596896" cy="347472"/>
          </a:xfrm>
          <a:prstGeom prst="rect">
            <a:avLst/>
          </a:prstGeom>
          <a:noFill/>
          <a:ln/>
        </p:spPr>
        <p:txBody>
          <a:bodyPr wrap="square" lIns="0" tIns="0" rIns="0" bIns="0" rtlCol="0" anchor="ctr"/>
          <a:lstStyle/>
          <a:p>
            <a:pPr algn="ctr" indent="0" marL="0">
              <a:buNone/>
            </a:pPr>
            <a:r>
              <a:rPr lang="en-US" sz="1350" dirty="0">
                <a:solidFill>
                  <a:srgbClr val="6E6B87"/>
                </a:solidFill>
                <a:latin typeface="Calibri" pitchFamily="34" charset="0"/>
                <a:ea typeface="Calibri" pitchFamily="34" charset="-122"/>
                <a:cs typeface="Calibri" pitchFamily="34" charset="-120"/>
              </a:rPr>
              <a:t>condition-runs in total</a:t>
            </a:r>
            <a:endParaRPr lang="en-US" sz="1350" dirty="0"/>
          </a:p>
        </p:txBody>
      </p:sp>
      <p:pic>
        <p:nvPicPr>
          <p:cNvPr id="20" name="Image 0" descr="/home/user/PhD-PWA/synopsis/figures/fig_design.png">    </p:cNvPr>
          <p:cNvPicPr>
            <a:picLocks noChangeAspect="1"/>
          </p:cNvPicPr>
          <p:nvPr/>
        </p:nvPicPr>
        <p:blipFill>
          <a:blip r:embed="rId1"/>
          <a:stretch>
            <a:fillRect/>
          </a:stretch>
        </p:blipFill>
        <p:spPr>
          <a:xfrm>
            <a:off x="640080" y="3520440"/>
            <a:ext cx="12435840" cy="491032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04 · METHODS &amp; METHODOLOGY</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Ten conditions — where the arithmetic does the work</a:t>
            </a:r>
            <a:endParaRPr lang="en-US" sz="3400" dirty="0"/>
          </a:p>
        </p:txBody>
      </p:sp>
      <p:pic>
        <p:nvPicPr>
          <p:cNvPr id="4" name="Image 0" descr="/home/user/PhD-PWA/synopsis/figures/fig_contrast_curve.png">    </p:cNvPr>
          <p:cNvPicPr>
            <a:picLocks noChangeAspect="1"/>
          </p:cNvPicPr>
          <p:nvPr/>
        </p:nvPicPr>
        <p:blipFill>
          <a:blip r:embed="rId1"/>
          <a:stretch>
            <a:fillRect/>
          </a:stretch>
        </p:blipFill>
        <p:spPr>
          <a:xfrm>
            <a:off x="640080" y="2103120"/>
            <a:ext cx="6675120" cy="398678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0" y="2103120"/>
          <a:ext cx="5303520" cy="914400"/>
        </p:xfrm>
        <a:graphic>
          <a:graphicData uri="http://schemas.openxmlformats.org/drawingml/2006/table">
            <a:tbl>
              <a:tblPr/>
              <a:tblGrid>
                <a:gridCol w="868680"/>
                <a:gridCol w="1417320"/>
                <a:gridCol w="1600200"/>
                <a:gridCol w="1417320"/>
              </a:tblGrid>
              <a:tr h="352044">
                <a:tc>
                  <a:txBody>
                    <a:bodyPr/>
                    <a:lstStyle/>
                    <a:p>
                      <a:pPr algn="ctr" indent="0" marL="0">
                        <a:buNone/>
                      </a:pPr>
                      <a:r>
                        <a:rPr lang="en-US" sz="1300" b="1" dirty="0">
                          <a:solidFill>
                            <a:srgbClr val="37306F"/>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3F2F8"/>
                    </a:solidFill>
                  </a:tcPr>
                </a:tc>
                <a:tc>
                  <a:txBody>
                    <a:bodyPr/>
                    <a:lstStyle/>
                    <a:p>
                      <a:pPr algn="l" indent="0" marL="0">
                        <a:buNone/>
                      </a:pPr>
                      <a:r>
                        <a:rPr lang="en-US" sz="1300" b="1" dirty="0">
                          <a:solidFill>
                            <a:srgbClr val="37306F"/>
                          </a:solidFill>
                          <a:latin typeface="Calibri" pitchFamily="34" charset="0"/>
                          <a:ea typeface="Calibri" pitchFamily="34" charset="-122"/>
                          <a:cs typeface="Calibri" pitchFamily="34" charset="-120"/>
                        </a:rPr>
                        <a:t>Text</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3F2F8"/>
                    </a:solidFill>
                  </a:tcPr>
                </a:tc>
                <a:tc>
                  <a:txBody>
                    <a:bodyPr/>
                    <a:lstStyle/>
                    <a:p>
                      <a:pPr algn="l" indent="0" marL="0">
                        <a:buNone/>
                      </a:pPr>
                      <a:r>
                        <a:rPr lang="en-US" sz="1300" b="1" dirty="0">
                          <a:solidFill>
                            <a:srgbClr val="37306F"/>
                          </a:solidFill>
                          <a:latin typeface="Calibri" pitchFamily="34" charset="0"/>
                          <a:ea typeface="Calibri" pitchFamily="34" charset="-122"/>
                          <a:cs typeface="Calibri" pitchFamily="34" charset="-120"/>
                        </a:rPr>
                        <a:t>Background</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3F2F8"/>
                    </a:solidFill>
                  </a:tcPr>
                </a:tc>
                <a:tc>
                  <a:txBody>
                    <a:bodyPr/>
                    <a:lstStyle/>
                    <a:p>
                      <a:pPr algn="ctr" indent="0" marL="0">
                        <a:buNone/>
                      </a:pPr>
                      <a:r>
                        <a:rPr lang="en-US" sz="1300" b="1" dirty="0">
                          <a:solidFill>
                            <a:srgbClr val="37306F"/>
                          </a:solidFill>
                          <a:latin typeface="Calibri" pitchFamily="34" charset="0"/>
                          <a:ea typeface="Calibri" pitchFamily="34" charset="-122"/>
                          <a:cs typeface="Calibri" pitchFamily="34" charset="-120"/>
                        </a:rPr>
                        <a:t>Contrast</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3F2F8"/>
                    </a:solidFill>
                  </a:tcPr>
                </a:tc>
              </a:tr>
              <a:tr h="352044">
                <a:tc>
                  <a:txBody>
                    <a:bodyPr/>
                    <a:lstStyle/>
                    <a:p>
                      <a:pPr algn="ctr" indent="0" marL="0">
                        <a:buNone/>
                      </a:pPr>
                      <a:r>
                        <a:rPr lang="en-US" sz="1300" b="1" dirty="0">
                          <a:solidFill>
                            <a:srgbClr val="1E1B36"/>
                          </a:solidFill>
                          <a:latin typeface="Calibri" pitchFamily="34" charset="0"/>
                          <a:ea typeface="Calibri" pitchFamily="34" charset="-122"/>
                          <a:cs typeface="Calibri" pitchFamily="34" charset="-120"/>
                        </a:rPr>
                        <a:t>P1</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8DA"/>
                    </a:solidFill>
                  </a:tcPr>
                </a:tc>
                <a:tc>
                  <a:txBody>
                    <a:bodyPr/>
                    <a:lstStyle/>
                    <a:p>
                      <a:pPr algn="l" indent="0" marL="0">
                        <a:buNone/>
                      </a:pPr>
                      <a:r>
                        <a:rPr lang="en-US" sz="1300" b="1" dirty="0">
                          <a:solidFill>
                            <a:srgbClr val="1E1B36"/>
                          </a:solidFill>
                          <a:latin typeface="Calibri" pitchFamily="34" charset="0"/>
                          <a:ea typeface="Calibri" pitchFamily="34" charset="-122"/>
                          <a:cs typeface="Calibri" pitchFamily="34" charset="-120"/>
                        </a:rPr>
                        <a:t>Black</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8DA"/>
                    </a:solidFill>
                  </a:tcPr>
                </a:tc>
                <a:tc>
                  <a:txBody>
                    <a:bodyPr/>
                    <a:lstStyle/>
                    <a:p>
                      <a:pPr algn="l" indent="0" marL="0">
                        <a:buNone/>
                      </a:pPr>
                      <a:r>
                        <a:rPr lang="en-US" sz="1300" b="1" dirty="0">
                          <a:solidFill>
                            <a:srgbClr val="1E1B36"/>
                          </a:solidFill>
                          <a:latin typeface="Calibri" pitchFamily="34" charset="0"/>
                          <a:ea typeface="Calibri" pitchFamily="34" charset="-122"/>
                          <a:cs typeface="Calibri" pitchFamily="34" charset="-120"/>
                        </a:rPr>
                        <a:t>White</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8DA"/>
                    </a:solidFill>
                  </a:tcPr>
                </a:tc>
                <a:tc>
                  <a:txBody>
                    <a:bodyPr/>
                    <a:lstStyle/>
                    <a:p>
                      <a:pPr algn="ctr" indent="0" marL="0">
                        <a:buNone/>
                      </a:pPr>
                      <a:r>
                        <a:rPr lang="en-US" sz="1300" b="1" dirty="0">
                          <a:solidFill>
                            <a:srgbClr val="1E1B36"/>
                          </a:solidFill>
                          <a:latin typeface="Calibri" pitchFamily="34" charset="0"/>
                          <a:ea typeface="Calibri" pitchFamily="34" charset="-122"/>
                          <a:cs typeface="Calibri" pitchFamily="34" charset="-120"/>
                        </a:rPr>
                        <a:t>21.00 : 1</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8DA"/>
                    </a:solidFill>
                  </a:tcPr>
                </a:tc>
              </a:tr>
              <a:tr h="352044">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P2</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Blue</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White</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6.70 : 1</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352044">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P3</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Red</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White</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5.74 : 1</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352044">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P4</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Yellow</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White</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2.39 : 1</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352044">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P5</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Green</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White</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3.19 : 1</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352044">
                <a:tc>
                  <a:txBody>
                    <a:bodyPr/>
                    <a:lstStyle/>
                    <a:p>
                      <a:pPr algn="ctr" indent="0" marL="0">
                        <a:buNone/>
                      </a:pPr>
                      <a:r>
                        <a:rPr lang="en-US" sz="1300" b="1" dirty="0">
                          <a:solidFill>
                            <a:srgbClr val="1E1B36"/>
                          </a:solidFill>
                          <a:latin typeface="Calibri" pitchFamily="34" charset="0"/>
                          <a:ea typeface="Calibri" pitchFamily="34" charset="-122"/>
                          <a:cs typeface="Calibri" pitchFamily="34" charset="-120"/>
                        </a:rPr>
                        <a:t>N1</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8DA"/>
                    </a:solidFill>
                  </a:tcPr>
                </a:tc>
                <a:tc>
                  <a:txBody>
                    <a:bodyPr/>
                    <a:lstStyle/>
                    <a:p>
                      <a:pPr algn="l" indent="0" marL="0">
                        <a:buNone/>
                      </a:pPr>
                      <a:r>
                        <a:rPr lang="en-US" sz="1300" b="1" dirty="0">
                          <a:solidFill>
                            <a:srgbClr val="1E1B36"/>
                          </a:solidFill>
                          <a:latin typeface="Calibri" pitchFamily="34" charset="0"/>
                          <a:ea typeface="Calibri" pitchFamily="34" charset="-122"/>
                          <a:cs typeface="Calibri" pitchFamily="34" charset="-120"/>
                        </a:rPr>
                        <a:t>White</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8DA"/>
                    </a:solidFill>
                  </a:tcPr>
                </a:tc>
                <a:tc>
                  <a:txBody>
                    <a:bodyPr/>
                    <a:lstStyle/>
                    <a:p>
                      <a:pPr algn="l" indent="0" marL="0">
                        <a:buNone/>
                      </a:pPr>
                      <a:r>
                        <a:rPr lang="en-US" sz="1300" b="1" dirty="0">
                          <a:solidFill>
                            <a:srgbClr val="1E1B36"/>
                          </a:solidFill>
                          <a:latin typeface="Calibri" pitchFamily="34" charset="0"/>
                          <a:ea typeface="Calibri" pitchFamily="34" charset="-122"/>
                          <a:cs typeface="Calibri" pitchFamily="34" charset="-120"/>
                        </a:rPr>
                        <a:t>Black</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8DA"/>
                    </a:solidFill>
                  </a:tcPr>
                </a:tc>
                <a:tc>
                  <a:txBody>
                    <a:bodyPr/>
                    <a:lstStyle/>
                    <a:p>
                      <a:pPr algn="ctr" indent="0" marL="0">
                        <a:buNone/>
                      </a:pPr>
                      <a:r>
                        <a:rPr lang="en-US" sz="1300" b="1" dirty="0">
                          <a:solidFill>
                            <a:srgbClr val="1E1B36"/>
                          </a:solidFill>
                          <a:latin typeface="Calibri" pitchFamily="34" charset="0"/>
                          <a:ea typeface="Calibri" pitchFamily="34" charset="-122"/>
                          <a:cs typeface="Calibri" pitchFamily="34" charset="-120"/>
                        </a:rPr>
                        <a:t>21.00 : 1</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8DA"/>
                    </a:solidFill>
                  </a:tcPr>
                </a:tc>
              </a:tr>
              <a:tr h="352044">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N2</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Blue</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Black</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3.14 : 1</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352044">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N3</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Red</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Black</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3.66 : 1</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352044">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N4</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Yellow</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Black</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8.79 : 1</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r h="352044">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N5</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Green</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1B36"/>
                          </a:solidFill>
                          <a:latin typeface="Calibri" pitchFamily="34" charset="0"/>
                          <a:ea typeface="Calibri" pitchFamily="34" charset="-122"/>
                          <a:cs typeface="Calibri" pitchFamily="34" charset="-120"/>
                        </a:rPr>
                        <a:t>Black</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1B36"/>
                          </a:solidFill>
                          <a:latin typeface="Calibri" pitchFamily="34" charset="0"/>
                          <a:ea typeface="Calibri" pitchFamily="34" charset="-122"/>
                          <a:cs typeface="Calibri" pitchFamily="34" charset="-120"/>
                        </a:rPr>
                        <a:t>6.57 : 1</a:t>
                      </a:r>
                      <a:endParaRPr lang="en-US" sz="1300" dirty="0">
                        <a:latin typeface="Calibri" charset="0"/>
                        <a:ea typeface="Calibri" charset="0"/>
                        <a:cs typeface="Calibri" charset="0"/>
                      </a:endParaRPr>
                    </a:p>
                  </a:txBody>
                  <a:tcPr marL="54864" marR="54864" marT="54864" marB="54864" anchor="ctr">
                    <a:lnL w="9525" cap="flat" cmpd="sng" algn="ctr">
                      <a:solidFill>
                        <a:srgbClr val="DCDAE8"/>
                      </a:solidFill>
                      <a:prstDash val="solid"/>
                      <a:round/>
                      <a:headEnd type="none" w="med" len="med"/>
                      <a:tailEnd type="none" w="med" len="med"/>
                    </a:lnL>
                    <a:lnR w="9525" cap="flat" cmpd="sng" algn="ctr">
                      <a:solidFill>
                        <a:srgbClr val="DCDAE8"/>
                      </a:solidFill>
                      <a:prstDash val="solid"/>
                      <a:round/>
                      <a:headEnd type="none" w="med" len="med"/>
                      <a:tailEnd type="none" w="med" len="med"/>
                    </a:lnR>
                    <a:lnT w="9525" cap="flat" cmpd="sng" algn="ctr">
                      <a:solidFill>
                        <a:srgbClr val="DCDAE8"/>
                      </a:solidFill>
                      <a:prstDash val="solid"/>
                      <a:round/>
                      <a:headEnd type="none" w="med" len="med"/>
                      <a:tailEnd type="none" w="med" len="med"/>
                    </a:lnT>
                    <a:lnB w="9525" cap="flat" cmpd="sng" algn="ctr">
                      <a:solidFill>
                        <a:srgbClr val="DCDAE8"/>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772400" y="6144768"/>
            <a:ext cx="5303520" cy="274320"/>
          </a:xfrm>
          <a:prstGeom prst="rect">
            <a:avLst/>
          </a:prstGeom>
          <a:noFill/>
          <a:ln/>
        </p:spPr>
        <p:txBody>
          <a:bodyPr wrap="square" lIns="0" tIns="0" rIns="0" bIns="0" rtlCol="0" anchor="ctr"/>
          <a:lstStyle/>
          <a:p>
            <a:pPr indent="0" marL="0">
              <a:buNone/>
            </a:pPr>
            <a:r>
              <a:rPr lang="en-US" sz="1300" i="1" dirty="0">
                <a:solidFill>
                  <a:srgbClr val="6E6B87"/>
                </a:solidFill>
                <a:latin typeface="Calibri" pitchFamily="34" charset="0"/>
                <a:ea typeface="Calibri" pitchFamily="34" charset="-122"/>
                <a:cs typeface="Calibri" pitchFamily="34" charset="-120"/>
              </a:rPr>
              <a:t>The two highlighted rows are the achromatic anchor.</a:t>
            </a:r>
            <a:endParaRPr lang="en-US" sz="1300" dirty="0"/>
          </a:p>
        </p:txBody>
      </p:sp>
      <p:sp>
        <p:nvSpPr>
          <p:cNvPr id="7" name="Shape 3"/>
          <p:cNvSpPr/>
          <p:nvPr/>
        </p:nvSpPr>
        <p:spPr>
          <a:xfrm>
            <a:off x="640080" y="6656832"/>
            <a:ext cx="12435840" cy="1627632"/>
          </a:xfrm>
          <a:prstGeom prst="roundRect">
            <a:avLst>
              <a:gd name="adj" fmla="val 5056"/>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8" name="Text 4"/>
          <p:cNvSpPr txBox="1"/>
          <p:nvPr/>
        </p:nvSpPr>
        <p:spPr>
          <a:xfrm>
            <a:off x="1005840" y="6839712"/>
            <a:ext cx="11704320" cy="1280160"/>
          </a:xfrm>
          <a:prstGeom prst="rect">
            <a:avLst/>
          </a:prstGeom>
          <a:noFill/>
          <a:ln/>
        </p:spPr>
        <p:txBody>
          <a:bodyPr wrap="square" lIns="0" tIns="0" rIns="0" bIns="0" rtlCol="0" anchor="t"/>
          <a:lstStyle/>
          <a:p>
            <a:pPr indent="0" marL="0">
              <a:lnSpc>
                <a:spcPts val="2200"/>
              </a:lnSpc>
              <a:buNone/>
            </a:pPr>
            <a:r>
              <a:rPr lang="en-US" sz="1500" b="1" dirty="0">
                <a:solidFill>
                  <a:srgbClr val="37306F"/>
                </a:solidFill>
                <a:latin typeface="Calibri" pitchFamily="34" charset="0"/>
                <a:ea typeface="Calibri" pitchFamily="34" charset="-122"/>
                <a:cs typeface="Calibri" pitchFamily="34" charset="-120"/>
              </a:rPr>
              <a:t>Contrast on white falls as the text gets lighter; contrast on black rises. </a:t>
            </a:r>
            <a:pPr indent="0" marL="0">
              <a:lnSpc>
                <a:spcPts val="2200"/>
              </a:lnSpc>
              <a:buNone/>
            </a:pPr>
            <a:r>
              <a:rPr lang="en-US" sz="1500" dirty="0">
                <a:solidFill>
                  <a:srgbClr val="1E1B36"/>
                </a:solidFill>
                <a:latin typeface="Calibri" pitchFamily="34" charset="0"/>
                <a:ea typeface="Calibri" pitchFamily="34" charset="-122"/>
                <a:cs typeface="Calibri" pitchFamily="34" charset="-120"/>
              </a:rPr>
              <a:t>So the five colours occupy exactly reversed rank orders in the two polarities — that is arithmetic, not design, and it is what makes contrast separable from hue. Black-on-white and white-on-black are both 21.00 : 1, giving the one comparison in which a polarity effect cannot be blamed on contrast.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04 · METHODS &amp; METHODOLOGY</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Participants, procedure and measures</a:t>
            </a:r>
            <a:endParaRPr lang="en-US" sz="3400" dirty="0"/>
          </a:p>
        </p:txBody>
      </p:sp>
      <p:sp>
        <p:nvSpPr>
          <p:cNvPr id="4" name="Shape 2"/>
          <p:cNvSpPr/>
          <p:nvPr/>
        </p:nvSpPr>
        <p:spPr>
          <a:xfrm>
            <a:off x="640080" y="2103120"/>
            <a:ext cx="3950208" cy="4572000"/>
          </a:xfrm>
          <a:prstGeom prst="roundRect">
            <a:avLst>
              <a:gd name="adj" fmla="val 2083"/>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5" name="Text 3"/>
          <p:cNvSpPr txBox="1"/>
          <p:nvPr/>
        </p:nvSpPr>
        <p:spPr>
          <a:xfrm>
            <a:off x="950976" y="2331720"/>
            <a:ext cx="3383280" cy="384048"/>
          </a:xfrm>
          <a:prstGeom prst="rect">
            <a:avLst/>
          </a:prstGeom>
          <a:noFill/>
          <a:ln/>
        </p:spPr>
        <p:txBody>
          <a:bodyPr wrap="square" lIns="0" tIns="0" rIns="0" bIns="0" rtlCol="0" anchor="ctr"/>
          <a:lstStyle/>
          <a:p>
            <a:pPr indent="0" marL="0">
              <a:buNone/>
            </a:pPr>
            <a:r>
              <a:rPr lang="en-US" sz="2100" b="1" dirty="0">
                <a:solidFill>
                  <a:srgbClr val="37306F"/>
                </a:solidFill>
                <a:latin typeface="Cambria" pitchFamily="34" charset="0"/>
                <a:ea typeface="Cambria" pitchFamily="34" charset="-122"/>
                <a:cs typeface="Cambria" pitchFamily="34" charset="-120"/>
              </a:rPr>
              <a:t>Participants</a:t>
            </a:r>
            <a:endParaRPr lang="en-US" sz="2100" dirty="0"/>
          </a:p>
        </p:txBody>
      </p:sp>
      <p:sp>
        <p:nvSpPr>
          <p:cNvPr id="6" name="Text 4"/>
          <p:cNvSpPr txBox="1"/>
          <p:nvPr/>
        </p:nvSpPr>
        <p:spPr>
          <a:xfrm>
            <a:off x="950976" y="2816352"/>
            <a:ext cx="3328416" cy="3703320"/>
          </a:xfrm>
          <a:prstGeom prst="rect">
            <a:avLst/>
          </a:prstGeom>
          <a:noFill/>
          <a:ln/>
        </p:spPr>
        <p:txBody>
          <a:bodyPr wrap="square" lIns="0" tIns="0" rIns="0" bIns="0" rtlCol="0" anchor="t"/>
          <a:lstStyle/>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145 enrolled · 130 analysed</a:t>
            </a:r>
            <a:endParaRPr lang="en-US" sz="1350" dirty="0"/>
          </a:p>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Adults 18–35, purposive sampling from the university</a:t>
            </a:r>
            <a:endParaRPr lang="en-US" sz="1350" dirty="0"/>
          </a:p>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Acuity 6/6 or better; refractive error within ±3.00 D</a:t>
            </a:r>
            <a:endParaRPr lang="en-US" sz="1350" dirty="0"/>
          </a:p>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Normal colour vision; ≥ 4 h daily screen use</a:t>
            </a:r>
            <a:endParaRPr lang="en-US" sz="1350" dirty="0"/>
          </a:p>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Excluded: binocular vision disorder, ocular or systemic illness, photosensitivity, contact lenses on test day</a:t>
            </a:r>
            <a:endParaRPr lang="en-US" sz="1350" dirty="0"/>
          </a:p>
        </p:txBody>
      </p:sp>
      <p:sp>
        <p:nvSpPr>
          <p:cNvPr id="7" name="Shape 5"/>
          <p:cNvSpPr/>
          <p:nvPr/>
        </p:nvSpPr>
        <p:spPr>
          <a:xfrm>
            <a:off x="4864608" y="2103120"/>
            <a:ext cx="3950208" cy="4572000"/>
          </a:xfrm>
          <a:prstGeom prst="roundRect">
            <a:avLst>
              <a:gd name="adj" fmla="val 2083"/>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8" name="Text 6"/>
          <p:cNvSpPr txBox="1"/>
          <p:nvPr/>
        </p:nvSpPr>
        <p:spPr>
          <a:xfrm>
            <a:off x="5175504" y="2331720"/>
            <a:ext cx="3383280" cy="384048"/>
          </a:xfrm>
          <a:prstGeom prst="rect">
            <a:avLst/>
          </a:prstGeom>
          <a:noFill/>
          <a:ln/>
        </p:spPr>
        <p:txBody>
          <a:bodyPr wrap="square" lIns="0" tIns="0" rIns="0" bIns="0" rtlCol="0" anchor="ctr"/>
          <a:lstStyle/>
          <a:p>
            <a:pPr indent="0" marL="0">
              <a:buNone/>
            </a:pPr>
            <a:r>
              <a:rPr lang="en-US" sz="2100" b="1" dirty="0">
                <a:solidFill>
                  <a:srgbClr val="37306F"/>
                </a:solidFill>
                <a:latin typeface="Cambria" pitchFamily="34" charset="0"/>
                <a:ea typeface="Cambria" pitchFamily="34" charset="-122"/>
                <a:cs typeface="Cambria" pitchFamily="34" charset="-120"/>
              </a:rPr>
              <a:t>One sitting, ten runs</a:t>
            </a:r>
            <a:endParaRPr lang="en-US" sz="2100" dirty="0"/>
          </a:p>
        </p:txBody>
      </p:sp>
      <p:sp>
        <p:nvSpPr>
          <p:cNvPr id="9" name="Text 7"/>
          <p:cNvSpPr txBox="1"/>
          <p:nvPr/>
        </p:nvSpPr>
        <p:spPr>
          <a:xfrm>
            <a:off x="5175504" y="2816352"/>
            <a:ext cx="3328416" cy="3703320"/>
          </a:xfrm>
          <a:prstGeom prst="rect">
            <a:avLst/>
          </a:prstGeom>
          <a:noFill/>
          <a:ln/>
        </p:spPr>
        <p:txBody>
          <a:bodyPr wrap="square" lIns="0" tIns="0" rIns="0" bIns="0" rtlCol="0" anchor="t"/>
          <a:lstStyle/>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Seated 50–60 cm from a single fixed tablet</a:t>
            </a:r>
            <a:endParaRPr lang="en-US" sz="1350" dirty="0"/>
          </a:p>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Room metered at 300 lux (250–350) at start, middle and end</a:t>
            </a:r>
            <a:endParaRPr lang="en-US" sz="1350" dirty="0"/>
          </a:p>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Each run: 60 s grey adaptation → reading → comprehension, comfort and fatigue ratings → visual search → reaction time</a:t>
            </a:r>
            <a:endParaRPr lang="en-US" sz="1350" dirty="0"/>
          </a:p>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Rest after every second condition; no feedback given</a:t>
            </a:r>
            <a:endParaRPr lang="en-US" sz="1350" dirty="0"/>
          </a:p>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CVS-Q repeated and NASA-TLX once at the close</a:t>
            </a:r>
            <a:endParaRPr lang="en-US" sz="1350" dirty="0"/>
          </a:p>
        </p:txBody>
      </p:sp>
      <p:sp>
        <p:nvSpPr>
          <p:cNvPr id="10" name="Shape 8"/>
          <p:cNvSpPr/>
          <p:nvPr/>
        </p:nvSpPr>
        <p:spPr>
          <a:xfrm>
            <a:off x="9089136" y="2103120"/>
            <a:ext cx="3950208" cy="4572000"/>
          </a:xfrm>
          <a:prstGeom prst="roundRect">
            <a:avLst>
              <a:gd name="adj" fmla="val 2083"/>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1" name="Text 9"/>
          <p:cNvSpPr txBox="1"/>
          <p:nvPr/>
        </p:nvSpPr>
        <p:spPr>
          <a:xfrm>
            <a:off x="9400032" y="2331720"/>
            <a:ext cx="3383280" cy="384048"/>
          </a:xfrm>
          <a:prstGeom prst="rect">
            <a:avLst/>
          </a:prstGeom>
          <a:noFill/>
          <a:ln/>
        </p:spPr>
        <p:txBody>
          <a:bodyPr wrap="square" lIns="0" tIns="0" rIns="0" bIns="0" rtlCol="0" anchor="ctr"/>
          <a:lstStyle/>
          <a:p>
            <a:pPr indent="0" marL="0">
              <a:buNone/>
            </a:pPr>
            <a:r>
              <a:rPr lang="en-US" sz="2100" b="1" dirty="0">
                <a:solidFill>
                  <a:srgbClr val="8E2F24"/>
                </a:solidFill>
                <a:latin typeface="Cambria" pitchFamily="34" charset="0"/>
                <a:ea typeface="Cambria" pitchFamily="34" charset="-122"/>
                <a:cs typeface="Cambria" pitchFamily="34" charset="-120"/>
              </a:rPr>
              <a:t>Measures</a:t>
            </a:r>
            <a:endParaRPr lang="en-US" sz="2100" dirty="0"/>
          </a:p>
        </p:txBody>
      </p:sp>
      <p:sp>
        <p:nvSpPr>
          <p:cNvPr id="12" name="Text 10"/>
          <p:cNvSpPr txBox="1"/>
          <p:nvPr/>
        </p:nvSpPr>
        <p:spPr>
          <a:xfrm>
            <a:off x="9400032" y="2816352"/>
            <a:ext cx="3328416" cy="3703320"/>
          </a:xfrm>
          <a:prstGeom prst="rect">
            <a:avLst/>
          </a:prstGeom>
          <a:noFill/>
          <a:ln/>
        </p:spPr>
        <p:txBody>
          <a:bodyPr wrap="square" lIns="0" tIns="0" rIns="0" bIns="0" rtlCol="0" anchor="t"/>
          <a:lstStyle/>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Primary — incomplete-blink ratio, from the tablet camera</a:t>
            </a:r>
            <a:endParaRPr lang="en-US" sz="1350" dirty="0"/>
          </a:p>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Key secondary — change in CVS-Q from baseline</a:t>
            </a:r>
            <a:endParaRPr lang="en-US" sz="1350" dirty="0"/>
          </a:p>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Secondary — blink rate, inter-blink interval, visual-fatigue VAS, comfort and clarity ratings</a:t>
            </a:r>
            <a:endParaRPr lang="en-US" sz="1350" dirty="0"/>
          </a:p>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Performance — reading rate, comprehension, visual search, reaction time and lapses</a:t>
            </a:r>
            <a:endParaRPr lang="en-US" sz="1350" dirty="0"/>
          </a:p>
          <a:p>
            <a:pPr marL="342900" indent="-342900">
              <a:lnSpc>
                <a:spcPts val="1800"/>
              </a:lnSpc>
              <a:spcAft>
                <a:spcPts val="900"/>
              </a:spcAft>
              <a:buSzPct val="100000"/>
              <a:buChar char="•"/>
            </a:pPr>
            <a:r>
              <a:rPr lang="en-US" sz="1350" dirty="0">
                <a:solidFill>
                  <a:srgbClr val="1E1B36"/>
                </a:solidFill>
                <a:latin typeface="Calibri" pitchFamily="34" charset="0"/>
                <a:ea typeface="Calibri" pitchFamily="34" charset="-122"/>
                <a:cs typeface="Calibri" pitchFamily="34" charset="-120"/>
              </a:rPr>
              <a:t>Analysis — binomial mixed-effects model; participant as random intercept</a:t>
            </a:r>
            <a:endParaRPr lang="en-US" sz="1350" dirty="0"/>
          </a:p>
        </p:txBody>
      </p:sp>
      <p:sp>
        <p:nvSpPr>
          <p:cNvPr id="13" name="Shape 11"/>
          <p:cNvSpPr/>
          <p:nvPr/>
        </p:nvSpPr>
        <p:spPr>
          <a:xfrm>
            <a:off x="640080" y="6967728"/>
            <a:ext cx="12435840" cy="1143000"/>
          </a:xfrm>
          <a:prstGeom prst="roundRect">
            <a:avLst>
              <a:gd name="adj" fmla="val 7200"/>
            </a:avLst>
          </a:prstGeom>
          <a:solidFill>
            <a:srgbClr val="FFFFFF"/>
          </a:solidFill>
          <a:ln w="12700">
            <a:solidFill>
              <a:srgbClr val="FFFFFF"/>
            </a:solidFill>
            <a:prstDash val="solid"/>
          </a:ln>
          <a:effectLst>
            <a:outerShdw sx="100000" sy="100000" kx="0" ky="0" algn="bl" rotWithShape="0" blurRad="127000" dist="25400" dir="5400000">
              <a:srgbClr val="9C99B5">
                <a:alpha val="22000"/>
              </a:srgbClr>
            </a:outerShdw>
          </a:effectLst>
        </p:spPr>
      </p:sp>
      <p:sp>
        <p:nvSpPr>
          <p:cNvPr id="14" name="Shape 12"/>
          <p:cNvSpPr/>
          <p:nvPr/>
        </p:nvSpPr>
        <p:spPr>
          <a:xfrm>
            <a:off x="640080" y="6967728"/>
            <a:ext cx="12435840" cy="1143000"/>
          </a:xfrm>
          <a:prstGeom prst="roundRect">
            <a:avLst>
              <a:gd name="adj" fmla="val 7200"/>
            </a:avLst>
          </a:prstGeom>
          <a:solidFill>
            <a:srgbClr val="FFF8DA"/>
          </a:solidFill>
          <a:ln w="15240">
            <a:solidFill>
              <a:srgbClr val="FCCB00"/>
            </a:solidFill>
            <a:prstDash val="solid"/>
          </a:ln>
          <a:effectLst>
            <a:outerShdw sx="100000" sy="100000" kx="0" ky="0" algn="bl" rotWithShape="0" blurRad="127000" dist="25400" dir="5400000">
              <a:srgbClr val="9C99B5">
                <a:alpha val="22000"/>
              </a:srgbClr>
            </a:outerShdw>
          </a:effectLst>
        </p:spPr>
      </p:sp>
      <p:sp>
        <p:nvSpPr>
          <p:cNvPr id="15" name="Text 13"/>
          <p:cNvSpPr txBox="1"/>
          <p:nvPr/>
        </p:nvSpPr>
        <p:spPr>
          <a:xfrm>
            <a:off x="1051560" y="7150608"/>
            <a:ext cx="11612880" cy="804672"/>
          </a:xfrm>
          <a:prstGeom prst="rect">
            <a:avLst/>
          </a:prstGeom>
          <a:noFill/>
          <a:ln/>
        </p:spPr>
        <p:txBody>
          <a:bodyPr wrap="square" lIns="0" tIns="0" rIns="0" bIns="0" rtlCol="0" anchor="ctr"/>
          <a:lstStyle/>
          <a:p>
            <a:pPr indent="0" marL="0">
              <a:lnSpc>
                <a:spcPts val="2100"/>
              </a:lnSpc>
              <a:buNone/>
            </a:pPr>
            <a:r>
              <a:rPr lang="en-US" sz="1450" b="1" dirty="0">
                <a:solidFill>
                  <a:srgbClr val="37306F"/>
                </a:solidFill>
                <a:latin typeface="Calibri" pitchFamily="34" charset="0"/>
                <a:ea typeface="Calibri" pitchFamily="34" charset="-122"/>
                <a:cs typeface="Calibri" pitchFamily="34" charset="-120"/>
              </a:rPr>
              <a:t>Feasibility is checked before, not after.  </a:t>
            </a:r>
            <a:pPr indent="0" marL="0">
              <a:lnSpc>
                <a:spcPts val="2100"/>
              </a:lnSpc>
              <a:buNone/>
            </a:pPr>
            <a:r>
              <a:rPr lang="en-US" sz="1450" dirty="0">
                <a:solidFill>
                  <a:srgbClr val="1E1B36"/>
                </a:solidFill>
                <a:latin typeface="Calibri" pitchFamily="34" charset="0"/>
                <a:ea typeface="Calibri" pitchFamily="34" charset="-122"/>
                <a:cs typeface="Calibri" pitchFamily="34" charset="-120"/>
              </a:rPr>
              <a:t>Simulation over 2,000 synthetic participants puts the sitting at a median of 98 minutes and a 95th percentile of 119. A pilot of ten confirms it; if the median exceeds 120 minutes, the ten conditions split across two shorter sittings and the counterbalancing order simply continues.</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04 · METHODS &amp; METHODOLOGY</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The primary outcome: a blink that does not close</a:t>
            </a:r>
            <a:endParaRPr lang="en-US" sz="3400" dirty="0"/>
          </a:p>
        </p:txBody>
      </p:sp>
      <p:sp>
        <p:nvSpPr>
          <p:cNvPr id="4" name="Shape 2"/>
          <p:cNvSpPr/>
          <p:nvPr/>
        </p:nvSpPr>
        <p:spPr>
          <a:xfrm>
            <a:off x="640080" y="2103120"/>
            <a:ext cx="3794760" cy="5577840"/>
          </a:xfrm>
          <a:prstGeom prst="roundRect">
            <a:avLst>
              <a:gd name="adj" fmla="val 2169"/>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5" name="Text 3"/>
          <p:cNvSpPr txBox="1"/>
          <p:nvPr/>
        </p:nvSpPr>
        <p:spPr>
          <a:xfrm>
            <a:off x="950976" y="2395728"/>
            <a:ext cx="3200400" cy="5029200"/>
          </a:xfrm>
          <a:prstGeom prst="rect">
            <a:avLst/>
          </a:prstGeom>
          <a:noFill/>
          <a:ln/>
        </p:spPr>
        <p:txBody>
          <a:bodyPr wrap="square" lIns="0" tIns="0" rIns="0" bIns="0" rtlCol="0" anchor="t"/>
          <a:lstStyle/>
          <a:p>
            <a:pPr indent="0" marL="0">
              <a:lnSpc>
                <a:spcPts val="1800"/>
              </a:lnSpc>
              <a:buNone/>
            </a:pPr>
            <a:r>
              <a:rPr lang="en-US" sz="1600" b="1" dirty="0">
                <a:solidFill>
                  <a:srgbClr val="37306F"/>
                </a:solidFill>
                <a:latin typeface="Calibri" pitchFamily="34" charset="0"/>
                <a:ea typeface="Calibri" pitchFamily="34" charset="-122"/>
                <a:cs typeface="Calibri" pitchFamily="34" charset="-120"/>
              </a:rPr>
              <a:t>Why completeness, not rate.
</a:t>
            </a:r>
            <a:pPr indent="0" marL="0">
              <a:lnSpc>
                <a:spcPts val="1800"/>
              </a:lnSpc>
              <a:buNone/>
            </a:pPr>
            <a:r>
              <a:rPr lang="en-US" sz="1350" dirty="0">
                <a:solidFill>
                  <a:srgbClr val="1E1B36"/>
                </a:solidFill>
                <a:latin typeface="Calibri" pitchFamily="34" charset="0"/>
                <a:ea typeface="Calibri" pitchFamily="34" charset="-122"/>
                <a:cs typeface="Calibri" pitchFamily="34" charset="-120"/>
              </a:rPr>
              <a:t>A blink spreads the tear film only if the lids actually meet. One that stops short leaves part of the eye unwetted — so the film breaks up sooner. Counting blinks would miss this entirely: in the trace opposite, the total is three either way.
</a:t>
            </a:r>
            <a:pPr indent="0" marL="0">
              <a:lnSpc>
                <a:spcPts val="1800"/>
              </a:lnSpc>
              <a:buNone/>
            </a:pPr>
            <a:r>
              <a:rPr lang="en-US" sz="1600" b="1" dirty="0">
                <a:solidFill>
                  <a:srgbClr val="37306F"/>
                </a:solidFill>
                <a:latin typeface="Calibri" pitchFamily="34" charset="0"/>
                <a:ea typeface="Calibri" pitchFamily="34" charset="-122"/>
                <a:cs typeface="Calibri" pitchFamily="34" charset="-120"/>
              </a:rPr>
              <a:t>How it is measured.
</a:t>
            </a:r>
            <a:pPr indent="0" marL="0">
              <a:lnSpc>
                <a:spcPts val="1800"/>
              </a:lnSpc>
              <a:buNone/>
            </a:pPr>
            <a:r>
              <a:rPr lang="en-US" sz="1350" dirty="0">
                <a:solidFill>
                  <a:srgbClr val="1E1B36"/>
                </a:solidFill>
                <a:latin typeface="Calibri" pitchFamily="34" charset="0"/>
                <a:ea typeface="Calibri" pitchFamily="34" charset="-122"/>
                <a:cs typeface="Calibri" pitchFamily="34" charset="-120"/>
              </a:rPr>
              <a:t>Facial landmarks give an eye-aspect ratio. Two thresholds do the work: crossing 0.75 × baseline starts a blink; reaching 0.60 × baseline makes it complete. Anything between the two is incomplete.
</a:t>
            </a:r>
            <a:pPr indent="0" marL="0">
              <a:lnSpc>
                <a:spcPts val="1800"/>
              </a:lnSpc>
              <a:buNone/>
            </a:pPr>
            <a:r>
              <a:rPr lang="en-US" sz="1600" b="1" dirty="0">
                <a:solidFill>
                  <a:srgbClr val="8E2F24"/>
                </a:solidFill>
                <a:latin typeface="Calibri" pitchFamily="34" charset="0"/>
                <a:ea typeface="Calibri" pitchFamily="34" charset="-122"/>
                <a:cs typeface="Calibri" pitchFamily="34" charset="-120"/>
              </a:rPr>
              <a:t>Validation.
</a:t>
            </a:r>
            <a:pPr indent="0" marL="0">
              <a:lnSpc>
                <a:spcPts val="1800"/>
              </a:lnSpc>
              <a:buNone/>
            </a:pPr>
            <a:r>
              <a:rPr lang="en-US" sz="1350" dirty="0">
                <a:solidFill>
                  <a:srgbClr val="1E1B36"/>
                </a:solidFill>
                <a:latin typeface="Calibri" pitchFamily="34" charset="0"/>
                <a:ea typeface="Calibri" pitchFamily="34" charset="-122"/>
                <a:cs typeface="Calibri" pitchFamily="34" charset="-120"/>
              </a:rPr>
              <a:t>Twenty participants contribute segments for masked frame-by-frame annotation. Agreement must reach κ ≥ 0.60, with bias within ±5 percentage points.</a:t>
            </a:r>
            <a:endParaRPr lang="en-US" sz="1350" dirty="0"/>
          </a:p>
        </p:txBody>
      </p:sp>
      <p:pic>
        <p:nvPicPr>
          <p:cNvPr id="6" name="Image 0" descr="/home/user/PhD-PWA/synopsis/figures/fig_blink_trace.png">    </p:cNvPr>
          <p:cNvPicPr>
            <a:picLocks noChangeAspect="1"/>
          </p:cNvPicPr>
          <p:nvPr/>
        </p:nvPicPr>
        <p:blipFill>
          <a:blip r:embed="rId1"/>
          <a:stretch>
            <a:fillRect/>
          </a:stretch>
        </p:blipFill>
        <p:spPr>
          <a:xfrm>
            <a:off x="4892040" y="2606040"/>
            <a:ext cx="8183880" cy="3703320"/>
          </a:xfrm>
          <a:prstGeom prst="rect">
            <a:avLst/>
          </a:prstGeom>
        </p:spPr>
      </p:pic>
      <p:sp>
        <p:nvSpPr>
          <p:cNvPr id="7" name="Shape 4"/>
          <p:cNvSpPr/>
          <p:nvPr/>
        </p:nvSpPr>
        <p:spPr>
          <a:xfrm>
            <a:off x="4892040" y="6629400"/>
            <a:ext cx="8183880" cy="1051560"/>
          </a:xfrm>
          <a:prstGeom prst="roundRect">
            <a:avLst>
              <a:gd name="adj" fmla="val 7826"/>
            </a:avLst>
          </a:prstGeom>
          <a:solidFill>
            <a:srgbClr val="FFFFFF"/>
          </a:solidFill>
          <a:ln w="12700">
            <a:solidFill>
              <a:srgbClr val="FFFFFF"/>
            </a:solidFill>
            <a:prstDash val="solid"/>
          </a:ln>
          <a:effectLst>
            <a:outerShdw sx="100000" sy="100000" kx="0" ky="0" algn="bl" rotWithShape="0" blurRad="127000" dist="25400" dir="5400000">
              <a:srgbClr val="9C99B5">
                <a:alpha val="22000"/>
              </a:srgbClr>
            </a:outerShdw>
          </a:effectLst>
        </p:spPr>
      </p:sp>
      <p:sp>
        <p:nvSpPr>
          <p:cNvPr id="8" name="Shape 5"/>
          <p:cNvSpPr/>
          <p:nvPr/>
        </p:nvSpPr>
        <p:spPr>
          <a:xfrm>
            <a:off x="4892040" y="6629400"/>
            <a:ext cx="8183880" cy="1051560"/>
          </a:xfrm>
          <a:prstGeom prst="roundRect">
            <a:avLst>
              <a:gd name="adj" fmla="val 7826"/>
            </a:avLst>
          </a:prstGeom>
          <a:solidFill>
            <a:srgbClr val="FFF8DA"/>
          </a:solidFill>
          <a:ln w="15240">
            <a:solidFill>
              <a:srgbClr val="FCCB00"/>
            </a:solidFill>
            <a:prstDash val="solid"/>
          </a:ln>
          <a:effectLst>
            <a:outerShdw sx="100000" sy="100000" kx="0" ky="0" algn="bl" rotWithShape="0" blurRad="127000" dist="25400" dir="5400000">
              <a:srgbClr val="9C99B5">
                <a:alpha val="22000"/>
              </a:srgbClr>
            </a:outerShdw>
          </a:effectLst>
        </p:spPr>
      </p:sp>
      <p:sp>
        <p:nvSpPr>
          <p:cNvPr id="9" name="Text 6"/>
          <p:cNvSpPr txBox="1"/>
          <p:nvPr/>
        </p:nvSpPr>
        <p:spPr>
          <a:xfrm>
            <a:off x="5212080" y="6812280"/>
            <a:ext cx="7589520" cy="713232"/>
          </a:xfrm>
          <a:prstGeom prst="rect">
            <a:avLst/>
          </a:prstGeom>
          <a:noFill/>
          <a:ln/>
        </p:spPr>
        <p:txBody>
          <a:bodyPr wrap="square" lIns="0" tIns="0" rIns="0" bIns="0" rtlCol="0" anchor="ctr"/>
          <a:lstStyle/>
          <a:p>
            <a:pPr indent="0" marL="0">
              <a:lnSpc>
                <a:spcPts val="2100"/>
              </a:lnSpc>
              <a:buNone/>
            </a:pPr>
            <a:r>
              <a:rPr lang="en-US" sz="1500" dirty="0">
                <a:solidFill>
                  <a:srgbClr val="1E1B36"/>
                </a:solidFill>
                <a:latin typeface="Calibri" pitchFamily="34" charset="0"/>
                <a:ea typeface="Calibri" pitchFamily="34" charset="-122"/>
                <a:cs typeface="Calibri" pitchFamily="34" charset="-120"/>
              </a:rPr>
              <a:t>The middle blink bottoms out at 0.68 — the lid clearly descended, but never fully closed. The study’s primary number is simply how often that happens.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05 · EXPECTED OUTCOME</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What the results will let us say</a:t>
            </a:r>
            <a:endParaRPr lang="en-US" sz="3400" dirty="0"/>
          </a:p>
        </p:txBody>
      </p:sp>
      <p:sp>
        <p:nvSpPr>
          <p:cNvPr id="4" name="Shape 2"/>
          <p:cNvSpPr/>
          <p:nvPr/>
        </p:nvSpPr>
        <p:spPr>
          <a:xfrm>
            <a:off x="640080" y="2148840"/>
            <a:ext cx="6035040" cy="2148840"/>
          </a:xfrm>
          <a:prstGeom prst="roundRect">
            <a:avLst>
              <a:gd name="adj" fmla="val 3830"/>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5" name="Shape 3"/>
          <p:cNvSpPr/>
          <p:nvPr/>
        </p:nvSpPr>
        <p:spPr>
          <a:xfrm>
            <a:off x="1005840" y="2478024"/>
            <a:ext cx="530352" cy="530352"/>
          </a:xfrm>
          <a:prstGeom prst="ellipse">
            <a:avLst/>
          </a:prstGeom>
          <a:solidFill>
            <a:srgbClr val="FCCB00"/>
          </a:solidFill>
          <a:ln w="12700">
            <a:solidFill>
              <a:srgbClr val="FCCB00"/>
            </a:solidFill>
            <a:prstDash val="solid"/>
          </a:ln>
        </p:spPr>
      </p:sp>
      <p:sp>
        <p:nvSpPr>
          <p:cNvPr id="6" name="Text 4"/>
          <p:cNvSpPr txBox="1"/>
          <p:nvPr/>
        </p:nvSpPr>
        <p:spPr>
          <a:xfrm>
            <a:off x="1005840" y="2478024"/>
            <a:ext cx="530352" cy="530352"/>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1</a:t>
            </a:r>
            <a:endParaRPr lang="en-US" sz="1700" dirty="0"/>
          </a:p>
        </p:txBody>
      </p:sp>
      <p:sp>
        <p:nvSpPr>
          <p:cNvPr id="7" name="Text 5"/>
          <p:cNvSpPr txBox="1"/>
          <p:nvPr/>
        </p:nvSpPr>
        <p:spPr>
          <a:xfrm>
            <a:off x="1755648" y="2441448"/>
            <a:ext cx="4572000" cy="365760"/>
          </a:xfrm>
          <a:prstGeom prst="rect">
            <a:avLst/>
          </a:prstGeom>
          <a:noFill/>
          <a:ln/>
        </p:spPr>
        <p:txBody>
          <a:bodyPr wrap="square" lIns="0" tIns="0" rIns="0" bIns="0" rtlCol="0" anchor="ctr"/>
          <a:lstStyle/>
          <a:p>
            <a:pPr indent="0" marL="0">
              <a:buNone/>
            </a:pPr>
            <a:r>
              <a:rPr lang="en-US" sz="1950" b="1" dirty="0">
                <a:solidFill>
                  <a:srgbClr val="37306F"/>
                </a:solidFill>
                <a:latin typeface="Cambria" pitchFamily="34" charset="0"/>
                <a:ea typeface="Cambria" pitchFamily="34" charset="-122"/>
                <a:cs typeface="Cambria" pitchFamily="34" charset="-120"/>
              </a:rPr>
              <a:t>Numbers where there are none</a:t>
            </a:r>
            <a:endParaRPr lang="en-US" sz="1950" dirty="0"/>
          </a:p>
        </p:txBody>
      </p:sp>
      <p:sp>
        <p:nvSpPr>
          <p:cNvPr id="8" name="Text 6"/>
          <p:cNvSpPr txBox="1"/>
          <p:nvPr/>
        </p:nvSpPr>
        <p:spPr>
          <a:xfrm>
            <a:off x="1755648" y="2880360"/>
            <a:ext cx="4617720" cy="128016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Effect sizes with confidence intervals for polarity and text colour on fatigue, blinking, workload and performance — and, so far as the located evidence goes, the first estimate of how the two interact.</a:t>
            </a:r>
            <a:endParaRPr lang="en-US" sz="1400" dirty="0"/>
          </a:p>
        </p:txBody>
      </p:sp>
      <p:sp>
        <p:nvSpPr>
          <p:cNvPr id="9" name="Shape 7"/>
          <p:cNvSpPr/>
          <p:nvPr/>
        </p:nvSpPr>
        <p:spPr>
          <a:xfrm>
            <a:off x="7040880" y="2148840"/>
            <a:ext cx="6035040" cy="2148840"/>
          </a:xfrm>
          <a:prstGeom prst="roundRect">
            <a:avLst>
              <a:gd name="adj" fmla="val 3830"/>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0" name="Shape 8"/>
          <p:cNvSpPr/>
          <p:nvPr/>
        </p:nvSpPr>
        <p:spPr>
          <a:xfrm>
            <a:off x="7406640" y="2478024"/>
            <a:ext cx="530352" cy="530352"/>
          </a:xfrm>
          <a:prstGeom prst="ellipse">
            <a:avLst/>
          </a:prstGeom>
          <a:solidFill>
            <a:srgbClr val="FCCB00"/>
          </a:solidFill>
          <a:ln w="12700">
            <a:solidFill>
              <a:srgbClr val="FCCB00"/>
            </a:solidFill>
            <a:prstDash val="solid"/>
          </a:ln>
        </p:spPr>
      </p:sp>
      <p:sp>
        <p:nvSpPr>
          <p:cNvPr id="11" name="Text 9"/>
          <p:cNvSpPr txBox="1"/>
          <p:nvPr/>
        </p:nvSpPr>
        <p:spPr>
          <a:xfrm>
            <a:off x="7406640" y="2478024"/>
            <a:ext cx="530352" cy="530352"/>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2</a:t>
            </a:r>
            <a:endParaRPr lang="en-US" sz="1700" dirty="0"/>
          </a:p>
        </p:txBody>
      </p:sp>
      <p:sp>
        <p:nvSpPr>
          <p:cNvPr id="12" name="Text 10"/>
          <p:cNvSpPr txBox="1"/>
          <p:nvPr/>
        </p:nvSpPr>
        <p:spPr>
          <a:xfrm>
            <a:off x="8156448" y="2441448"/>
            <a:ext cx="4572000" cy="365760"/>
          </a:xfrm>
          <a:prstGeom prst="rect">
            <a:avLst/>
          </a:prstGeom>
          <a:noFill/>
          <a:ln/>
        </p:spPr>
        <p:txBody>
          <a:bodyPr wrap="square" lIns="0" tIns="0" rIns="0" bIns="0" rtlCol="0" anchor="ctr"/>
          <a:lstStyle/>
          <a:p>
            <a:pPr indent="0" marL="0">
              <a:buNone/>
            </a:pPr>
            <a:r>
              <a:rPr lang="en-US" sz="1950" b="1" dirty="0">
                <a:solidFill>
                  <a:srgbClr val="37306F"/>
                </a:solidFill>
                <a:latin typeface="Cambria" pitchFamily="34" charset="0"/>
                <a:ea typeface="Cambria" pitchFamily="34" charset="-122"/>
                <a:cs typeface="Cambria" pitchFamily="34" charset="-120"/>
              </a:rPr>
              <a:t>A verdict on colour versus contrast</a:t>
            </a:r>
            <a:endParaRPr lang="en-US" sz="1950" dirty="0"/>
          </a:p>
        </p:txBody>
      </p:sp>
      <p:sp>
        <p:nvSpPr>
          <p:cNvPr id="13" name="Text 11"/>
          <p:cNvSpPr txBox="1"/>
          <p:nvPr/>
        </p:nvSpPr>
        <p:spPr>
          <a:xfrm>
            <a:off x="8156448" y="2880360"/>
            <a:ext cx="4617720" cy="128016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If the colour ordering flips between polarities, colour effects are really contrast effects. If it holds, hue matters in its own right. Red is the one colour expected to break the pattern.</a:t>
            </a:r>
            <a:endParaRPr lang="en-US" sz="1400" dirty="0"/>
          </a:p>
        </p:txBody>
      </p:sp>
      <p:sp>
        <p:nvSpPr>
          <p:cNvPr id="14" name="Shape 12"/>
          <p:cNvSpPr/>
          <p:nvPr/>
        </p:nvSpPr>
        <p:spPr>
          <a:xfrm>
            <a:off x="640080" y="4572000"/>
            <a:ext cx="6035040" cy="2148840"/>
          </a:xfrm>
          <a:prstGeom prst="roundRect">
            <a:avLst>
              <a:gd name="adj" fmla="val 3830"/>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15" name="Shape 13"/>
          <p:cNvSpPr/>
          <p:nvPr/>
        </p:nvSpPr>
        <p:spPr>
          <a:xfrm>
            <a:off x="1005840" y="4901184"/>
            <a:ext cx="530352" cy="530352"/>
          </a:xfrm>
          <a:prstGeom prst="ellipse">
            <a:avLst/>
          </a:prstGeom>
          <a:solidFill>
            <a:srgbClr val="FCCB00"/>
          </a:solidFill>
          <a:ln w="12700">
            <a:solidFill>
              <a:srgbClr val="FCCB00"/>
            </a:solidFill>
            <a:prstDash val="solid"/>
          </a:ln>
        </p:spPr>
      </p:sp>
      <p:sp>
        <p:nvSpPr>
          <p:cNvPr id="16" name="Text 14"/>
          <p:cNvSpPr txBox="1"/>
          <p:nvPr/>
        </p:nvSpPr>
        <p:spPr>
          <a:xfrm>
            <a:off x="1005840" y="4901184"/>
            <a:ext cx="530352" cy="530352"/>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3</a:t>
            </a:r>
            <a:endParaRPr lang="en-US" sz="1700" dirty="0"/>
          </a:p>
        </p:txBody>
      </p:sp>
      <p:sp>
        <p:nvSpPr>
          <p:cNvPr id="17" name="Text 15"/>
          <p:cNvSpPr txBox="1"/>
          <p:nvPr/>
        </p:nvSpPr>
        <p:spPr>
          <a:xfrm>
            <a:off x="1755648" y="4864608"/>
            <a:ext cx="4572000" cy="365760"/>
          </a:xfrm>
          <a:prstGeom prst="rect">
            <a:avLst/>
          </a:prstGeom>
          <a:noFill/>
          <a:ln/>
        </p:spPr>
        <p:txBody>
          <a:bodyPr wrap="square" lIns="0" tIns="0" rIns="0" bIns="0" rtlCol="0" anchor="ctr"/>
          <a:lstStyle/>
          <a:p>
            <a:pPr indent="0" marL="0">
              <a:buNone/>
            </a:pPr>
            <a:r>
              <a:rPr lang="en-US" sz="1950" b="1" dirty="0">
                <a:solidFill>
                  <a:srgbClr val="37306F"/>
                </a:solidFill>
                <a:latin typeface="Cambria" pitchFamily="34" charset="0"/>
                <a:ea typeface="Cambria" pitchFamily="34" charset="-122"/>
                <a:cs typeface="Cambria" pitchFamily="34" charset="-120"/>
              </a:rPr>
              <a:t>A setting to recommend</a:t>
            </a:r>
            <a:endParaRPr lang="en-US" sz="1950" dirty="0"/>
          </a:p>
        </p:txBody>
      </p:sp>
      <p:sp>
        <p:nvSpPr>
          <p:cNvPr id="18" name="Text 16"/>
          <p:cNvSpPr txBox="1"/>
          <p:nvPr/>
        </p:nvSpPr>
        <p:spPr>
          <a:xfrm>
            <a:off x="1755648" y="5303520"/>
            <a:ext cx="4617720" cy="128016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Which polarity-and-colour combination is best and worst for prolonged reading — and whether accessibility standards, which ignore polarity, actually predict what readers experience.</a:t>
            </a:r>
            <a:endParaRPr lang="en-US" sz="1400" dirty="0"/>
          </a:p>
        </p:txBody>
      </p:sp>
      <p:sp>
        <p:nvSpPr>
          <p:cNvPr id="19" name="Shape 17"/>
          <p:cNvSpPr/>
          <p:nvPr/>
        </p:nvSpPr>
        <p:spPr>
          <a:xfrm>
            <a:off x="7040880" y="4572000"/>
            <a:ext cx="6035040" cy="2148840"/>
          </a:xfrm>
          <a:prstGeom prst="roundRect">
            <a:avLst>
              <a:gd name="adj" fmla="val 3830"/>
            </a:avLst>
          </a:prstGeom>
          <a:solidFill>
            <a:srgbClr val="F3F2F8"/>
          </a:solidFill>
          <a:ln w="12700">
            <a:solidFill>
              <a:srgbClr val="DCDAE8"/>
            </a:solidFill>
            <a:prstDash val="solid"/>
          </a:ln>
          <a:effectLst>
            <a:outerShdw sx="100000" sy="100000" kx="0" ky="0" algn="bl" rotWithShape="0" blurRad="127000" dist="25400" dir="5400000">
              <a:srgbClr val="9C99B5">
                <a:alpha val="22000"/>
              </a:srgbClr>
            </a:outerShdw>
          </a:effectLst>
        </p:spPr>
      </p:sp>
      <p:sp>
        <p:nvSpPr>
          <p:cNvPr id="20" name="Shape 18"/>
          <p:cNvSpPr/>
          <p:nvPr/>
        </p:nvSpPr>
        <p:spPr>
          <a:xfrm>
            <a:off x="7406640" y="4901184"/>
            <a:ext cx="530352" cy="530352"/>
          </a:xfrm>
          <a:prstGeom prst="ellipse">
            <a:avLst/>
          </a:prstGeom>
          <a:solidFill>
            <a:srgbClr val="FCCB00"/>
          </a:solidFill>
          <a:ln w="12700">
            <a:solidFill>
              <a:srgbClr val="FCCB00"/>
            </a:solidFill>
            <a:prstDash val="solid"/>
          </a:ln>
        </p:spPr>
      </p:sp>
      <p:sp>
        <p:nvSpPr>
          <p:cNvPr id="21" name="Text 19"/>
          <p:cNvSpPr txBox="1"/>
          <p:nvPr/>
        </p:nvSpPr>
        <p:spPr>
          <a:xfrm>
            <a:off x="7406640" y="4901184"/>
            <a:ext cx="530352" cy="530352"/>
          </a:xfrm>
          <a:prstGeom prst="rect">
            <a:avLst/>
          </a:prstGeom>
          <a:noFill/>
          <a:ln/>
        </p:spPr>
        <p:txBody>
          <a:bodyPr wrap="square" lIns="0" tIns="0" rIns="0" bIns="0" rtlCol="0" anchor="ctr"/>
          <a:lstStyle/>
          <a:p>
            <a:pPr algn="ctr" indent="0" marL="0">
              <a:buNone/>
            </a:pPr>
            <a:r>
              <a:rPr lang="en-US" sz="1700" b="1" dirty="0">
                <a:solidFill>
                  <a:srgbClr val="272153"/>
                </a:solidFill>
                <a:latin typeface="Cambria" pitchFamily="34" charset="0"/>
                <a:ea typeface="Cambria" pitchFamily="34" charset="-122"/>
                <a:cs typeface="Cambria" pitchFamily="34" charset="-120"/>
              </a:rPr>
              <a:t>4</a:t>
            </a:r>
            <a:endParaRPr lang="en-US" sz="1700" dirty="0"/>
          </a:p>
        </p:txBody>
      </p:sp>
      <p:sp>
        <p:nvSpPr>
          <p:cNvPr id="22" name="Text 20"/>
          <p:cNvSpPr txBox="1"/>
          <p:nvPr/>
        </p:nvSpPr>
        <p:spPr>
          <a:xfrm>
            <a:off x="8156448" y="4864608"/>
            <a:ext cx="4572000" cy="365760"/>
          </a:xfrm>
          <a:prstGeom prst="rect">
            <a:avLst/>
          </a:prstGeom>
          <a:noFill/>
          <a:ln/>
        </p:spPr>
        <p:txBody>
          <a:bodyPr wrap="square" lIns="0" tIns="0" rIns="0" bIns="0" rtlCol="0" anchor="ctr"/>
          <a:lstStyle/>
          <a:p>
            <a:pPr indent="0" marL="0">
              <a:buNone/>
            </a:pPr>
            <a:r>
              <a:rPr lang="en-US" sz="1950" b="1" dirty="0">
                <a:solidFill>
                  <a:srgbClr val="37306F"/>
                </a:solidFill>
                <a:latin typeface="Cambria" pitchFamily="34" charset="0"/>
                <a:ea typeface="Cambria" pitchFamily="34" charset="-122"/>
                <a:cs typeface="Cambria" pitchFamily="34" charset="-120"/>
              </a:rPr>
              <a:t>A measure that scales</a:t>
            </a:r>
            <a:endParaRPr lang="en-US" sz="1950" dirty="0"/>
          </a:p>
        </p:txBody>
      </p:sp>
      <p:sp>
        <p:nvSpPr>
          <p:cNvPr id="23" name="Text 21"/>
          <p:cNvSpPr txBox="1"/>
          <p:nvPr/>
        </p:nvSpPr>
        <p:spPr>
          <a:xfrm>
            <a:off x="8156448" y="5303520"/>
            <a:ext cx="4617720" cy="1280160"/>
          </a:xfrm>
          <a:prstGeom prst="rect">
            <a:avLst/>
          </a:prstGeom>
          <a:noFill/>
          <a:ln/>
        </p:spPr>
        <p:txBody>
          <a:bodyPr wrap="square" lIns="0" tIns="0" rIns="0" bIns="0" rtlCol="0" anchor="ctr"/>
          <a:lstStyle/>
          <a:p>
            <a:pPr indent="0" marL="0">
              <a:lnSpc>
                <a:spcPts val="1900"/>
              </a:lnSpc>
              <a:buNone/>
            </a:pPr>
            <a:r>
              <a:rPr lang="en-US" sz="1400" dirty="0">
                <a:solidFill>
                  <a:srgbClr val="1E1B36"/>
                </a:solidFill>
                <a:latin typeface="Calibri" pitchFamily="34" charset="0"/>
                <a:ea typeface="Calibri" pitchFamily="34" charset="-122"/>
                <a:cs typeface="Calibri" pitchFamily="34" charset="-120"/>
              </a:rPr>
              <a:t>A camera-based blink measure reported against manual annotation, so later studies need not annotate by hand.</a:t>
            </a:r>
            <a:endParaRPr lang="en-US" sz="1400" dirty="0"/>
          </a:p>
        </p:txBody>
      </p:sp>
      <p:sp>
        <p:nvSpPr>
          <p:cNvPr id="24" name="Shape 22"/>
          <p:cNvSpPr/>
          <p:nvPr/>
        </p:nvSpPr>
        <p:spPr>
          <a:xfrm>
            <a:off x="640080" y="7086600"/>
            <a:ext cx="12435840" cy="1005840"/>
          </a:xfrm>
          <a:prstGeom prst="roundRect">
            <a:avLst>
              <a:gd name="adj" fmla="val 8182"/>
            </a:avLst>
          </a:prstGeom>
          <a:solidFill>
            <a:srgbClr val="FFFFFF"/>
          </a:solidFill>
          <a:ln w="12700">
            <a:solidFill>
              <a:srgbClr val="FFFFFF"/>
            </a:solidFill>
            <a:prstDash val="solid"/>
          </a:ln>
          <a:effectLst>
            <a:outerShdw sx="100000" sy="100000" kx="0" ky="0" algn="bl" rotWithShape="0" blurRad="127000" dist="25400" dir="5400000">
              <a:srgbClr val="9C99B5">
                <a:alpha val="22000"/>
              </a:srgbClr>
            </a:outerShdw>
          </a:effectLst>
        </p:spPr>
      </p:sp>
      <p:sp>
        <p:nvSpPr>
          <p:cNvPr id="25" name="Shape 23"/>
          <p:cNvSpPr/>
          <p:nvPr/>
        </p:nvSpPr>
        <p:spPr>
          <a:xfrm>
            <a:off x="640080" y="7086600"/>
            <a:ext cx="12435840" cy="1005840"/>
          </a:xfrm>
          <a:prstGeom prst="roundRect">
            <a:avLst>
              <a:gd name="adj" fmla="val 8182"/>
            </a:avLst>
          </a:prstGeom>
          <a:solidFill>
            <a:srgbClr val="37306F"/>
          </a:solidFill>
          <a:ln w="12700">
            <a:solidFill>
              <a:srgbClr val="37306F"/>
            </a:solidFill>
            <a:prstDash val="solid"/>
          </a:ln>
          <a:effectLst>
            <a:outerShdw sx="100000" sy="100000" kx="0" ky="0" algn="bl" rotWithShape="0" blurRad="127000" dist="25400" dir="5400000">
              <a:srgbClr val="9C99B5">
                <a:alpha val="22000"/>
              </a:srgbClr>
            </a:outerShdw>
          </a:effectLst>
        </p:spPr>
      </p:sp>
      <p:sp>
        <p:nvSpPr>
          <p:cNvPr id="26" name="Text 24"/>
          <p:cNvSpPr txBox="1"/>
          <p:nvPr/>
        </p:nvSpPr>
        <p:spPr>
          <a:xfrm>
            <a:off x="1097280" y="7269480"/>
            <a:ext cx="11521440" cy="658368"/>
          </a:xfrm>
          <a:prstGeom prst="rect">
            <a:avLst/>
          </a:prstGeom>
          <a:noFill/>
          <a:ln/>
        </p:spPr>
        <p:txBody>
          <a:bodyPr wrap="square" lIns="0" tIns="0" rIns="0" bIns="0" rtlCol="0" anchor="ctr"/>
          <a:lstStyle/>
          <a:p>
            <a:pPr algn="ctr" indent="0" marL="0">
              <a:buNone/>
            </a:pPr>
            <a:r>
              <a:rPr lang="en-US" sz="1800" i="1" dirty="0">
                <a:solidFill>
                  <a:srgbClr val="FFFFFF"/>
                </a:solidFill>
                <a:latin typeface="Cambria" pitchFamily="34" charset="0"/>
                <a:ea typeface="Cambria" pitchFamily="34" charset="-122"/>
                <a:cs typeface="Cambria" pitchFamily="34" charset="-120"/>
              </a:rPr>
              <a:t>Display configuration costs nothing to change and can be deployed at population scale — for a condition that affects roughly seven in ten screen users.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2435840" cy="274320"/>
          </a:xfrm>
          <a:prstGeom prst="rect">
            <a:avLst/>
          </a:prstGeom>
          <a:noFill/>
          <a:ln/>
        </p:spPr>
        <p:txBody>
          <a:bodyPr wrap="square" lIns="0" tIns="0" rIns="0" bIns="0" rtlCol="0" anchor="ctr"/>
          <a:lstStyle/>
          <a:p>
            <a:pPr indent="0" marL="0">
              <a:buNone/>
            </a:pPr>
            <a:r>
              <a:rPr lang="en-US" sz="1300" b="1" spc="240" kern="0" dirty="0">
                <a:solidFill>
                  <a:srgbClr val="FCCB00"/>
                </a:solidFill>
                <a:latin typeface="Calibri" pitchFamily="34" charset="0"/>
                <a:ea typeface="Calibri" pitchFamily="34" charset="-122"/>
                <a:cs typeface="Calibri" pitchFamily="34" charset="-120"/>
              </a:rPr>
              <a:t>06 · REFERENCES</a:t>
            </a:r>
            <a:endParaRPr lang="en-US" sz="1300" dirty="0"/>
          </a:p>
        </p:txBody>
      </p:sp>
      <p:sp>
        <p:nvSpPr>
          <p:cNvPr id="3" name="Text 1"/>
          <p:cNvSpPr txBox="1"/>
          <p:nvPr/>
        </p:nvSpPr>
        <p:spPr>
          <a:xfrm>
            <a:off x="640080" y="676656"/>
            <a:ext cx="12435840" cy="658368"/>
          </a:xfrm>
          <a:prstGeom prst="rect">
            <a:avLst/>
          </a:prstGeom>
          <a:noFill/>
          <a:ln/>
        </p:spPr>
        <p:txBody>
          <a:bodyPr wrap="square" lIns="0" tIns="0" rIns="0" bIns="0" rtlCol="0" anchor="t"/>
          <a:lstStyle/>
          <a:p>
            <a:pPr indent="0" marL="0">
              <a:buNone/>
            </a:pPr>
            <a:r>
              <a:rPr lang="en-US" sz="3400" b="1" dirty="0">
                <a:solidFill>
                  <a:srgbClr val="37306F"/>
                </a:solidFill>
                <a:latin typeface="Cambria" pitchFamily="34" charset="0"/>
                <a:ea typeface="Cambria" pitchFamily="34" charset="-122"/>
                <a:cs typeface="Cambria" pitchFamily="34" charset="-120"/>
              </a:rPr>
              <a:t>References</a:t>
            </a:r>
            <a:endParaRPr lang="en-US" sz="3400" dirty="0"/>
          </a:p>
        </p:txBody>
      </p:sp>
      <p:sp>
        <p:nvSpPr>
          <p:cNvPr id="4" name="Text 2"/>
          <p:cNvSpPr txBox="1"/>
          <p:nvPr/>
        </p:nvSpPr>
        <p:spPr>
          <a:xfrm>
            <a:off x="640080" y="2103120"/>
            <a:ext cx="6035040" cy="6035040"/>
          </a:xfrm>
          <a:prstGeom prst="rect">
            <a:avLst/>
          </a:prstGeom>
          <a:noFill/>
          <a:ln/>
        </p:spPr>
        <p:txBody>
          <a:bodyPr wrap="square" lIns="0" tIns="0" rIns="0" bIns="0" rtlCol="0" anchor="t"/>
          <a:lstStyle/>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Argilés, M., Cardona, G., Pérez-Cabré, E., &amp; Rodríguez, M. (2015). Blink rate and incomplete blinks in six different controlled hard-copy and electronic reading conditions.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Investigative Ophthalmology &amp; Visual Science, 56</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(11), 6679–6685.</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Buchner, A., &amp; Baumgartner, N. (2007). Text–background polarity affects performance irrespective of ambient illumination and colour contrast.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Ergonomics, 50</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(7), 1036–1063.</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Buchner, A., Mayr, S., &amp; Brandt, M. (2009). The advantage of positive text–background polarity is due to high display luminance.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Ergonomics, 52</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(7), 882–886.</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Ccami-Bernal, F., Soriano-Moreno, D. R., Romero-Robles, M. A., Barriga-Chambi, F., Tuco, K. G., Castro-Diaz, S. D., … Benites-Zapata, V. A. (2024). Prevalence of computer vision syndrome: A systematic review and meta-analysis.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Journal of Optometry, 17</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(1), 100482.</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Fan, Q., Xie, J., Dong, Z., &amp; Wang, Y. (2024). The effect of ambient illumination and text color on visual fatigue under negative polarity.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Sensors, 24</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(11), 3516.</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Fjaervoll, K., Fjaervoll, H., Magno, M., Nøland, S. T., Dartt, D. A., Vehof, J., &amp; Utheim, T. P. (2022). Review on the possible pathophysiological mechanisms underlying visual display terminal-associated dry eye disease.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Acta Ophthalmologica, 100</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(8), 861–877.</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Jiménez, R., Redondo, B., Molina, R., Martínez-Domingo, M. Á., Hernández-Andrés, J., &amp; Vera, J. (2020). Short-term effects of text-background color combinations on the dynamics of the accommodative response.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Vision Research, 166</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 33–42.</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Lin, M., Zheng, X., He, C., Li, M., Lu, F., &amp; Hu, L. (2025). Effects of ambient illuminance and mobile phone screen brightness on tear film stability, visual fatigue, and blink patterns during reading.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Contact Lens and Anterior Eye, 49</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(1), 102515.</a:t>
            </a:r>
            <a:endParaRPr lang="en-US" sz="1150" dirty="0"/>
          </a:p>
        </p:txBody>
      </p:sp>
      <p:sp>
        <p:nvSpPr>
          <p:cNvPr id="5" name="Text 3"/>
          <p:cNvSpPr txBox="1"/>
          <p:nvPr/>
        </p:nvSpPr>
        <p:spPr>
          <a:xfrm>
            <a:off x="7040880" y="2103120"/>
            <a:ext cx="6035040" cy="6035040"/>
          </a:xfrm>
          <a:prstGeom prst="rect">
            <a:avLst/>
          </a:prstGeom>
          <a:noFill/>
          <a:ln/>
        </p:spPr>
        <p:txBody>
          <a:bodyPr wrap="square" lIns="0" tIns="0" rIns="0" bIns="0" rtlCol="0" anchor="t"/>
          <a:lstStyle/>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Piepenbrock, C., Mayr, S., &amp; Buchner, A. (2014). Smaller pupil size and better proofreading performance with positive than with negative polarity displays.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Ergonomics, 57</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(11), 1670–1677.</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Portello, J. K., Rosenfield, M., &amp; Chu, C. A. (2013). Blink rate, incomplete blinks and computer vision syndrome.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Optometry and Vision Science, 90</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(5), 482–487.</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Seguí, M. del M., Cabrero-García, J., Crespo, A., Verdú, J., &amp; Ronda, E. (2015). A reliable and valid questionnaire was developed to measure computer vision syndrome at the workplace.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Journal of Clinical Epidemiology, 68</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(6), 662–673.</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Sengsoon, P., &amp; Intaruk, R. (2025). Immediate effects of light mode and dark mode features on visual fatigue in tablet users.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International Journal of Environmental Research and Public Health, 22</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(4), 609.</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Sheppard, A. L., &amp; Wolffsohn, J. S. (2018). Digital eye strain: Prevalence, measurement and amelioration.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BMJ Open Ophthalmology, 3</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(1), e000146.</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Singh, S., McGuinness, M. B., Anderson, A. J., &amp; Downie, L. E. (2022). Interventions for the management of computer vision syndrome: A systematic review and meta-analysis.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Ophthalmology, 129</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(10), 1192–1215.</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Soukupová, T., &amp; Čech, J. (2016). </a:t>
            </a:r>
            <a:pPr indent="0" marL="0">
              <a:lnSpc>
                <a:spcPts val="1500"/>
              </a:lnSpc>
              <a:spcAft>
                <a:spcPts val="800"/>
              </a:spcAft>
              <a:buNone/>
            </a:pPr>
            <a:r>
              <a:rPr lang="en-US" sz="1150" i="1" dirty="0">
                <a:solidFill>
                  <a:srgbClr val="1E1B36"/>
                </a:solidFill>
                <a:latin typeface="Calibri" pitchFamily="34" charset="0"/>
                <a:ea typeface="Calibri" pitchFamily="34" charset="-122"/>
                <a:cs typeface="Calibri" pitchFamily="34" charset="-120"/>
              </a:rPr>
              <a:t>Real-time eye blink detection using facial landmarks</a:t>
            </a:r>
            <a:pPr indent="0" marL="0">
              <a:lnSpc>
                <a:spcPts val="1500"/>
              </a:lnSpc>
              <a:spcAft>
                <a:spcPts val="900"/>
              </a:spcAft>
              <a:buNone/>
            </a:pPr>
            <a:r>
              <a:rPr lang="en-US" sz="1150" dirty="0">
                <a:solidFill>
                  <a:srgbClr val="1E1B36"/>
                </a:solidFill>
                <a:latin typeface="Calibri" pitchFamily="34" charset="0"/>
                <a:ea typeface="Calibri" pitchFamily="34" charset="-122"/>
                <a:cs typeface="Calibri" pitchFamily="34" charset="-120"/>
              </a:rPr>
              <a:t> [Paper presentation]. 21st Computer Vision Winter Workshop, Rimske Toplice, Slovenia.</a:t>
            </a:r>
            <a:endParaRPr lang="en-US" sz="1150" dirty="0"/>
          </a:p>
          <a:p>
            <a:pPr indent="0" marL="0">
              <a:lnSpc>
                <a:spcPts val="1500"/>
              </a:lnSpc>
              <a:spcAft>
                <a:spcPts val="800"/>
              </a:spcAft>
              <a:buNone/>
            </a:pPr>
            <a:r>
              <a:rPr lang="en-US" sz="1150" dirty="0">
                <a:solidFill>
                  <a:srgbClr val="1E1B36"/>
                </a:solidFill>
                <a:latin typeface="Calibri" pitchFamily="34" charset="0"/>
                <a:ea typeface="Calibri" pitchFamily="34" charset="-122"/>
                <a:cs typeface="Calibri" pitchFamily="34" charset="-120"/>
              </a:rPr>
              <a:t>World Wide Web Consortium. (2023). </a:t>
            </a:r>
            <a:pPr indent="0" marL="0">
              <a:lnSpc>
                <a:spcPts val="1500"/>
              </a:lnSpc>
              <a:spcAft>
                <a:spcPts val="900"/>
              </a:spcAft>
              <a:buNone/>
            </a:pPr>
            <a:r>
              <a:rPr lang="en-US" sz="1150" i="1" dirty="0">
                <a:solidFill>
                  <a:srgbClr val="1E1B36"/>
                </a:solidFill>
                <a:latin typeface="Calibri" pitchFamily="34" charset="0"/>
                <a:ea typeface="Calibri" pitchFamily="34" charset="-122"/>
                <a:cs typeface="Calibri" pitchFamily="34" charset="-120"/>
              </a:rPr>
              <a:t>Web content accessibility guidelines (WCAG) 2.2.</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7306F"/>
        </a:solidFill>
      </p:bgPr>
    </p:bg>
    <p:spTree>
      <p:nvGrpSpPr>
        <p:cNvPr id="1" name=""/>
        <p:cNvGrpSpPr/>
        <p:nvPr/>
      </p:nvGrpSpPr>
      <p:grpSpPr>
        <a:xfrm>
          <a:off x="0" y="0"/>
          <a:ext cx="0" cy="0"/>
          <a:chOff x="0" y="0"/>
          <a:chExt cx="0" cy="0"/>
        </a:xfrm>
      </p:grpSpPr>
      <p:sp>
        <p:nvSpPr>
          <p:cNvPr id="2" name="Shape 0"/>
          <p:cNvSpPr/>
          <p:nvPr/>
        </p:nvSpPr>
        <p:spPr>
          <a:xfrm>
            <a:off x="3977640" y="1691640"/>
            <a:ext cx="5760720" cy="1207008"/>
          </a:xfrm>
          <a:prstGeom prst="roundRect">
            <a:avLst>
              <a:gd name="adj" fmla="val 9091"/>
            </a:avLst>
          </a:prstGeom>
          <a:solidFill>
            <a:srgbClr val="FFFFFF"/>
          </a:solidFill>
          <a:ln w="12700">
            <a:solidFill>
              <a:srgbClr val="FFFFFF"/>
            </a:solidFill>
            <a:prstDash val="solid"/>
          </a:ln>
        </p:spPr>
      </p:sp>
      <p:pic>
        <p:nvPicPr>
          <p:cNvPr id="3" name="Image 0" descr="/home/user/PhD-PWA/synopsis/figures/adtu_logo.png">    </p:cNvPr>
          <p:cNvPicPr>
            <a:picLocks noChangeAspect="1"/>
          </p:cNvPicPr>
          <p:nvPr/>
        </p:nvPicPr>
        <p:blipFill>
          <a:blip r:embed="rId1"/>
          <a:stretch>
            <a:fillRect/>
          </a:stretch>
        </p:blipFill>
        <p:spPr>
          <a:xfrm>
            <a:off x="4224528" y="1865376"/>
            <a:ext cx="5266944" cy="859536"/>
          </a:xfrm>
          <a:prstGeom prst="rect">
            <a:avLst/>
          </a:prstGeom>
        </p:spPr>
      </p:pic>
      <p:sp>
        <p:nvSpPr>
          <p:cNvPr id="4" name="Text 1"/>
          <p:cNvSpPr txBox="1"/>
          <p:nvPr/>
        </p:nvSpPr>
        <p:spPr>
          <a:xfrm>
            <a:off x="914400" y="3566160"/>
            <a:ext cx="11887200" cy="118872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Thank you</a:t>
            </a:r>
            <a:endParaRPr lang="en-US" sz="6000" dirty="0"/>
          </a:p>
        </p:txBody>
      </p:sp>
      <p:sp>
        <p:nvSpPr>
          <p:cNvPr id="5" name="Text 2"/>
          <p:cNvSpPr txBox="1"/>
          <p:nvPr/>
        </p:nvSpPr>
        <p:spPr>
          <a:xfrm>
            <a:off x="914400" y="4800600"/>
            <a:ext cx="11887200" cy="457200"/>
          </a:xfrm>
          <a:prstGeom prst="rect">
            <a:avLst/>
          </a:prstGeom>
          <a:noFill/>
          <a:ln/>
        </p:spPr>
        <p:txBody>
          <a:bodyPr wrap="square" lIns="0" tIns="0" rIns="0" bIns="0" rtlCol="0" anchor="ctr"/>
          <a:lstStyle/>
          <a:p>
            <a:pPr algn="ctr" indent="0" marL="0">
              <a:buNone/>
            </a:pPr>
            <a:r>
              <a:rPr lang="en-US" sz="2000" dirty="0">
                <a:solidFill>
                  <a:srgbClr val="FCCB00"/>
                </a:solidFill>
                <a:latin typeface="Calibri" pitchFamily="34" charset="0"/>
                <a:ea typeface="Calibri" pitchFamily="34" charset="-122"/>
                <a:cs typeface="Calibri" pitchFamily="34" charset="-120"/>
              </a:rPr>
              <a:t>Questions and suggestions are welcome</a:t>
            </a:r>
            <a:endParaRPr lang="en-US" sz="2000" dirty="0"/>
          </a:p>
        </p:txBody>
      </p:sp>
      <p:sp>
        <p:nvSpPr>
          <p:cNvPr id="6" name="Text 3"/>
          <p:cNvSpPr txBox="1"/>
          <p:nvPr/>
        </p:nvSpPr>
        <p:spPr>
          <a:xfrm>
            <a:off x="914400" y="6035040"/>
            <a:ext cx="11887200" cy="822960"/>
          </a:xfrm>
          <a:prstGeom prst="rect">
            <a:avLst/>
          </a:prstGeom>
          <a:noFill/>
          <a:ln/>
        </p:spPr>
        <p:txBody>
          <a:bodyPr wrap="square" lIns="0" tIns="0" rIns="0" bIns="0" rtlCol="0" anchor="ctr"/>
          <a:lstStyle/>
          <a:p>
            <a:pPr algn="ctr" indent="0" marL="0">
              <a:lnSpc>
                <a:spcPts val="2400"/>
              </a:lnSpc>
              <a:buNone/>
            </a:pPr>
            <a:r>
              <a:rPr lang="en-US" sz="1600" dirty="0">
                <a:solidFill>
                  <a:srgbClr val="CFCBE6"/>
                </a:solidFill>
                <a:latin typeface="Calibri" pitchFamily="34" charset="0"/>
                <a:ea typeface="Calibri" pitchFamily="34" charset="-122"/>
                <a:cs typeface="Calibri" pitchFamily="34" charset="-120"/>
              </a:rPr>
              <a:t>Gyandeep Nath  ·  Programme of Optometry  ·  Faculty of Allied and Healthcare Sciences</a:t>
            </a:r>
            <a:endParaRPr lang="en-US" sz="1600" dirty="0"/>
          </a:p>
          <a:p>
            <a:pPr algn="ctr" indent="0" marL="0">
              <a:lnSpc>
                <a:spcPts val="2400"/>
              </a:lnSpc>
              <a:buNone/>
            </a:pPr>
            <a:r>
              <a:rPr lang="en-US" sz="1600" dirty="0">
                <a:solidFill>
                  <a:srgbClr val="CFCBE6"/>
                </a:solidFill>
                <a:latin typeface="Calibri" pitchFamily="34" charset="0"/>
                <a:ea typeface="Calibri" pitchFamily="34" charset="-122"/>
                <a:cs typeface="Calibri" pitchFamily="34" charset="-120"/>
              </a:rPr>
              <a:t>Assam down town University, Guwahati</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Effects of Display Polarity and Text Colour on Visual Fatigue</dc:title>
  <dc:subject>PptxGenJS Presentation</dc:subject>
  <dc:creator>Gyandeep Nath</dc:creator>
  <cp:lastModifiedBy>Gyandeep Nath</cp:lastModifiedBy>
  <cp:revision>1</cp:revision>
  <dcterms:created xsi:type="dcterms:W3CDTF">2026-09-09T07:18:22Z</dcterms:created>
  <dcterms:modified xsi:type="dcterms:W3CDTF">2026-09-09T07:18:22Z</dcterms:modified>
</cp:coreProperties>
</file>